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410e935448d4d75" /><Relationship Type="http://schemas.openxmlformats.org/officeDocument/2006/relationships/extended-properties" Target="/docProps/app.xml" Id="R01bea80a442d4a57" /><Relationship Type="http://schemas.openxmlformats.org/officeDocument/2006/relationships/officeDocument" Target="/ppt/presentation.xml" Id="R8887f03829bf4f31" /></Relationships>
</file>

<file path=ppt/presentation.xml><?xml version="1.0" encoding="utf-8"?>
<p:presentation xmlns:p="http://schemas.openxmlformats.org/presentationml/2006/main">
  <p:sldMasterIdLst>
    <p:sldMasterId xmlns:r="http://schemas.openxmlformats.org/officeDocument/2006/relationships" id="2147483648" r:id="R18a609061de04a10"/>
  </p:sldMasterIdLst>
  <p:notesMasterIdLst>
    <p:notesMasterId xmlns:r="http://schemas.openxmlformats.org/officeDocument/2006/relationships" r:id="R0cc20325f0794b74"/>
  </p:notesMasterIdLst>
  <p:sldIdLst>
    <p:sldId xmlns:r="http://schemas.openxmlformats.org/officeDocument/2006/relationships" id="256" r:id="R789c90357e32458f"/>
    <p:sldId xmlns:r="http://schemas.openxmlformats.org/officeDocument/2006/relationships" id="257" r:id="Rcf9b1a72e28e4d58"/>
    <p:sldId xmlns:r="http://schemas.openxmlformats.org/officeDocument/2006/relationships" id="258" r:id="Rcef144aed5334c62"/>
    <p:sldId xmlns:r="http://schemas.openxmlformats.org/officeDocument/2006/relationships" id="259" r:id="R514e98ab51b24c40"/>
    <p:sldId xmlns:r="http://schemas.openxmlformats.org/officeDocument/2006/relationships" id="260" r:id="R5792b84cbbb84eab"/>
    <p:sldId xmlns:r="http://schemas.openxmlformats.org/officeDocument/2006/relationships" id="261" r:id="R92c5dc91bbd44218"/>
    <p:sldId xmlns:r="http://schemas.openxmlformats.org/officeDocument/2006/relationships" id="262" r:id="R6cade8fe5a4a409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08a8b73f44746c2" /><Relationship Type="http://schemas.openxmlformats.org/officeDocument/2006/relationships/slideMaster" Target="/ppt/slideMasters/slideMaster1.xml" Id="R18a609061de04a10" /><Relationship Type="http://schemas.openxmlformats.org/officeDocument/2006/relationships/notesMaster" Target="/ppt/notesMasters/notesMaster1.xml" Id="R0cc20325f0794b74" /><Relationship Type="http://schemas.openxmlformats.org/officeDocument/2006/relationships/presProps" Target="/ppt/presProps.xml" Id="Re571bdb980c147c4" /><Relationship Type="http://schemas.openxmlformats.org/officeDocument/2006/relationships/tableStyles" Target="/ppt/tableStyles.xml" Id="R514cad9adaf248c2" /><Relationship Type="http://schemas.openxmlformats.org/officeDocument/2006/relationships/slide" Target="/ppt/slides/slide1.xml" Id="R789c90357e32458f" /><Relationship Type="http://schemas.openxmlformats.org/officeDocument/2006/relationships/slide" Target="/ppt/slides/slide2.xml" Id="Rcf9b1a72e28e4d58" /><Relationship Type="http://schemas.openxmlformats.org/officeDocument/2006/relationships/slide" Target="/ppt/slides/slide3.xml" Id="Rcef144aed5334c62" /><Relationship Type="http://schemas.openxmlformats.org/officeDocument/2006/relationships/slide" Target="/ppt/slides/slide4.xml" Id="R514e98ab51b24c40" /><Relationship Type="http://schemas.openxmlformats.org/officeDocument/2006/relationships/slide" Target="/ppt/slides/slide5.xml" Id="R5792b84cbbb84eab" /><Relationship Type="http://schemas.openxmlformats.org/officeDocument/2006/relationships/slide" Target="/ppt/slides/slide6.xml" Id="R92c5dc91bbd44218" /><Relationship Type="http://schemas.openxmlformats.org/officeDocument/2006/relationships/slide" Target="/ppt/slides/slide7.xml" Id="R6cade8fe5a4a409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b70f84fac144de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b3ed6d8ba21423c" /><Relationship Type="http://schemas.openxmlformats.org/officeDocument/2006/relationships/notesMaster" Target="/ppt/notesMasters/notesMaster1.xml" Id="Rbab9634e6b0b4e3a" /></Relationships>
</file>

<file path=ppt/notesSlides/_rels/notesSlide2.xml.rels>&#65279;<?xml version="1.0" encoding="utf-8"?><Relationships xmlns="http://schemas.openxmlformats.org/package/2006/relationships"><Relationship Type="http://schemas.openxmlformats.org/officeDocument/2006/relationships/slide" Target="/ppt/slides/slide2.xml" Id="Rccb81563dea24893" /><Relationship Type="http://schemas.openxmlformats.org/officeDocument/2006/relationships/notesMaster" Target="/ppt/notesMasters/notesMaster1.xml" Id="R631c3f2a3a2b45cd" /></Relationships>
</file>

<file path=ppt/notesSlides/_rels/notesSlide3.xml.rels>&#65279;<?xml version="1.0" encoding="utf-8"?><Relationships xmlns="http://schemas.openxmlformats.org/package/2006/relationships"><Relationship Type="http://schemas.openxmlformats.org/officeDocument/2006/relationships/slide" Target="/ppt/slides/slide3.xml" Id="Rabfdac608150494c" /><Relationship Type="http://schemas.openxmlformats.org/officeDocument/2006/relationships/notesMaster" Target="/ppt/notesMasters/notesMaster1.xml" Id="Racb535bb9a7142a2" /></Relationships>
</file>

<file path=ppt/notesSlides/_rels/notesSlide4.xml.rels>&#65279;<?xml version="1.0" encoding="utf-8"?><Relationships xmlns="http://schemas.openxmlformats.org/package/2006/relationships"><Relationship Type="http://schemas.openxmlformats.org/officeDocument/2006/relationships/slide" Target="/ppt/slides/slide4.xml" Id="R3a6d3e45ae1e4cba" /><Relationship Type="http://schemas.openxmlformats.org/officeDocument/2006/relationships/notesMaster" Target="/ppt/notesMasters/notesMaster1.xml" Id="R8dab2dbc96764448" /></Relationships>
</file>

<file path=ppt/notesSlides/_rels/notesSlide5.xml.rels>&#65279;<?xml version="1.0" encoding="utf-8"?><Relationships xmlns="http://schemas.openxmlformats.org/package/2006/relationships"><Relationship Type="http://schemas.openxmlformats.org/officeDocument/2006/relationships/slide" Target="/ppt/slides/slide5.xml" Id="R2a4e21f446164ac0" /><Relationship Type="http://schemas.openxmlformats.org/officeDocument/2006/relationships/notesMaster" Target="/ppt/notesMasters/notesMaster1.xml" Id="Rab85116bb4214513" /></Relationships>
</file>

<file path=ppt/notesSlides/_rels/notesSlide6.xml.rels>&#65279;<?xml version="1.0" encoding="utf-8"?><Relationships xmlns="http://schemas.openxmlformats.org/package/2006/relationships"><Relationship Type="http://schemas.openxmlformats.org/officeDocument/2006/relationships/slide" Target="/ppt/slides/slide6.xml" Id="Ra41fe62f308843eb" /><Relationship Type="http://schemas.openxmlformats.org/officeDocument/2006/relationships/notesMaster" Target="/ppt/notesMasters/notesMaster1.xml" Id="R46a76c75be4348c9" /></Relationships>
</file>

<file path=ppt/notesSlides/_rels/notesSlide7.xml.rels>&#65279;<?xml version="1.0" encoding="utf-8"?><Relationships xmlns="http://schemas.openxmlformats.org/package/2006/relationships"><Relationship Type="http://schemas.openxmlformats.org/officeDocument/2006/relationships/slide" Target="/ppt/slides/slide7.xml" Id="Rca2f2533b5c14fcf" /><Relationship Type="http://schemas.openxmlformats.org/officeDocument/2006/relationships/notesMaster" Target="/ppt/notesMasters/notesMaster1.xml" Id="R487798c26a9d409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project as a machine learning approach to customer churn prediction. The synopsis is the factual source for the project title, student details and academic context. The presentation explains the documented system design and does not use the conflicting numerical results found in the supplied notebook.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business problem is timing. A company that learns about churn after cancellation has little room to respond. ChurnSense aims to create an earlier signal from historical customer information. The actions shown on the right are illustrative business responses and are not functions claimed for the current Python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upper lane as the training process. The lower lane shows how saved artefacts allow reuse for a new customer record. The synopsis describes saving the model and scaler. Consistent feature order and categorical mappings are requirements for reliable inference and should not be mistaken for verified implementation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Logistic Regression combines the transformed customer features and maps the result to a binary class. The confusion matrix is conceptual because the synopsis does not report cell counts. Stress that a missed churner and an unnecessary alert have different consequences, so accuracy alone cannot describe model usefulness.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upper band shows how a prediction could enter a business process. It is illustrative. The lower matrix converts the synopsis limitations into a sequence of practical improvements. Model benchmarking includes Decision Tree, Random Forest, SVM and XGBoost. The project should establish dependable validation before live operational integration.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appendix for viva questions about tools, evaluation and project boundaries. Kaggle appears in the synopsis bibliography; the presentation does not claim that the supplied CSV provenance was independently verified. The synopsis does not identify a specific edition of Sebastian Raschka's 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Plain closing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66f5496b7144cd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d3818d19e9a4798" /><Relationship Type="http://schemas.openxmlformats.org/officeDocument/2006/relationships/slideLayout" Target="/ppt/slideLayouts/slideLayout1.xml" Id="R09f0a53ee69f4c9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9f0a53ee69f4c9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1f1107ffe254e38" /><Relationship Type="http://schemas.openxmlformats.org/officeDocument/2006/relationships/notesSlide" Target="/ppt/notesSlides/notesSlide1.xml" Id="Rd8eaf9b27057436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be3ca7710614f35" /><Relationship Type="http://schemas.openxmlformats.org/officeDocument/2006/relationships/notesSlide" Target="/ppt/notesSlides/notesSlide2.xml" Id="R67ff06d62ed1446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b52b33aa5944257" /><Relationship Type="http://schemas.openxmlformats.org/officeDocument/2006/relationships/notesSlide" Target="/ppt/notesSlides/notesSlide3.xml" Id="R92e84f0898544e8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db640d9b271441e" /><Relationship Type="http://schemas.openxmlformats.org/officeDocument/2006/relationships/notesSlide" Target="/ppt/notesSlides/notesSlide4.xml" Id="R04debdd5183f4b5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2e1026ec9ec46f4" /><Relationship Type="http://schemas.openxmlformats.org/officeDocument/2006/relationships/notesSlide" Target="/ppt/notesSlides/notesSlide5.xml" Id="R317804f4c69641a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e16063ef03a4829" /><Relationship Type="http://schemas.openxmlformats.org/officeDocument/2006/relationships/notesSlide" Target="/ppt/notesSlides/notesSlide6.xml" Id="Rf2e3370fb8db421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e6979ac8861460c" /><Relationship Type="http://schemas.openxmlformats.org/officeDocument/2006/relationships/notesSlide" Target="/ppt/notesSlides/notesSlide7.xml" Id="Rbd1690b78db34a12" /></Relationships>
</file>

<file path=ppt/slides/slide1.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D88D340-3803-4937-82EF-49A524CBAD2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2" name="">
            <a:extLst xmlns:a="http://schemas.openxmlformats.org/drawingml/2006/main">
              <a:ext uri="{FF2B5EF4-FFF2-40B4-BE49-F238E27FC236}">
                <a16:creationId xmlns:a16="http://schemas.microsoft.com/office/drawing/2014/main" id="{E64245D7-FE05-4AF7-A13E-E2E83A6D2A52}"/>
              </a:ext>
            </a:extLst>
          </p:cNvPr>
          <p:cNvSpPr>
            <a:spLocks xmlns:a="http://schemas.openxmlformats.org/drawingml/2006/main" noGrp="1"/>
          </p:cNvSpPr>
          <p:nvPr/>
        </p:nvSpPr>
        <p:spPr>
          <a:xfrm xmlns:a="http://schemas.openxmlformats.org/drawingml/2006/main">
            <a:off x="685800" y="6858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202024"/>
                </a:solidFill>
                <a:latin typeface="Arial"/>
                <a:ea typeface="Arial"/>
                <a:cs typeface="Arial"/>
              </a:defRPr>
            </a:pPr>
            <a:r>
              <a:rPr sz="1350" b="1" i="0">
                <a:solidFill>
                  <a:srgbClr val="202024"/>
                </a:solidFill>
                <a:latin typeface="Arial"/>
                <a:ea typeface="Arial"/>
                <a:cs typeface="Arial"/>
              </a:rPr>
              <a:t>CUSTOMER RETENTION ANALYTICS</a:t>
            </a:r>
          </a:p>
        </p:txBody>
      </p:sp>
      <p:sp>
        <p:nvSpPr>
          <p:cNvPr id="3" name="">
            <a:extLst xmlns:a="http://schemas.openxmlformats.org/drawingml/2006/main">
              <a:ext uri="{FF2B5EF4-FFF2-40B4-BE49-F238E27FC236}">
                <a16:creationId xmlns:a16="http://schemas.microsoft.com/office/drawing/2014/main" id="{8063BD3E-A327-46D6-9BE2-16E292DE9050}"/>
              </a:ext>
            </a:extLst>
          </p:cNvPr>
          <p:cNvSpPr>
            <a:spLocks xmlns:a="http://schemas.openxmlformats.org/drawingml/2006/main" noGrp="1"/>
          </p:cNvSpPr>
          <p:nvPr/>
        </p:nvSpPr>
        <p:spPr>
          <a:xfrm xmlns:a="http://schemas.openxmlformats.org/drawingml/2006/main">
            <a:off x="685800" y="1333500"/>
            <a:ext cx="7239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875" b="1" i="0">
                <a:solidFill>
                  <a:srgbClr val="202024"/>
                </a:solidFill>
                <a:latin typeface="Arial"/>
                <a:ea typeface="Arial"/>
                <a:cs typeface="Arial"/>
              </a:defRPr>
            </a:pPr>
            <a:r>
              <a:rPr sz="4875" b="1" i="0">
                <a:solidFill>
                  <a:srgbClr val="202024"/>
                </a:solidFill>
                <a:latin typeface="Arial"/>
                <a:ea typeface="Arial"/>
                <a:cs typeface="Arial"/>
              </a:rPr>
              <a:t>Customer</a:t>
            </a:r>
          </a:p>
          <a:p xmlns:a="http://schemas.openxmlformats.org/drawingml/2006/main">
            <a:pPr algn="l">
              <a:lnSpc>
                <a:spcPct val="100000"/>
              </a:lnSpc>
              <a:buNone/>
              <a:defRPr sz="4875" b="1" i="0">
                <a:solidFill>
                  <a:srgbClr val="202024"/>
                </a:solidFill>
                <a:latin typeface="Arial"/>
                <a:ea typeface="Arial"/>
                <a:cs typeface="Arial"/>
              </a:defRPr>
            </a:pPr>
            <a:r>
              <a:rPr sz="4875" b="1" i="0">
                <a:solidFill>
                  <a:srgbClr val="202024"/>
                </a:solidFill>
                <a:latin typeface="Arial"/>
                <a:ea typeface="Arial"/>
                <a:cs typeface="Arial"/>
              </a:rPr>
              <a:t>ChurnSense</a:t>
            </a:r>
          </a:p>
        </p:txBody>
      </p:sp>
      <p:sp>
        <p:nvSpPr>
          <p:cNvPr id="4" name="">
            <a:extLst xmlns:a="http://schemas.openxmlformats.org/drawingml/2006/main">
              <a:ext uri="{FF2B5EF4-FFF2-40B4-BE49-F238E27FC236}">
                <a16:creationId xmlns:a16="http://schemas.microsoft.com/office/drawing/2014/main" id="{045D0EE2-E34F-4DD9-8BF6-A646A988E721}"/>
              </a:ext>
            </a:extLst>
          </p:cNvPr>
          <p:cNvSpPr>
            <a:spLocks xmlns:a="http://schemas.openxmlformats.org/drawingml/2006/main" noGrp="1"/>
          </p:cNvSpPr>
          <p:nvPr/>
        </p:nvSpPr>
        <p:spPr>
          <a:xfrm xmlns:a="http://schemas.openxmlformats.org/drawingml/2006/main">
            <a:off x="723900" y="3076575"/>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325" b="1" i="0">
                <a:solidFill>
                  <a:srgbClr val="202024"/>
                </a:solidFill>
                <a:latin typeface="Arial"/>
                <a:ea typeface="Arial"/>
                <a:cs typeface="Arial"/>
              </a:defRPr>
            </a:pPr>
            <a:r>
              <a:rPr sz="2325" b="1" i="0">
                <a:solidFill>
                  <a:srgbClr val="202024"/>
                </a:solidFill>
                <a:latin typeface="Arial"/>
                <a:ea typeface="Arial"/>
                <a:cs typeface="Arial"/>
              </a:rPr>
              <a:t>AI System Using Machine Learning</a:t>
            </a:r>
          </a:p>
        </p:txBody>
      </p:sp>
      <p:sp>
        <p:nvSpPr>
          <p:cNvPr id="5" name="">
            <a:extLst xmlns:a="http://schemas.openxmlformats.org/drawingml/2006/main">
              <a:ext uri="{FF2B5EF4-FFF2-40B4-BE49-F238E27FC236}">
                <a16:creationId xmlns:a16="http://schemas.microsoft.com/office/drawing/2014/main" id="{CDE89D06-8DC6-4B71-8B3C-3FF2A801DAEA}"/>
              </a:ext>
            </a:extLst>
          </p:cNvPr>
          <p:cNvSpPr>
            <a:spLocks xmlns:a="http://schemas.openxmlformats.org/drawingml/2006/main" noGrp="1"/>
          </p:cNvSpPr>
          <p:nvPr/>
        </p:nvSpPr>
        <p:spPr>
          <a:xfrm xmlns:a="http://schemas.openxmlformats.org/drawingml/2006/main">
            <a:off x="723900" y="3743325"/>
            <a:ext cx="107442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6" name="">
            <a:extLst xmlns:a="http://schemas.openxmlformats.org/drawingml/2006/main">
              <a:ext uri="{FF2B5EF4-FFF2-40B4-BE49-F238E27FC236}">
                <a16:creationId xmlns:a16="http://schemas.microsoft.com/office/drawing/2014/main" id="{DFC96A80-97E8-431B-A529-1C34D3E0FDAE}"/>
              </a:ext>
            </a:extLst>
          </p:cNvPr>
          <p:cNvSpPr>
            <a:spLocks xmlns:a="http://schemas.openxmlformats.org/drawingml/2006/main" noGrp="1"/>
          </p:cNvSpPr>
          <p:nvPr/>
        </p:nvSpPr>
        <p:spPr>
          <a:xfrm xmlns:a="http://schemas.openxmlformats.org/drawingml/2006/main">
            <a:off x="723900" y="4000500"/>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0" i="1">
                <a:solidFill>
                  <a:srgbClr val="202024"/>
                </a:solidFill>
                <a:latin typeface="Arial"/>
                <a:ea typeface="Arial"/>
                <a:cs typeface="Arial"/>
              </a:defRPr>
            </a:pPr>
            <a:r>
              <a:rPr sz="1875" b="0" i="1">
                <a:solidFill>
                  <a:srgbClr val="202024"/>
                </a:solidFill>
                <a:latin typeface="Arial"/>
                <a:ea typeface="Arial"/>
                <a:cs typeface="Arial"/>
              </a:rPr>
              <a:t>Historical customer information as an early churn signal</a:t>
            </a:r>
          </a:p>
        </p:txBody>
      </p:sp>
      <p:sp>
        <p:nvSpPr>
          <p:cNvPr id="7" name="">
            <a:extLst xmlns:a="http://schemas.openxmlformats.org/drawingml/2006/main">
              <a:ext uri="{FF2B5EF4-FFF2-40B4-BE49-F238E27FC236}">
                <a16:creationId xmlns:a16="http://schemas.microsoft.com/office/drawing/2014/main" id="{DDCBA3BC-071C-49B1-AEED-0950B025A64E}"/>
              </a:ext>
            </a:extLst>
          </p:cNvPr>
          <p:cNvSpPr>
            <a:spLocks xmlns:a="http://schemas.openxmlformats.org/drawingml/2006/main" noGrp="1"/>
          </p:cNvSpPr>
          <p:nvPr/>
        </p:nvSpPr>
        <p:spPr>
          <a:xfrm xmlns:a="http://schemas.openxmlformats.org/drawingml/2006/main">
            <a:off x="8629650" y="1190625"/>
            <a:ext cx="2190750" cy="2190750"/>
          </a:xfrm>
          <a:prstGeom xmlns:a="http://schemas.openxmlformats.org/drawingml/2006/main" prst="rect">
            <a:avLst/>
          </a:prstGeom>
          <a:solidFill xmlns:a="http://schemas.openxmlformats.org/drawingml/2006/main">
            <a:srgbClr val="F1E4E7"/>
          </a:solidFill>
          <a:ln xmlns:a="http://schemas.openxmlformats.org/drawingml/2006/main" w="19050">
            <a:solidFill>
              <a:srgbClr val="76545F"/>
            </a:solidFill>
            <a:prstDash val="solid"/>
          </a:ln>
        </p:spPr>
      </p:sp>
      <p:sp>
        <p:nvSpPr>
          <p:cNvPr id="8" name="">
            <a:extLst xmlns:a="http://schemas.openxmlformats.org/drawingml/2006/main">
              <a:ext uri="{FF2B5EF4-FFF2-40B4-BE49-F238E27FC236}">
                <a16:creationId xmlns:a16="http://schemas.microsoft.com/office/drawing/2014/main" id="{F36CB9E5-A3C3-4F75-AD2B-DD58985773BC}"/>
              </a:ext>
            </a:extLst>
          </p:cNvPr>
          <p:cNvSpPr>
            <a:spLocks xmlns:a="http://schemas.openxmlformats.org/drawingml/2006/main" noGrp="1"/>
          </p:cNvSpPr>
          <p:nvPr/>
        </p:nvSpPr>
        <p:spPr>
          <a:xfrm xmlns:a="http://schemas.openxmlformats.org/drawingml/2006/main">
            <a:off x="8915400" y="150495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1" i="0">
                <a:solidFill>
                  <a:srgbClr val="202024"/>
                </a:solidFill>
                <a:latin typeface="Arial"/>
                <a:ea typeface="Arial"/>
                <a:cs typeface="Arial"/>
              </a:defRPr>
            </a:pPr>
            <a:r>
              <a:rPr sz="1500" b="1" i="0">
                <a:solidFill>
                  <a:srgbClr val="202024"/>
                </a:solidFill>
                <a:latin typeface="Arial"/>
                <a:ea typeface="Arial"/>
                <a:cs typeface="Arial"/>
              </a:rPr>
              <a:t>DATA</a:t>
            </a:r>
          </a:p>
        </p:txBody>
      </p:sp>
      <p:sp>
        <p:nvSpPr>
          <p:cNvPr id="9" name="">
            <a:extLst xmlns:a="http://schemas.openxmlformats.org/drawingml/2006/main">
              <a:ext uri="{FF2B5EF4-FFF2-40B4-BE49-F238E27FC236}">
                <a16:creationId xmlns:a16="http://schemas.microsoft.com/office/drawing/2014/main" id="{6563DEAD-0016-4226-AED2-6F01D51A02A1}"/>
              </a:ext>
            </a:extLst>
          </p:cNvPr>
          <p:cNvSpPr>
            <a:spLocks xmlns:a="http://schemas.openxmlformats.org/drawingml/2006/main" noGrp="1"/>
          </p:cNvSpPr>
          <p:nvPr/>
        </p:nvSpPr>
        <p:spPr>
          <a:xfrm xmlns:a="http://schemas.openxmlformats.org/drawingml/2006/main">
            <a:off x="9086850" y="2028825"/>
            <a:ext cx="1276350" cy="0"/>
          </a:xfrm>
          <a:prstGeom xmlns:a="http://schemas.openxmlformats.org/drawingml/2006/main" prst="line">
            <a:avLst/>
          </a:prstGeom>
          <a:noFill xmlns:a="http://schemas.openxmlformats.org/drawingml/2006/main"/>
          <a:ln xmlns:a="http://schemas.openxmlformats.org/drawingml/2006/main" w="28575">
            <a:solidFill>
              <a:srgbClr val="A67C88"/>
            </a:solidFill>
            <a:prstDash val="solid"/>
          </a:ln>
        </p:spPr>
      </p:sp>
      <p:sp>
        <p:nvSpPr>
          <p:cNvPr id="10" name="">
            <a:extLst xmlns:a="http://schemas.openxmlformats.org/drawingml/2006/main">
              <a:ext uri="{FF2B5EF4-FFF2-40B4-BE49-F238E27FC236}">
                <a16:creationId xmlns:a16="http://schemas.microsoft.com/office/drawing/2014/main" id="{7759120F-1E12-4C71-8B3F-24A19D50528C}"/>
              </a:ext>
            </a:extLst>
          </p:cNvPr>
          <p:cNvSpPr>
            <a:spLocks xmlns:a="http://schemas.openxmlformats.org/drawingml/2006/main" noGrp="1"/>
          </p:cNvSpPr>
          <p:nvPr/>
        </p:nvSpPr>
        <p:spPr>
          <a:xfrm xmlns:a="http://schemas.openxmlformats.org/drawingml/2006/main">
            <a:off x="8915400" y="228600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1" i="0">
                <a:solidFill>
                  <a:srgbClr val="202024"/>
                </a:solidFill>
                <a:latin typeface="Arial"/>
                <a:ea typeface="Arial"/>
                <a:cs typeface="Arial"/>
              </a:defRPr>
            </a:pPr>
            <a:r>
              <a:rPr sz="1500" b="1" i="0">
                <a:solidFill>
                  <a:srgbClr val="202024"/>
                </a:solidFill>
                <a:latin typeface="Arial"/>
                <a:ea typeface="Arial"/>
                <a:cs typeface="Arial"/>
              </a:rPr>
              <a:t>MODEL</a:t>
            </a:r>
          </a:p>
        </p:txBody>
      </p:sp>
      <p:sp>
        <p:nvSpPr>
          <p:cNvPr id="11" name="">
            <a:extLst xmlns:a="http://schemas.openxmlformats.org/drawingml/2006/main">
              <a:ext uri="{FF2B5EF4-FFF2-40B4-BE49-F238E27FC236}">
                <a16:creationId xmlns:a16="http://schemas.microsoft.com/office/drawing/2014/main" id="{687C072F-7191-4AC4-9F73-4E4A6D5AA711}"/>
              </a:ext>
            </a:extLst>
          </p:cNvPr>
          <p:cNvSpPr>
            <a:spLocks xmlns:a="http://schemas.openxmlformats.org/drawingml/2006/main" noGrp="1"/>
          </p:cNvSpPr>
          <p:nvPr/>
        </p:nvSpPr>
        <p:spPr>
          <a:xfrm xmlns:a="http://schemas.openxmlformats.org/drawingml/2006/main">
            <a:off x="9086850" y="2809875"/>
            <a:ext cx="1276350" cy="0"/>
          </a:xfrm>
          <a:prstGeom xmlns:a="http://schemas.openxmlformats.org/drawingml/2006/main" prst="line">
            <a:avLst/>
          </a:prstGeom>
          <a:noFill xmlns:a="http://schemas.openxmlformats.org/drawingml/2006/main"/>
          <a:ln xmlns:a="http://schemas.openxmlformats.org/drawingml/2006/main" w="28575">
            <a:solidFill>
              <a:srgbClr val="A67C88"/>
            </a:solidFill>
            <a:prstDash val="solid"/>
          </a:ln>
        </p:spPr>
      </p:sp>
      <p:sp>
        <p:nvSpPr>
          <p:cNvPr id="12" name="">
            <a:extLst xmlns:a="http://schemas.openxmlformats.org/drawingml/2006/main">
              <a:ext uri="{FF2B5EF4-FFF2-40B4-BE49-F238E27FC236}">
                <a16:creationId xmlns:a16="http://schemas.microsoft.com/office/drawing/2014/main" id="{746B7329-DFE6-4E22-AC65-93F4F9CBA635}"/>
              </a:ext>
            </a:extLst>
          </p:cNvPr>
          <p:cNvSpPr>
            <a:spLocks xmlns:a="http://schemas.openxmlformats.org/drawingml/2006/main" noGrp="1"/>
          </p:cNvSpPr>
          <p:nvPr/>
        </p:nvSpPr>
        <p:spPr>
          <a:xfrm xmlns:a="http://schemas.openxmlformats.org/drawingml/2006/main">
            <a:off x="8915400" y="3057525"/>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1" i="0">
                <a:solidFill>
                  <a:srgbClr val="202024"/>
                </a:solidFill>
                <a:latin typeface="Arial"/>
                <a:ea typeface="Arial"/>
                <a:cs typeface="Arial"/>
              </a:defRPr>
            </a:pPr>
            <a:r>
              <a:rPr sz="1500" b="1" i="0">
                <a:solidFill>
                  <a:srgbClr val="202024"/>
                </a:solidFill>
                <a:latin typeface="Arial"/>
                <a:ea typeface="Arial"/>
                <a:cs typeface="Arial"/>
              </a:rPr>
              <a:t>DECISION</a:t>
            </a:r>
          </a:p>
        </p:txBody>
      </p:sp>
      <p:sp>
        <p:nvSpPr>
          <p:cNvPr id="13" name="">
            <a:extLst xmlns:a="http://schemas.openxmlformats.org/drawingml/2006/main">
              <a:ext uri="{FF2B5EF4-FFF2-40B4-BE49-F238E27FC236}">
                <a16:creationId xmlns:a16="http://schemas.microsoft.com/office/drawing/2014/main" id="{5444C74C-4F12-4DB7-A124-0E3C971385F7}"/>
              </a:ext>
            </a:extLst>
          </p:cNvPr>
          <p:cNvSpPr>
            <a:spLocks xmlns:a="http://schemas.openxmlformats.org/drawingml/2006/main" noGrp="1"/>
          </p:cNvSpPr>
          <p:nvPr/>
        </p:nvSpPr>
        <p:spPr>
          <a:xfrm xmlns:a="http://schemas.openxmlformats.org/drawingml/2006/main">
            <a:off x="723900" y="51435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202024"/>
                </a:solidFill>
                <a:latin typeface="Arial"/>
                <a:ea typeface="Arial"/>
                <a:cs typeface="Arial"/>
              </a:defRPr>
            </a:pPr>
            <a:r>
              <a:rPr sz="1650" b="1" i="0">
                <a:solidFill>
                  <a:srgbClr val="202024"/>
                </a:solidFill>
                <a:latin typeface="Arial"/>
                <a:ea typeface="Arial"/>
                <a:cs typeface="Arial"/>
              </a:rPr>
              <a:t>Gursimran Kaur</a:t>
            </a:r>
          </a:p>
        </p:txBody>
      </p:sp>
      <p:sp>
        <p:nvSpPr>
          <p:cNvPr id="14" name="">
            <a:extLst xmlns:a="http://schemas.openxmlformats.org/drawingml/2006/main">
              <a:ext uri="{FF2B5EF4-FFF2-40B4-BE49-F238E27FC236}">
                <a16:creationId xmlns:a16="http://schemas.microsoft.com/office/drawing/2014/main" id="{7EAEA4D3-6DC5-45AB-BB31-6B1452463062}"/>
              </a:ext>
            </a:extLst>
          </p:cNvPr>
          <p:cNvSpPr>
            <a:spLocks xmlns:a="http://schemas.openxmlformats.org/drawingml/2006/main" noGrp="1"/>
          </p:cNvSpPr>
          <p:nvPr/>
        </p:nvSpPr>
        <p:spPr>
          <a:xfrm xmlns:a="http://schemas.openxmlformats.org/drawingml/2006/main">
            <a:off x="723900" y="544830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0" i="0">
                <a:solidFill>
                  <a:srgbClr val="202024"/>
                </a:solidFill>
                <a:latin typeface="Arial"/>
                <a:ea typeface="Arial"/>
                <a:cs typeface="Arial"/>
              </a:defRPr>
            </a:pPr>
            <a:r>
              <a:rPr sz="1425" b="0" i="0">
                <a:solidFill>
                  <a:srgbClr val="202024"/>
                </a:solidFill>
                <a:latin typeface="Arial"/>
                <a:ea typeface="Arial"/>
                <a:cs typeface="Arial"/>
              </a:rPr>
              <a:t>Roll No. 02490202024  |  BCA 5A</a:t>
            </a:r>
          </a:p>
        </p:txBody>
      </p:sp>
      <p:sp>
        <p:nvSpPr>
          <p:cNvPr id="15" name="">
            <a:extLst xmlns:a="http://schemas.openxmlformats.org/drawingml/2006/main">
              <a:ext uri="{FF2B5EF4-FFF2-40B4-BE49-F238E27FC236}">
                <a16:creationId xmlns:a16="http://schemas.microsoft.com/office/drawing/2014/main" id="{11F5AD47-A929-44BB-8C22-F3594B9B040D}"/>
              </a:ext>
            </a:extLst>
          </p:cNvPr>
          <p:cNvSpPr>
            <a:spLocks xmlns:a="http://schemas.openxmlformats.org/drawingml/2006/main" noGrp="1"/>
          </p:cNvSpPr>
          <p:nvPr/>
        </p:nvSpPr>
        <p:spPr>
          <a:xfrm xmlns:a="http://schemas.openxmlformats.org/drawingml/2006/main">
            <a:off x="723900" y="5743575"/>
            <a:ext cx="466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Software Training Report, BCA Vth Semester</a:t>
            </a:r>
          </a:p>
        </p:txBody>
      </p:sp>
      <p:sp>
        <p:nvSpPr>
          <p:cNvPr id="16" name="">
            <a:extLst xmlns:a="http://schemas.openxmlformats.org/drawingml/2006/main">
              <a:ext uri="{FF2B5EF4-FFF2-40B4-BE49-F238E27FC236}">
                <a16:creationId xmlns:a16="http://schemas.microsoft.com/office/drawing/2014/main" id="{3C748A46-3AF2-4088-A7B1-DFCFFF4FF98B}"/>
              </a:ext>
            </a:extLst>
          </p:cNvPr>
          <p:cNvSpPr>
            <a:spLocks xmlns:a="http://schemas.openxmlformats.org/drawingml/2006/main" noGrp="1"/>
          </p:cNvSpPr>
          <p:nvPr/>
        </p:nvSpPr>
        <p:spPr>
          <a:xfrm xmlns:a="http://schemas.openxmlformats.org/drawingml/2006/main">
            <a:off x="723900" y="6067425"/>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Sri Guru Teg Bahadur Institute of Management and Information Technology</a:t>
            </a:r>
          </a:p>
        </p:txBody>
      </p:sp>
      <p:sp>
        <p:nvSpPr>
          <p:cNvPr id="17" name="">
            <a:extLst xmlns:a="http://schemas.openxmlformats.org/drawingml/2006/main">
              <a:ext uri="{FF2B5EF4-FFF2-40B4-BE49-F238E27FC236}">
                <a16:creationId xmlns:a16="http://schemas.microsoft.com/office/drawing/2014/main" id="{D83FF364-C433-4197-827C-8F309B101921}"/>
              </a:ext>
            </a:extLst>
          </p:cNvPr>
          <p:cNvSpPr>
            <a:spLocks xmlns:a="http://schemas.openxmlformats.org/drawingml/2006/main" noGrp="1"/>
          </p:cNvSpPr>
          <p:nvPr/>
        </p:nvSpPr>
        <p:spPr>
          <a:xfrm xmlns:a="http://schemas.openxmlformats.org/drawingml/2006/main">
            <a:off x="8382000" y="5286375"/>
            <a:ext cx="3095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Coordinator: Ms. Nehu Gumber</a:t>
            </a:r>
          </a:p>
          <a:p xmlns:a="http://schemas.openxmlformats.org/drawingml/2006/main">
            <a:pPr algn="r">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HOD (BCA): Dr. Raj Kumar</a:t>
            </a:r>
          </a:p>
        </p:txBody>
      </p:sp>
    </p:spTree>
    <p:extLst>
      <p:ext uri="{BB962C8B-B14F-4D97-AF65-F5344CB8AC3E}">
        <p14:creationId xmlns:p14="http://schemas.microsoft.com/office/powerpoint/2010/main" val="1976121978"/>
      </p:ext>
    </p:extLst>
  </p:cSld>
</p:sld>
</file>

<file path=ppt/slides/slide2.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3511979C-A7A9-4974-9752-0C6DF760FAB6}"/>
              </a:ext>
            </a:extLst>
          </p:cNvPr>
          <p:cNvSpPr>
            <a:spLocks xmlns:a="http://schemas.openxmlformats.org/drawingml/2006/main" noGrp="1"/>
          </p:cNvSpPr>
          <p:nvPr/>
        </p:nvSpPr>
        <p:spPr>
          <a:xfrm xmlns:a="http://schemas.openxmlformats.org/drawingml/2006/main">
            <a:off x="628650" y="33337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BUSINESS PROBLEM</a:t>
            </a:r>
          </a:p>
        </p:txBody>
      </p:sp>
      <p:sp>
        <p:nvSpPr>
          <p:cNvPr id="2" name="">
            <a:extLst xmlns:a="http://schemas.openxmlformats.org/drawingml/2006/main">
              <a:ext uri="{FF2B5EF4-FFF2-40B4-BE49-F238E27FC236}">
                <a16:creationId xmlns:a16="http://schemas.microsoft.com/office/drawing/2014/main" id="{0A793A56-8700-4DCB-9859-3C871D851E27}"/>
              </a:ext>
            </a:extLst>
          </p:cNvPr>
          <p:cNvSpPr>
            <a:spLocks xmlns:a="http://schemas.openxmlformats.org/drawingml/2006/main" noGrp="1"/>
          </p:cNvSpPr>
          <p:nvPr/>
        </p:nvSpPr>
        <p:spPr>
          <a:xfrm xmlns:a="http://schemas.openxmlformats.org/drawingml/2006/main">
            <a:off x="628650" y="638175"/>
            <a:ext cx="10934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700" b="1" i="0">
                <a:solidFill>
                  <a:srgbClr val="202024"/>
                </a:solidFill>
                <a:latin typeface="Arial"/>
                <a:ea typeface="Arial"/>
                <a:cs typeface="Arial"/>
              </a:defRPr>
            </a:pPr>
            <a:r>
              <a:rPr sz="2700" b="1" i="0">
                <a:solidFill>
                  <a:srgbClr val="202024"/>
                </a:solidFill>
                <a:latin typeface="Arial"/>
                <a:ea typeface="Arial"/>
                <a:cs typeface="Arial"/>
              </a:rPr>
              <a:t>Earlier churn signals can create time for customer review</a:t>
            </a:r>
          </a:p>
        </p:txBody>
      </p:sp>
      <p:sp>
        <p:nvSpPr>
          <p:cNvPr id="3" name="">
            <a:extLst xmlns:a="http://schemas.openxmlformats.org/drawingml/2006/main">
              <a:ext uri="{FF2B5EF4-FFF2-40B4-BE49-F238E27FC236}">
                <a16:creationId xmlns:a16="http://schemas.microsoft.com/office/drawing/2014/main" id="{8B58802D-52AE-478B-A219-022EC0309A58}"/>
              </a:ext>
            </a:extLst>
          </p:cNvPr>
          <p:cNvSpPr>
            <a:spLocks xmlns:a="http://schemas.openxmlformats.org/drawingml/2006/main" noGrp="1"/>
          </p:cNvSpPr>
          <p:nvPr/>
        </p:nvSpPr>
        <p:spPr>
          <a:xfrm xmlns:a="http://schemas.openxmlformats.org/drawingml/2006/main">
            <a:off x="628650" y="1514475"/>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 name="">
            <a:extLst xmlns:a="http://schemas.openxmlformats.org/drawingml/2006/main">
              <a:ext uri="{FF2B5EF4-FFF2-40B4-BE49-F238E27FC236}">
                <a16:creationId xmlns:a16="http://schemas.microsoft.com/office/drawing/2014/main" id="{E639E4E4-78CA-4B7E-9235-86CAEC12ECD9}"/>
              </a:ext>
            </a:extLst>
          </p:cNvPr>
          <p:cNvSpPr>
            <a:spLocks xmlns:a="http://schemas.openxmlformats.org/drawingml/2006/main" noGrp="1"/>
          </p:cNvSpPr>
          <p:nvPr/>
        </p:nvSpPr>
        <p:spPr>
          <a:xfrm xmlns:a="http://schemas.openxmlformats.org/drawingml/2006/main">
            <a:off x="11144250" y="342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D04DBAE9-556D-4191-8229-6A4D13A19959}"/>
              </a:ext>
            </a:extLst>
          </p:cNvPr>
          <p:cNvSpPr>
            <a:spLocks xmlns:a="http://schemas.openxmlformats.org/drawingml/2006/main" noGrp="1"/>
          </p:cNvSpPr>
          <p:nvPr/>
        </p:nvSpPr>
        <p:spPr>
          <a:xfrm xmlns:a="http://schemas.openxmlformats.org/drawingml/2006/main">
            <a:off x="628650" y="1657350"/>
            <a:ext cx="1590675" cy="28575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6" name="">
            <a:extLst xmlns:a="http://schemas.openxmlformats.org/drawingml/2006/main">
              <a:ext uri="{FF2B5EF4-FFF2-40B4-BE49-F238E27FC236}">
                <a16:creationId xmlns:a16="http://schemas.microsoft.com/office/drawing/2014/main" id="{126F7233-A64D-4673-BB8C-3C67C85BD56A}"/>
              </a:ext>
            </a:extLst>
          </p:cNvPr>
          <p:cNvSpPr>
            <a:spLocks xmlns:a="http://schemas.openxmlformats.org/drawingml/2006/main" noGrp="1"/>
          </p:cNvSpPr>
          <p:nvPr/>
        </p:nvSpPr>
        <p:spPr>
          <a:xfrm xmlns:a="http://schemas.openxmlformats.org/drawingml/2006/main">
            <a:off x="723900" y="1704975"/>
            <a:ext cx="14001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FFFF"/>
                </a:solidFill>
                <a:latin typeface="Arial"/>
                <a:ea typeface="Arial"/>
                <a:cs typeface="Arial"/>
              </a:defRPr>
            </a:pPr>
            <a:r>
              <a:rPr sz="1125" b="1" i="0">
                <a:solidFill>
                  <a:srgbClr val="FFFFFF"/>
                </a:solidFill>
                <a:latin typeface="Arial"/>
                <a:ea typeface="Arial"/>
                <a:cs typeface="Arial"/>
              </a:rPr>
              <a:t>DECISION WINDOW</a:t>
            </a:r>
          </a:p>
        </p:txBody>
      </p:sp>
      <p:sp>
        <p:nvSpPr>
          <p:cNvPr id="7" name="">
            <a:extLst xmlns:a="http://schemas.openxmlformats.org/drawingml/2006/main">
              <a:ext uri="{FF2B5EF4-FFF2-40B4-BE49-F238E27FC236}">
                <a16:creationId xmlns:a16="http://schemas.microsoft.com/office/drawing/2014/main" id="{F1848BB5-BBEA-43A0-A9FB-E6D13FEECA56}"/>
              </a:ext>
            </a:extLst>
          </p:cNvPr>
          <p:cNvSpPr>
            <a:spLocks xmlns:a="http://schemas.openxmlformats.org/drawingml/2006/main" noGrp="1"/>
          </p:cNvSpPr>
          <p:nvPr/>
        </p:nvSpPr>
        <p:spPr>
          <a:xfrm xmlns:a="http://schemas.openxmlformats.org/drawingml/2006/main">
            <a:off x="628650" y="2095500"/>
            <a:ext cx="257175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8" name="">
            <a:extLst xmlns:a="http://schemas.openxmlformats.org/drawingml/2006/main">
              <a:ext uri="{FF2B5EF4-FFF2-40B4-BE49-F238E27FC236}">
                <a16:creationId xmlns:a16="http://schemas.microsoft.com/office/drawing/2014/main" id="{44898AE4-906E-41AE-95EA-AC23FC62F915}"/>
              </a:ext>
            </a:extLst>
          </p:cNvPr>
          <p:cNvSpPr>
            <a:spLocks xmlns:a="http://schemas.openxmlformats.org/drawingml/2006/main" noGrp="1"/>
          </p:cNvSpPr>
          <p:nvPr/>
        </p:nvSpPr>
        <p:spPr>
          <a:xfrm xmlns:a="http://schemas.openxmlformats.org/drawingml/2006/main">
            <a:off x="762000" y="22288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2E49F760-07A0-4950-A8CB-7F5AF15B778D}"/>
              </a:ext>
            </a:extLst>
          </p:cNvPr>
          <p:cNvSpPr>
            <a:spLocks xmlns:a="http://schemas.openxmlformats.org/drawingml/2006/main" noGrp="1"/>
          </p:cNvSpPr>
          <p:nvPr/>
        </p:nvSpPr>
        <p:spPr>
          <a:xfrm xmlns:a="http://schemas.openxmlformats.org/drawingml/2006/main">
            <a:off x="1123950" y="2209800"/>
            <a:ext cx="194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202024"/>
                </a:solidFill>
                <a:latin typeface="Arial"/>
                <a:ea typeface="Arial"/>
                <a:cs typeface="Arial"/>
              </a:defRPr>
            </a:pPr>
            <a:r>
              <a:rPr sz="1650" b="1" i="0">
                <a:solidFill>
                  <a:srgbClr val="202024"/>
                </a:solidFill>
                <a:latin typeface="Arial"/>
                <a:ea typeface="Arial"/>
                <a:cs typeface="Arial"/>
              </a:rPr>
              <a:t>Customer history</a:t>
            </a:r>
          </a:p>
        </p:txBody>
      </p:sp>
      <p:sp>
        <p:nvSpPr>
          <p:cNvPr id="10" name="">
            <a:extLst xmlns:a="http://schemas.openxmlformats.org/drawingml/2006/main">
              <a:ext uri="{FF2B5EF4-FFF2-40B4-BE49-F238E27FC236}">
                <a16:creationId xmlns:a16="http://schemas.microsoft.com/office/drawing/2014/main" id="{1314EB52-E444-44A5-BACB-29084614B285}"/>
              </a:ext>
            </a:extLst>
          </p:cNvPr>
          <p:cNvSpPr>
            <a:spLocks xmlns:a="http://schemas.openxmlformats.org/drawingml/2006/main" noGrp="1"/>
          </p:cNvSpPr>
          <p:nvPr/>
        </p:nvSpPr>
        <p:spPr>
          <a:xfrm xmlns:a="http://schemas.openxmlformats.org/drawingml/2006/main">
            <a:off x="781050" y="2571750"/>
            <a:ext cx="2266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Customer profile, relationship, billing and service records</a:t>
            </a:r>
          </a:p>
        </p:txBody>
      </p:sp>
      <p:sp>
        <p:nvSpPr>
          <p:cNvPr id="11" name="">
            <a:extLst xmlns:a="http://schemas.openxmlformats.org/drawingml/2006/main">
              <a:ext uri="{FF2B5EF4-FFF2-40B4-BE49-F238E27FC236}">
                <a16:creationId xmlns:a16="http://schemas.microsoft.com/office/drawing/2014/main" id="{6D08C6CC-8F63-48B6-B9C8-8F212F68E8D1}"/>
              </a:ext>
            </a:extLst>
          </p:cNvPr>
          <p:cNvSpPr>
            <a:spLocks xmlns:a="http://schemas.openxmlformats.org/drawingml/2006/main" noGrp="1"/>
          </p:cNvSpPr>
          <p:nvPr/>
        </p:nvSpPr>
        <p:spPr>
          <a:xfrm xmlns:a="http://schemas.openxmlformats.org/drawingml/2006/main">
            <a:off x="3371850" y="2095500"/>
            <a:ext cx="2571750" cy="990600"/>
          </a:xfrm>
          <a:prstGeom xmlns:a="http://schemas.openxmlformats.org/drawingml/2006/main" prst="rect">
            <a:avLst/>
          </a:prstGeom>
          <a:solidFill xmlns:a="http://schemas.openxmlformats.org/drawingml/2006/main">
            <a:srgbClr val="F1E4E7"/>
          </a:solidFill>
          <a:ln xmlns:a="http://schemas.openxmlformats.org/drawingml/2006/main" w="9525">
            <a:solidFill>
              <a:srgbClr val="CFCFD2"/>
            </a:solidFill>
            <a:prstDash val="solid"/>
          </a:ln>
        </p:spPr>
      </p:sp>
      <p:sp>
        <p:nvSpPr>
          <p:cNvPr id="12" name="">
            <a:extLst xmlns:a="http://schemas.openxmlformats.org/drawingml/2006/main">
              <a:ext uri="{FF2B5EF4-FFF2-40B4-BE49-F238E27FC236}">
                <a16:creationId xmlns:a16="http://schemas.microsoft.com/office/drawing/2014/main" id="{C8B8286B-125A-407F-B5CD-42178587F44C}"/>
              </a:ext>
            </a:extLst>
          </p:cNvPr>
          <p:cNvSpPr>
            <a:spLocks xmlns:a="http://schemas.openxmlformats.org/drawingml/2006/main" noGrp="1"/>
          </p:cNvSpPr>
          <p:nvPr/>
        </p:nvSpPr>
        <p:spPr>
          <a:xfrm xmlns:a="http://schemas.openxmlformats.org/drawingml/2006/main">
            <a:off x="3505200" y="22288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3F651E08-E569-4226-9068-36FED692A96A}"/>
              </a:ext>
            </a:extLst>
          </p:cNvPr>
          <p:cNvSpPr>
            <a:spLocks xmlns:a="http://schemas.openxmlformats.org/drawingml/2006/main" noGrp="1"/>
          </p:cNvSpPr>
          <p:nvPr/>
        </p:nvSpPr>
        <p:spPr>
          <a:xfrm xmlns:a="http://schemas.openxmlformats.org/drawingml/2006/main">
            <a:off x="3867150" y="2209800"/>
            <a:ext cx="194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202024"/>
                </a:solidFill>
                <a:latin typeface="Arial"/>
                <a:ea typeface="Arial"/>
                <a:cs typeface="Arial"/>
              </a:defRPr>
            </a:pPr>
            <a:r>
              <a:rPr sz="1650" b="1" i="0">
                <a:solidFill>
                  <a:srgbClr val="202024"/>
                </a:solidFill>
                <a:latin typeface="Arial"/>
                <a:ea typeface="Arial"/>
                <a:cs typeface="Arial"/>
              </a:rPr>
              <a:t>Risk prediction</a:t>
            </a:r>
          </a:p>
        </p:txBody>
      </p:sp>
      <p:sp>
        <p:nvSpPr>
          <p:cNvPr id="14" name="">
            <a:extLst xmlns:a="http://schemas.openxmlformats.org/drawingml/2006/main">
              <a:ext uri="{FF2B5EF4-FFF2-40B4-BE49-F238E27FC236}">
                <a16:creationId xmlns:a16="http://schemas.microsoft.com/office/drawing/2014/main" id="{3DFBF25C-13A7-43DF-8CBE-0C0F4738D9B1}"/>
              </a:ext>
            </a:extLst>
          </p:cNvPr>
          <p:cNvSpPr>
            <a:spLocks xmlns:a="http://schemas.openxmlformats.org/drawingml/2006/main" noGrp="1"/>
          </p:cNvSpPr>
          <p:nvPr/>
        </p:nvSpPr>
        <p:spPr>
          <a:xfrm xmlns:a="http://schemas.openxmlformats.org/drawingml/2006/main">
            <a:off x="3524250" y="2571750"/>
            <a:ext cx="2266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The classifier assigns a likely stay or churn label</a:t>
            </a:r>
          </a:p>
        </p:txBody>
      </p:sp>
      <p:sp>
        <p:nvSpPr>
          <p:cNvPr id="15" name="">
            <a:extLst xmlns:a="http://schemas.openxmlformats.org/drawingml/2006/main">
              <a:ext uri="{FF2B5EF4-FFF2-40B4-BE49-F238E27FC236}">
                <a16:creationId xmlns:a16="http://schemas.microsoft.com/office/drawing/2014/main" id="{82ED6D81-192F-4121-9B26-B23B01D34C6B}"/>
              </a:ext>
            </a:extLst>
          </p:cNvPr>
          <p:cNvSpPr>
            <a:spLocks xmlns:a="http://schemas.openxmlformats.org/drawingml/2006/main" noGrp="1"/>
          </p:cNvSpPr>
          <p:nvPr/>
        </p:nvSpPr>
        <p:spPr>
          <a:xfrm xmlns:a="http://schemas.openxmlformats.org/drawingml/2006/main">
            <a:off x="6115050" y="2095500"/>
            <a:ext cx="257175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16" name="">
            <a:extLst xmlns:a="http://schemas.openxmlformats.org/drawingml/2006/main">
              <a:ext uri="{FF2B5EF4-FFF2-40B4-BE49-F238E27FC236}">
                <a16:creationId xmlns:a16="http://schemas.microsoft.com/office/drawing/2014/main" id="{EC68E051-96AA-4B9A-9320-AA9321145475}"/>
              </a:ext>
            </a:extLst>
          </p:cNvPr>
          <p:cNvSpPr>
            <a:spLocks xmlns:a="http://schemas.openxmlformats.org/drawingml/2006/main" noGrp="1"/>
          </p:cNvSpPr>
          <p:nvPr/>
        </p:nvSpPr>
        <p:spPr>
          <a:xfrm xmlns:a="http://schemas.openxmlformats.org/drawingml/2006/main">
            <a:off x="6248400" y="22288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03</a:t>
            </a:r>
          </a:p>
        </p:txBody>
      </p:sp>
      <p:sp>
        <p:nvSpPr>
          <p:cNvPr id="17" name="">
            <a:extLst xmlns:a="http://schemas.openxmlformats.org/drawingml/2006/main">
              <a:ext uri="{FF2B5EF4-FFF2-40B4-BE49-F238E27FC236}">
                <a16:creationId xmlns:a16="http://schemas.microsoft.com/office/drawing/2014/main" id="{E62399FC-D008-46D7-92E6-410BAB130C6E}"/>
              </a:ext>
            </a:extLst>
          </p:cNvPr>
          <p:cNvSpPr>
            <a:spLocks xmlns:a="http://schemas.openxmlformats.org/drawingml/2006/main" noGrp="1"/>
          </p:cNvSpPr>
          <p:nvPr/>
        </p:nvSpPr>
        <p:spPr>
          <a:xfrm xmlns:a="http://schemas.openxmlformats.org/drawingml/2006/main">
            <a:off x="6610350" y="2209800"/>
            <a:ext cx="194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202024"/>
                </a:solidFill>
                <a:latin typeface="Arial"/>
                <a:ea typeface="Arial"/>
                <a:cs typeface="Arial"/>
              </a:defRPr>
            </a:pPr>
            <a:r>
              <a:rPr sz="1650" b="1" i="0">
                <a:solidFill>
                  <a:srgbClr val="202024"/>
                </a:solidFill>
                <a:latin typeface="Arial"/>
                <a:ea typeface="Arial"/>
                <a:cs typeface="Arial"/>
              </a:rPr>
              <a:t>Customer review</a:t>
            </a:r>
          </a:p>
        </p:txBody>
      </p:sp>
      <p:sp>
        <p:nvSpPr>
          <p:cNvPr id="18" name="">
            <a:extLst xmlns:a="http://schemas.openxmlformats.org/drawingml/2006/main">
              <a:ext uri="{FF2B5EF4-FFF2-40B4-BE49-F238E27FC236}">
                <a16:creationId xmlns:a16="http://schemas.microsoft.com/office/drawing/2014/main" id="{1D7B1AAC-9F38-4A65-92FE-E97A615000A2}"/>
              </a:ext>
            </a:extLst>
          </p:cNvPr>
          <p:cNvSpPr>
            <a:spLocks xmlns:a="http://schemas.openxmlformats.org/drawingml/2006/main" noGrp="1"/>
          </p:cNvSpPr>
          <p:nvPr/>
        </p:nvSpPr>
        <p:spPr>
          <a:xfrm xmlns:a="http://schemas.openxmlformats.org/drawingml/2006/main">
            <a:off x="6267450" y="2571750"/>
            <a:ext cx="2266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A business team can examine the account context</a:t>
            </a:r>
          </a:p>
        </p:txBody>
      </p:sp>
      <p:sp>
        <p:nvSpPr>
          <p:cNvPr id="19" name="">
            <a:extLst xmlns:a="http://schemas.openxmlformats.org/drawingml/2006/main">
              <a:ext uri="{FF2B5EF4-FFF2-40B4-BE49-F238E27FC236}">
                <a16:creationId xmlns:a16="http://schemas.microsoft.com/office/drawing/2014/main" id="{41E3C305-FBEA-403C-B0F6-B6255A6E35C1}"/>
              </a:ext>
            </a:extLst>
          </p:cNvPr>
          <p:cNvSpPr>
            <a:spLocks xmlns:a="http://schemas.openxmlformats.org/drawingml/2006/main" noGrp="1"/>
          </p:cNvSpPr>
          <p:nvPr/>
        </p:nvSpPr>
        <p:spPr>
          <a:xfrm xmlns:a="http://schemas.openxmlformats.org/drawingml/2006/main">
            <a:off x="8858250" y="2095500"/>
            <a:ext cx="257175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20" name="">
            <a:extLst xmlns:a="http://schemas.openxmlformats.org/drawingml/2006/main">
              <a:ext uri="{FF2B5EF4-FFF2-40B4-BE49-F238E27FC236}">
                <a16:creationId xmlns:a16="http://schemas.microsoft.com/office/drawing/2014/main" id="{0B98169A-03D1-4817-BFD8-6762A8DBF7D8}"/>
              </a:ext>
            </a:extLst>
          </p:cNvPr>
          <p:cNvSpPr>
            <a:spLocks xmlns:a="http://schemas.openxmlformats.org/drawingml/2006/main" noGrp="1"/>
          </p:cNvSpPr>
          <p:nvPr/>
        </p:nvSpPr>
        <p:spPr>
          <a:xfrm xmlns:a="http://schemas.openxmlformats.org/drawingml/2006/main">
            <a:off x="8991600" y="22288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04</a:t>
            </a:r>
          </a:p>
        </p:txBody>
      </p:sp>
      <p:sp>
        <p:nvSpPr>
          <p:cNvPr id="21" name="">
            <a:extLst xmlns:a="http://schemas.openxmlformats.org/drawingml/2006/main">
              <a:ext uri="{FF2B5EF4-FFF2-40B4-BE49-F238E27FC236}">
                <a16:creationId xmlns:a16="http://schemas.microsoft.com/office/drawing/2014/main" id="{4E544928-B461-4EE1-B728-6143D4209F25}"/>
              </a:ext>
            </a:extLst>
          </p:cNvPr>
          <p:cNvSpPr>
            <a:spLocks xmlns:a="http://schemas.openxmlformats.org/drawingml/2006/main" noGrp="1"/>
          </p:cNvSpPr>
          <p:nvPr/>
        </p:nvSpPr>
        <p:spPr>
          <a:xfrm xmlns:a="http://schemas.openxmlformats.org/drawingml/2006/main">
            <a:off x="9353550" y="2209800"/>
            <a:ext cx="194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202024"/>
                </a:solidFill>
                <a:latin typeface="Arial"/>
                <a:ea typeface="Arial"/>
                <a:cs typeface="Arial"/>
              </a:defRPr>
            </a:pPr>
            <a:r>
              <a:rPr sz="1650" b="1" i="0">
                <a:solidFill>
                  <a:srgbClr val="202024"/>
                </a:solidFill>
                <a:latin typeface="Arial"/>
                <a:ea typeface="Arial"/>
                <a:cs typeface="Arial"/>
              </a:rPr>
              <a:t>Illustrative action</a:t>
            </a:r>
          </a:p>
        </p:txBody>
      </p:sp>
      <p:sp>
        <p:nvSpPr>
          <p:cNvPr id="22" name="">
            <a:extLst xmlns:a="http://schemas.openxmlformats.org/drawingml/2006/main">
              <a:ext uri="{FF2B5EF4-FFF2-40B4-BE49-F238E27FC236}">
                <a16:creationId xmlns:a16="http://schemas.microsoft.com/office/drawing/2014/main" id="{81BE8C30-1EF3-4F13-9796-0E56938B30A4}"/>
              </a:ext>
            </a:extLst>
          </p:cNvPr>
          <p:cNvSpPr>
            <a:spLocks xmlns:a="http://schemas.openxmlformats.org/drawingml/2006/main" noGrp="1"/>
          </p:cNvSpPr>
          <p:nvPr/>
        </p:nvSpPr>
        <p:spPr>
          <a:xfrm xmlns:a="http://schemas.openxmlformats.org/drawingml/2006/main">
            <a:off x="9010650" y="2571750"/>
            <a:ext cx="2266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Engagement, service recovery or a suitable offer</a:t>
            </a:r>
          </a:p>
        </p:txBody>
      </p:sp>
      <p:sp>
        <p:nvSpPr>
          <p:cNvPr id="23" name="">
            <a:extLst xmlns:a="http://schemas.openxmlformats.org/drawingml/2006/main">
              <a:ext uri="{FF2B5EF4-FFF2-40B4-BE49-F238E27FC236}">
                <a16:creationId xmlns:a16="http://schemas.microsoft.com/office/drawing/2014/main" id="{9E22E5E6-764C-4AA7-AA3F-D945051760B6}"/>
              </a:ext>
            </a:extLst>
          </p:cNvPr>
          <p:cNvSpPr>
            <a:spLocks xmlns:a="http://schemas.openxmlformats.org/drawingml/2006/main" noGrp="1"/>
          </p:cNvSpPr>
          <p:nvPr/>
        </p:nvSpPr>
        <p:spPr>
          <a:xfrm xmlns:a="http://schemas.openxmlformats.org/drawingml/2006/main">
            <a:off x="3200400" y="2590800"/>
            <a:ext cx="17145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24" name="">
            <a:extLst xmlns:a="http://schemas.openxmlformats.org/drawingml/2006/main">
              <a:ext uri="{FF2B5EF4-FFF2-40B4-BE49-F238E27FC236}">
                <a16:creationId xmlns:a16="http://schemas.microsoft.com/office/drawing/2014/main" id="{9A0698BE-4B91-4AD9-8E93-E4297AE8F6F7}"/>
              </a:ext>
            </a:extLst>
          </p:cNvPr>
          <p:cNvSpPr>
            <a:spLocks xmlns:a="http://schemas.openxmlformats.org/drawingml/2006/main" noGrp="1"/>
          </p:cNvSpPr>
          <p:nvPr/>
        </p:nvSpPr>
        <p:spPr>
          <a:xfrm xmlns:a="http://schemas.openxmlformats.org/drawingml/2006/main">
            <a:off x="5943600" y="2590800"/>
            <a:ext cx="17145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25" name="">
            <a:extLst xmlns:a="http://schemas.openxmlformats.org/drawingml/2006/main">
              <a:ext uri="{FF2B5EF4-FFF2-40B4-BE49-F238E27FC236}">
                <a16:creationId xmlns:a16="http://schemas.microsoft.com/office/drawing/2014/main" id="{BAF9B5C8-5BE5-43D9-BD3C-A515A22389AB}"/>
              </a:ext>
            </a:extLst>
          </p:cNvPr>
          <p:cNvSpPr>
            <a:spLocks xmlns:a="http://schemas.openxmlformats.org/drawingml/2006/main" noGrp="1"/>
          </p:cNvSpPr>
          <p:nvPr/>
        </p:nvSpPr>
        <p:spPr>
          <a:xfrm xmlns:a="http://schemas.openxmlformats.org/drawingml/2006/main">
            <a:off x="8686800" y="2590800"/>
            <a:ext cx="17145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26" name="">
            <a:extLst xmlns:a="http://schemas.openxmlformats.org/drawingml/2006/main">
              <a:ext uri="{FF2B5EF4-FFF2-40B4-BE49-F238E27FC236}">
                <a16:creationId xmlns:a16="http://schemas.microsoft.com/office/drawing/2014/main" id="{BE373448-DCF3-41AA-9606-054D0832F8B6}"/>
              </a:ext>
            </a:extLst>
          </p:cNvPr>
          <p:cNvSpPr>
            <a:spLocks xmlns:a="http://schemas.openxmlformats.org/drawingml/2006/main" noGrp="1"/>
          </p:cNvSpPr>
          <p:nvPr/>
        </p:nvSpPr>
        <p:spPr>
          <a:xfrm xmlns:a="http://schemas.openxmlformats.org/drawingml/2006/main">
            <a:off x="628650" y="3371850"/>
            <a:ext cx="2133600" cy="285750"/>
          </a:xfrm>
          <a:prstGeom xmlns:a="http://schemas.openxmlformats.org/drawingml/2006/main" prst="rect">
            <a:avLst/>
          </a:prstGeom>
          <a:solidFill xmlns:a="http://schemas.openxmlformats.org/drawingml/2006/main">
            <a:srgbClr val="A67C88"/>
          </a:solidFill>
          <a:ln xmlns:a="http://schemas.openxmlformats.org/drawingml/2006/main" w="0">
            <a:solidFill>
              <a:srgbClr val="A67C88"/>
            </a:solidFill>
            <a:prstDash val="solid"/>
          </a:ln>
        </p:spPr>
      </p:sp>
      <p:sp>
        <p:nvSpPr>
          <p:cNvPr id="27" name="">
            <a:extLst xmlns:a="http://schemas.openxmlformats.org/drawingml/2006/main">
              <a:ext uri="{FF2B5EF4-FFF2-40B4-BE49-F238E27FC236}">
                <a16:creationId xmlns:a16="http://schemas.microsoft.com/office/drawing/2014/main" id="{D8A2AB98-3813-46B4-ACEA-C3043719106C}"/>
              </a:ext>
            </a:extLst>
          </p:cNvPr>
          <p:cNvSpPr>
            <a:spLocks xmlns:a="http://schemas.openxmlformats.org/drawingml/2006/main" noGrp="1"/>
          </p:cNvSpPr>
          <p:nvPr/>
        </p:nvSpPr>
        <p:spPr>
          <a:xfrm xmlns:a="http://schemas.openxmlformats.org/drawingml/2006/main">
            <a:off x="723900" y="3419475"/>
            <a:ext cx="1943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AVAILABLE INFORMATION</a:t>
            </a:r>
          </a:p>
        </p:txBody>
      </p:sp>
      <p:sp>
        <p:nvSpPr>
          <p:cNvPr id="28" name="">
            <a:extLst xmlns:a="http://schemas.openxmlformats.org/drawingml/2006/main">
              <a:ext uri="{FF2B5EF4-FFF2-40B4-BE49-F238E27FC236}">
                <a16:creationId xmlns:a16="http://schemas.microsoft.com/office/drawing/2014/main" id="{F8664D70-99BC-4C6D-8A99-A2FCA4CFCC56}"/>
              </a:ext>
            </a:extLst>
          </p:cNvPr>
          <p:cNvSpPr>
            <a:spLocks xmlns:a="http://schemas.openxmlformats.org/drawingml/2006/main" noGrp="1"/>
          </p:cNvSpPr>
          <p:nvPr/>
        </p:nvSpPr>
        <p:spPr>
          <a:xfrm xmlns:a="http://schemas.openxmlformats.org/drawingml/2006/main">
            <a:off x="628650" y="3819525"/>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PROFILE</a:t>
            </a:r>
          </a:p>
        </p:txBody>
      </p:sp>
      <p:sp>
        <p:nvSpPr>
          <p:cNvPr id="29" name="">
            <a:extLst xmlns:a="http://schemas.openxmlformats.org/drawingml/2006/main">
              <a:ext uri="{FF2B5EF4-FFF2-40B4-BE49-F238E27FC236}">
                <a16:creationId xmlns:a16="http://schemas.microsoft.com/office/drawing/2014/main" id="{6EC748EB-3CBA-4C84-B258-134CB1C3EE02}"/>
              </a:ext>
            </a:extLst>
          </p:cNvPr>
          <p:cNvSpPr>
            <a:spLocks xmlns:a="http://schemas.openxmlformats.org/drawingml/2006/main" noGrp="1"/>
          </p:cNvSpPr>
          <p:nvPr/>
        </p:nvSpPr>
        <p:spPr>
          <a:xfrm xmlns:a="http://schemas.openxmlformats.org/drawingml/2006/main">
            <a:off x="628650" y="4095750"/>
            <a:ext cx="247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0" i="0">
                <a:solidFill>
                  <a:srgbClr val="202024"/>
                </a:solidFill>
                <a:latin typeface="Arial"/>
                <a:ea typeface="Arial"/>
                <a:cs typeface="Arial"/>
              </a:defRPr>
            </a:pPr>
            <a:r>
              <a:rPr sz="1575" b="0" i="0">
                <a:solidFill>
                  <a:srgbClr val="202024"/>
                </a:solidFill>
                <a:latin typeface="Arial"/>
                <a:ea typeface="Arial"/>
                <a:cs typeface="Arial"/>
              </a:rPr>
              <a:t>Gender and age</a:t>
            </a:r>
          </a:p>
        </p:txBody>
      </p:sp>
      <p:sp>
        <p:nvSpPr>
          <p:cNvPr id="30" name="">
            <a:extLst xmlns:a="http://schemas.openxmlformats.org/drawingml/2006/main">
              <a:ext uri="{FF2B5EF4-FFF2-40B4-BE49-F238E27FC236}">
                <a16:creationId xmlns:a16="http://schemas.microsoft.com/office/drawing/2014/main" id="{45721BB2-1849-457B-8889-6DD50C361F7F}"/>
              </a:ext>
            </a:extLst>
          </p:cNvPr>
          <p:cNvSpPr>
            <a:spLocks xmlns:a="http://schemas.openxmlformats.org/drawingml/2006/main" noGrp="1"/>
          </p:cNvSpPr>
          <p:nvPr/>
        </p:nvSpPr>
        <p:spPr>
          <a:xfrm xmlns:a="http://schemas.openxmlformats.org/drawingml/2006/main">
            <a:off x="628650" y="4676775"/>
            <a:ext cx="24765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31" name="">
            <a:extLst xmlns:a="http://schemas.openxmlformats.org/drawingml/2006/main">
              <a:ext uri="{FF2B5EF4-FFF2-40B4-BE49-F238E27FC236}">
                <a16:creationId xmlns:a16="http://schemas.microsoft.com/office/drawing/2014/main" id="{5935F234-49C1-4747-9E28-08FCF7BE6686}"/>
              </a:ext>
            </a:extLst>
          </p:cNvPr>
          <p:cNvSpPr>
            <a:spLocks xmlns:a="http://schemas.openxmlformats.org/drawingml/2006/main" noGrp="1"/>
          </p:cNvSpPr>
          <p:nvPr/>
        </p:nvSpPr>
        <p:spPr>
          <a:xfrm xmlns:a="http://schemas.openxmlformats.org/drawingml/2006/main">
            <a:off x="3352800" y="3819525"/>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RELATIONSHIP</a:t>
            </a:r>
          </a:p>
        </p:txBody>
      </p:sp>
      <p:sp>
        <p:nvSpPr>
          <p:cNvPr id="32" name="">
            <a:extLst xmlns:a="http://schemas.openxmlformats.org/drawingml/2006/main">
              <a:ext uri="{FF2B5EF4-FFF2-40B4-BE49-F238E27FC236}">
                <a16:creationId xmlns:a16="http://schemas.microsoft.com/office/drawing/2014/main" id="{4AC29456-6630-430A-950D-B647619E70FA}"/>
              </a:ext>
            </a:extLst>
          </p:cNvPr>
          <p:cNvSpPr>
            <a:spLocks xmlns:a="http://schemas.openxmlformats.org/drawingml/2006/main" noGrp="1"/>
          </p:cNvSpPr>
          <p:nvPr/>
        </p:nvSpPr>
        <p:spPr>
          <a:xfrm xmlns:a="http://schemas.openxmlformats.org/drawingml/2006/main">
            <a:off x="3352800" y="4095750"/>
            <a:ext cx="247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0" i="0">
                <a:solidFill>
                  <a:srgbClr val="202024"/>
                </a:solidFill>
                <a:latin typeface="Arial"/>
                <a:ea typeface="Arial"/>
                <a:cs typeface="Arial"/>
              </a:defRPr>
            </a:pPr>
            <a:r>
              <a:rPr sz="1575" b="0" i="0">
                <a:solidFill>
                  <a:srgbClr val="202024"/>
                </a:solidFill>
                <a:latin typeface="Arial"/>
                <a:ea typeface="Arial"/>
                <a:cs typeface="Arial"/>
              </a:rPr>
              <a:t>Tenure</a:t>
            </a:r>
          </a:p>
        </p:txBody>
      </p:sp>
      <p:sp>
        <p:nvSpPr>
          <p:cNvPr id="33" name="">
            <a:extLst xmlns:a="http://schemas.openxmlformats.org/drawingml/2006/main">
              <a:ext uri="{FF2B5EF4-FFF2-40B4-BE49-F238E27FC236}">
                <a16:creationId xmlns:a16="http://schemas.microsoft.com/office/drawing/2014/main" id="{400A15FE-3325-465E-A842-CA69F32351D9}"/>
              </a:ext>
            </a:extLst>
          </p:cNvPr>
          <p:cNvSpPr>
            <a:spLocks xmlns:a="http://schemas.openxmlformats.org/drawingml/2006/main" noGrp="1"/>
          </p:cNvSpPr>
          <p:nvPr/>
        </p:nvSpPr>
        <p:spPr>
          <a:xfrm xmlns:a="http://schemas.openxmlformats.org/drawingml/2006/main">
            <a:off x="3352800" y="4676775"/>
            <a:ext cx="24765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34" name="">
            <a:extLst xmlns:a="http://schemas.openxmlformats.org/drawingml/2006/main">
              <a:ext uri="{FF2B5EF4-FFF2-40B4-BE49-F238E27FC236}">
                <a16:creationId xmlns:a16="http://schemas.microsoft.com/office/drawing/2014/main" id="{AC00D907-6051-43EF-B072-691741082F81}"/>
              </a:ext>
            </a:extLst>
          </p:cNvPr>
          <p:cNvSpPr>
            <a:spLocks xmlns:a="http://schemas.openxmlformats.org/drawingml/2006/main" noGrp="1"/>
          </p:cNvSpPr>
          <p:nvPr/>
        </p:nvSpPr>
        <p:spPr>
          <a:xfrm xmlns:a="http://schemas.openxmlformats.org/drawingml/2006/main">
            <a:off x="6076950" y="3819525"/>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BILLING</a:t>
            </a:r>
          </a:p>
        </p:txBody>
      </p:sp>
      <p:sp>
        <p:nvSpPr>
          <p:cNvPr id="35" name="">
            <a:extLst xmlns:a="http://schemas.openxmlformats.org/drawingml/2006/main">
              <a:ext uri="{FF2B5EF4-FFF2-40B4-BE49-F238E27FC236}">
                <a16:creationId xmlns:a16="http://schemas.microsoft.com/office/drawing/2014/main" id="{120026BE-C685-4907-A801-585A42C9806A}"/>
              </a:ext>
            </a:extLst>
          </p:cNvPr>
          <p:cNvSpPr>
            <a:spLocks xmlns:a="http://schemas.openxmlformats.org/drawingml/2006/main" noGrp="1"/>
          </p:cNvSpPr>
          <p:nvPr/>
        </p:nvSpPr>
        <p:spPr>
          <a:xfrm xmlns:a="http://schemas.openxmlformats.org/drawingml/2006/main">
            <a:off x="6076950" y="4095750"/>
            <a:ext cx="247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0" i="0">
                <a:solidFill>
                  <a:srgbClr val="202024"/>
                </a:solidFill>
                <a:latin typeface="Arial"/>
                <a:ea typeface="Arial"/>
                <a:cs typeface="Arial"/>
              </a:defRPr>
            </a:pPr>
            <a:r>
              <a:rPr sz="1575" b="0" i="0">
                <a:solidFill>
                  <a:srgbClr val="202024"/>
                </a:solidFill>
                <a:latin typeface="Arial"/>
                <a:ea typeface="Arial"/>
                <a:cs typeface="Arial"/>
              </a:rPr>
              <a:t>Monthly and total charges</a:t>
            </a:r>
          </a:p>
        </p:txBody>
      </p:sp>
      <p:sp>
        <p:nvSpPr>
          <p:cNvPr id="36" name="">
            <a:extLst xmlns:a="http://schemas.openxmlformats.org/drawingml/2006/main">
              <a:ext uri="{FF2B5EF4-FFF2-40B4-BE49-F238E27FC236}">
                <a16:creationId xmlns:a16="http://schemas.microsoft.com/office/drawing/2014/main" id="{2EDA3767-E24A-4C16-A3AA-779DF140014D}"/>
              </a:ext>
            </a:extLst>
          </p:cNvPr>
          <p:cNvSpPr>
            <a:spLocks xmlns:a="http://schemas.openxmlformats.org/drawingml/2006/main" noGrp="1"/>
          </p:cNvSpPr>
          <p:nvPr/>
        </p:nvSpPr>
        <p:spPr>
          <a:xfrm xmlns:a="http://schemas.openxmlformats.org/drawingml/2006/main">
            <a:off x="6076950" y="4676775"/>
            <a:ext cx="24765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37" name="">
            <a:extLst xmlns:a="http://schemas.openxmlformats.org/drawingml/2006/main">
              <a:ext uri="{FF2B5EF4-FFF2-40B4-BE49-F238E27FC236}">
                <a16:creationId xmlns:a16="http://schemas.microsoft.com/office/drawing/2014/main" id="{1FBA6B22-82A7-4D3E-9D1C-1A98A1F1691F}"/>
              </a:ext>
            </a:extLst>
          </p:cNvPr>
          <p:cNvSpPr>
            <a:spLocks xmlns:a="http://schemas.openxmlformats.org/drawingml/2006/main" noGrp="1"/>
          </p:cNvSpPr>
          <p:nvPr/>
        </p:nvSpPr>
        <p:spPr>
          <a:xfrm xmlns:a="http://schemas.openxmlformats.org/drawingml/2006/main">
            <a:off x="8801100" y="3819525"/>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CONTRACT &amp; SERVICE</a:t>
            </a:r>
          </a:p>
        </p:txBody>
      </p:sp>
      <p:sp>
        <p:nvSpPr>
          <p:cNvPr id="38" name="">
            <a:extLst xmlns:a="http://schemas.openxmlformats.org/drawingml/2006/main">
              <a:ext uri="{FF2B5EF4-FFF2-40B4-BE49-F238E27FC236}">
                <a16:creationId xmlns:a16="http://schemas.microsoft.com/office/drawing/2014/main" id="{5530E9D7-1486-4C61-A6D1-8B5AB55018E4}"/>
              </a:ext>
            </a:extLst>
          </p:cNvPr>
          <p:cNvSpPr>
            <a:spLocks xmlns:a="http://schemas.openxmlformats.org/drawingml/2006/main" noGrp="1"/>
          </p:cNvSpPr>
          <p:nvPr/>
        </p:nvSpPr>
        <p:spPr>
          <a:xfrm xmlns:a="http://schemas.openxmlformats.org/drawingml/2006/main">
            <a:off x="8801100" y="4095750"/>
            <a:ext cx="247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174"/>
          </a:bodyPr>
          <a:lstStyle xmlns:a="http://schemas.openxmlformats.org/drawingml/2006/main"/>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Contract type, internet service and related attributes</a:t>
            </a:r>
          </a:p>
        </p:txBody>
      </p:sp>
      <p:sp>
        <p:nvSpPr>
          <p:cNvPr id="39" name="">
            <a:extLst xmlns:a="http://schemas.openxmlformats.org/drawingml/2006/main">
              <a:ext uri="{FF2B5EF4-FFF2-40B4-BE49-F238E27FC236}">
                <a16:creationId xmlns:a16="http://schemas.microsoft.com/office/drawing/2014/main" id="{45B728C7-F795-494F-8153-149D028D2044}"/>
              </a:ext>
            </a:extLst>
          </p:cNvPr>
          <p:cNvSpPr>
            <a:spLocks xmlns:a="http://schemas.openxmlformats.org/drawingml/2006/main" noGrp="1"/>
          </p:cNvSpPr>
          <p:nvPr/>
        </p:nvSpPr>
        <p:spPr>
          <a:xfrm xmlns:a="http://schemas.openxmlformats.org/drawingml/2006/main">
            <a:off x="8801100" y="4676775"/>
            <a:ext cx="24765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0" name="">
            <a:extLst xmlns:a="http://schemas.openxmlformats.org/drawingml/2006/main">
              <a:ext uri="{FF2B5EF4-FFF2-40B4-BE49-F238E27FC236}">
                <a16:creationId xmlns:a16="http://schemas.microsoft.com/office/drawing/2014/main" id="{D055356C-43DE-44EC-B5E3-24C1EC9D8871}"/>
              </a:ext>
            </a:extLst>
          </p:cNvPr>
          <p:cNvSpPr>
            <a:spLocks xmlns:a="http://schemas.openxmlformats.org/drawingml/2006/main" noGrp="1"/>
          </p:cNvSpPr>
          <p:nvPr/>
        </p:nvSpPr>
        <p:spPr>
          <a:xfrm xmlns:a="http://schemas.openxmlformats.org/drawingml/2006/main">
            <a:off x="628650" y="4953000"/>
            <a:ext cx="10934700" cy="11239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41" name="">
            <a:extLst xmlns:a="http://schemas.openxmlformats.org/drawingml/2006/main">
              <a:ext uri="{FF2B5EF4-FFF2-40B4-BE49-F238E27FC236}">
                <a16:creationId xmlns:a16="http://schemas.microsoft.com/office/drawing/2014/main" id="{42494049-3D3B-420C-BDA1-2459B67D1BF3}"/>
              </a:ext>
            </a:extLst>
          </p:cNvPr>
          <p:cNvSpPr>
            <a:spLocks xmlns:a="http://schemas.openxmlformats.org/drawingml/2006/main" noGrp="1"/>
          </p:cNvSpPr>
          <p:nvPr/>
        </p:nvSpPr>
        <p:spPr>
          <a:xfrm xmlns:a="http://schemas.openxmlformats.org/drawingml/2006/main">
            <a:off x="819150" y="5153025"/>
            <a:ext cx="152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BINARY TARGET</a:t>
            </a:r>
          </a:p>
        </p:txBody>
      </p:sp>
      <p:sp>
        <p:nvSpPr>
          <p:cNvPr id="42" name="">
            <a:extLst xmlns:a="http://schemas.openxmlformats.org/drawingml/2006/main">
              <a:ext uri="{FF2B5EF4-FFF2-40B4-BE49-F238E27FC236}">
                <a16:creationId xmlns:a16="http://schemas.microsoft.com/office/drawing/2014/main" id="{CD8AAADB-929A-4DDE-9BA3-538B3FC22179}"/>
              </a:ext>
            </a:extLst>
          </p:cNvPr>
          <p:cNvSpPr>
            <a:spLocks xmlns:a="http://schemas.openxmlformats.org/drawingml/2006/main" noGrp="1"/>
          </p:cNvSpPr>
          <p:nvPr/>
        </p:nvSpPr>
        <p:spPr>
          <a:xfrm xmlns:a="http://schemas.openxmlformats.org/drawingml/2006/main">
            <a:off x="819150" y="5429250"/>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325" b="1" i="0">
                <a:solidFill>
                  <a:srgbClr val="202024"/>
                </a:solidFill>
                <a:latin typeface="Arial"/>
                <a:ea typeface="Arial"/>
                <a:cs typeface="Arial"/>
              </a:defRPr>
            </a:pPr>
            <a:r>
              <a:rPr sz="2325" b="1" i="0">
                <a:solidFill>
                  <a:srgbClr val="202024"/>
                </a:solidFill>
                <a:latin typeface="Arial"/>
                <a:ea typeface="Arial"/>
                <a:cs typeface="Arial"/>
              </a:rPr>
              <a:t>0</a:t>
            </a:r>
          </a:p>
        </p:txBody>
      </p:sp>
      <p:sp>
        <p:nvSpPr>
          <p:cNvPr id="43" name="">
            <a:extLst xmlns:a="http://schemas.openxmlformats.org/drawingml/2006/main">
              <a:ext uri="{FF2B5EF4-FFF2-40B4-BE49-F238E27FC236}">
                <a16:creationId xmlns:a16="http://schemas.microsoft.com/office/drawing/2014/main" id="{AFA5BE4E-66AE-4F75-9DDC-93F2B85F8F1D}"/>
              </a:ext>
            </a:extLst>
          </p:cNvPr>
          <p:cNvSpPr>
            <a:spLocks xmlns:a="http://schemas.openxmlformats.org/drawingml/2006/main" noGrp="1"/>
          </p:cNvSpPr>
          <p:nvPr/>
        </p:nvSpPr>
        <p:spPr>
          <a:xfrm xmlns:a="http://schemas.openxmlformats.org/drawingml/2006/main">
            <a:off x="1219200" y="548640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238"/>
          </a:bodyPr>
          <a:lstStyle xmlns:a="http://schemas.openxmlformats.org/drawingml/2006/main"/>
          <a:p xmlns:a="http://schemas.openxmlformats.org/drawingml/2006/main">
            <a:pPr algn="l">
              <a:lnSpc>
                <a:spcPct val="100000"/>
              </a:lnSpc>
              <a:buNone/>
              <a:defRPr sz="1575" b="0" i="0">
                <a:solidFill>
                  <a:srgbClr val="202024"/>
                </a:solidFill>
                <a:latin typeface="Arial"/>
                <a:ea typeface="Arial"/>
                <a:cs typeface="Arial"/>
              </a:defRPr>
            </a:pPr>
            <a:r>
              <a:rPr sz="1575" b="0" i="0">
                <a:solidFill>
                  <a:srgbClr val="202024"/>
                </a:solidFill>
                <a:latin typeface="Arial"/>
                <a:ea typeface="Arial"/>
                <a:cs typeface="Arial"/>
              </a:rPr>
              <a:t>Likely to stay</a:t>
            </a:r>
          </a:p>
        </p:txBody>
      </p:sp>
      <p:sp>
        <p:nvSpPr>
          <p:cNvPr id="44" name="">
            <a:extLst xmlns:a="http://schemas.openxmlformats.org/drawingml/2006/main">
              <a:ext uri="{FF2B5EF4-FFF2-40B4-BE49-F238E27FC236}">
                <a16:creationId xmlns:a16="http://schemas.microsoft.com/office/drawing/2014/main" id="{9E6A94CB-3B5C-4D17-A4E2-066EBE7AE2BF}"/>
              </a:ext>
            </a:extLst>
          </p:cNvPr>
          <p:cNvSpPr>
            <a:spLocks xmlns:a="http://schemas.openxmlformats.org/drawingml/2006/main" noGrp="1"/>
          </p:cNvSpPr>
          <p:nvPr/>
        </p:nvSpPr>
        <p:spPr>
          <a:xfrm xmlns:a="http://schemas.openxmlformats.org/drawingml/2006/main">
            <a:off x="3095625" y="5429250"/>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325" b="1" i="0">
                <a:solidFill>
                  <a:srgbClr val="202024"/>
                </a:solidFill>
                <a:latin typeface="Arial"/>
                <a:ea typeface="Arial"/>
                <a:cs typeface="Arial"/>
              </a:defRPr>
            </a:pPr>
            <a:r>
              <a:rPr sz="2325" b="1" i="0">
                <a:solidFill>
                  <a:srgbClr val="202024"/>
                </a:solidFill>
                <a:latin typeface="Arial"/>
                <a:ea typeface="Arial"/>
                <a:cs typeface="Arial"/>
              </a:rPr>
              <a:t>1</a:t>
            </a:r>
          </a:p>
        </p:txBody>
      </p:sp>
      <p:sp>
        <p:nvSpPr>
          <p:cNvPr id="45" name="">
            <a:extLst xmlns:a="http://schemas.openxmlformats.org/drawingml/2006/main">
              <a:ext uri="{FF2B5EF4-FFF2-40B4-BE49-F238E27FC236}">
                <a16:creationId xmlns:a16="http://schemas.microsoft.com/office/drawing/2014/main" id="{84A02572-C7E9-4E42-8B97-6685190647AC}"/>
              </a:ext>
            </a:extLst>
          </p:cNvPr>
          <p:cNvSpPr>
            <a:spLocks xmlns:a="http://schemas.openxmlformats.org/drawingml/2006/main" noGrp="1"/>
          </p:cNvSpPr>
          <p:nvPr/>
        </p:nvSpPr>
        <p:spPr>
          <a:xfrm xmlns:a="http://schemas.openxmlformats.org/drawingml/2006/main">
            <a:off x="3495675" y="5486400"/>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238"/>
          </a:bodyPr>
          <a:lstStyle xmlns:a="http://schemas.openxmlformats.org/drawingml/2006/main"/>
          <a:p xmlns:a="http://schemas.openxmlformats.org/drawingml/2006/main">
            <a:pPr algn="l">
              <a:lnSpc>
                <a:spcPct val="100000"/>
              </a:lnSpc>
              <a:buNone/>
              <a:defRPr sz="1575" b="0" i="0">
                <a:solidFill>
                  <a:srgbClr val="202024"/>
                </a:solidFill>
                <a:latin typeface="Arial"/>
                <a:ea typeface="Arial"/>
                <a:cs typeface="Arial"/>
              </a:defRPr>
            </a:pPr>
            <a:r>
              <a:rPr sz="1575" b="0" i="0">
                <a:solidFill>
                  <a:srgbClr val="202024"/>
                </a:solidFill>
                <a:latin typeface="Arial"/>
                <a:ea typeface="Arial"/>
                <a:cs typeface="Arial"/>
              </a:rPr>
              <a:t>Likely to churn</a:t>
            </a:r>
          </a:p>
        </p:txBody>
      </p:sp>
      <p:sp>
        <p:nvSpPr>
          <p:cNvPr id="46" name="">
            <a:extLst xmlns:a="http://schemas.openxmlformats.org/drawingml/2006/main">
              <a:ext uri="{FF2B5EF4-FFF2-40B4-BE49-F238E27FC236}">
                <a16:creationId xmlns:a16="http://schemas.microsoft.com/office/drawing/2014/main" id="{532ABD64-6923-4E9D-ABBE-E045A91AEE80}"/>
              </a:ext>
            </a:extLst>
          </p:cNvPr>
          <p:cNvSpPr>
            <a:spLocks xmlns:a="http://schemas.openxmlformats.org/drawingml/2006/main" noGrp="1"/>
          </p:cNvSpPr>
          <p:nvPr/>
        </p:nvSpPr>
        <p:spPr>
          <a:xfrm xmlns:a="http://schemas.openxmlformats.org/drawingml/2006/main">
            <a:off x="5657850" y="5143500"/>
            <a:ext cx="0" cy="72390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7" name="">
            <a:extLst xmlns:a="http://schemas.openxmlformats.org/drawingml/2006/main">
              <a:ext uri="{FF2B5EF4-FFF2-40B4-BE49-F238E27FC236}">
                <a16:creationId xmlns:a16="http://schemas.microsoft.com/office/drawing/2014/main" id="{571FF540-F7AF-4274-B805-D3E41BD38AC5}"/>
              </a:ext>
            </a:extLst>
          </p:cNvPr>
          <p:cNvSpPr>
            <a:spLocks xmlns:a="http://schemas.openxmlformats.org/drawingml/2006/main" noGrp="1"/>
          </p:cNvSpPr>
          <p:nvPr/>
        </p:nvSpPr>
        <p:spPr>
          <a:xfrm xmlns:a="http://schemas.openxmlformats.org/drawingml/2006/main">
            <a:off x="6000750" y="5219700"/>
            <a:ext cx="114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325" b="1" i="0">
                <a:solidFill>
                  <a:srgbClr val="202024"/>
                </a:solidFill>
                <a:latin typeface="Arial"/>
                <a:ea typeface="Arial"/>
                <a:cs typeface="Arial"/>
              </a:defRPr>
            </a:pPr>
            <a:r>
              <a:rPr sz="2325" b="1" i="0">
                <a:solidFill>
                  <a:srgbClr val="202024"/>
                </a:solidFill>
                <a:latin typeface="Arial"/>
                <a:ea typeface="Arial"/>
                <a:cs typeface="Arial"/>
              </a:rPr>
              <a:t>~1,000</a:t>
            </a:r>
          </a:p>
        </p:txBody>
      </p:sp>
      <p:sp>
        <p:nvSpPr>
          <p:cNvPr id="48" name="">
            <a:extLst xmlns:a="http://schemas.openxmlformats.org/drawingml/2006/main">
              <a:ext uri="{FF2B5EF4-FFF2-40B4-BE49-F238E27FC236}">
                <a16:creationId xmlns:a16="http://schemas.microsoft.com/office/drawing/2014/main" id="{502CA8FE-C6E3-4E37-89CE-6502F1CC7625}"/>
              </a:ext>
            </a:extLst>
          </p:cNvPr>
          <p:cNvSpPr>
            <a:spLocks xmlns:a="http://schemas.openxmlformats.org/drawingml/2006/main" noGrp="1"/>
          </p:cNvSpPr>
          <p:nvPr/>
        </p:nvSpPr>
        <p:spPr>
          <a:xfrm xmlns:a="http://schemas.openxmlformats.org/drawingml/2006/main">
            <a:off x="6000750" y="556260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4074"/>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static records described in the synopsis</a:t>
            </a:r>
          </a:p>
        </p:txBody>
      </p:sp>
      <p:sp>
        <p:nvSpPr>
          <p:cNvPr id="49" name="">
            <a:extLst xmlns:a="http://schemas.openxmlformats.org/drawingml/2006/main">
              <a:ext uri="{FF2B5EF4-FFF2-40B4-BE49-F238E27FC236}">
                <a16:creationId xmlns:a16="http://schemas.microsoft.com/office/drawing/2014/main" id="{FDC89F5F-0256-487C-8E7D-3A1CED226C7C}"/>
              </a:ext>
            </a:extLst>
          </p:cNvPr>
          <p:cNvSpPr>
            <a:spLocks xmlns:a="http://schemas.openxmlformats.org/drawingml/2006/main" noGrp="1"/>
          </p:cNvSpPr>
          <p:nvPr/>
        </p:nvSpPr>
        <p:spPr>
          <a:xfrm xmlns:a="http://schemas.openxmlformats.org/drawingml/2006/main">
            <a:off x="8458200" y="5143500"/>
            <a:ext cx="0" cy="72390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50" name="">
            <a:extLst xmlns:a="http://schemas.openxmlformats.org/drawingml/2006/main">
              <a:ext uri="{FF2B5EF4-FFF2-40B4-BE49-F238E27FC236}">
                <a16:creationId xmlns:a16="http://schemas.microsoft.com/office/drawing/2014/main" id="{8B9B1CB2-6453-402C-996A-41261BA3B968}"/>
              </a:ext>
            </a:extLst>
          </p:cNvPr>
          <p:cNvSpPr>
            <a:spLocks xmlns:a="http://schemas.openxmlformats.org/drawingml/2006/main" noGrp="1"/>
          </p:cNvSpPr>
          <p:nvPr/>
        </p:nvSpPr>
        <p:spPr>
          <a:xfrm xmlns:a="http://schemas.openxmlformats.org/drawingml/2006/main">
            <a:off x="8801100" y="521970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Boundary</a:t>
            </a:r>
          </a:p>
        </p:txBody>
      </p:sp>
      <p:sp>
        <p:nvSpPr>
          <p:cNvPr id="51" name="">
            <a:extLst xmlns:a="http://schemas.openxmlformats.org/drawingml/2006/main">
              <a:ext uri="{FF2B5EF4-FFF2-40B4-BE49-F238E27FC236}">
                <a16:creationId xmlns:a16="http://schemas.microsoft.com/office/drawing/2014/main" id="{398F4865-BE50-4FBC-BD57-4BB18ABDF6AD}"/>
              </a:ext>
            </a:extLst>
          </p:cNvPr>
          <p:cNvSpPr>
            <a:spLocks xmlns:a="http://schemas.openxmlformats.org/drawingml/2006/main" noGrp="1"/>
          </p:cNvSpPr>
          <p:nvPr/>
        </p:nvSpPr>
        <p:spPr>
          <a:xfrm xmlns:a="http://schemas.openxmlformats.org/drawingml/2006/main">
            <a:off x="8801100" y="550545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2381"/>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The output supports review. It does not explain why a customer leaves.</a:t>
            </a:r>
          </a:p>
        </p:txBody>
      </p:sp>
      <p:sp>
        <p:nvSpPr>
          <p:cNvPr id="52" name="">
            <a:extLst xmlns:a="http://schemas.openxmlformats.org/drawingml/2006/main">
              <a:ext uri="{FF2B5EF4-FFF2-40B4-BE49-F238E27FC236}">
                <a16:creationId xmlns:a16="http://schemas.microsoft.com/office/drawing/2014/main" id="{79C2628D-A3D1-42EA-BF64-EC6075FCE212}"/>
              </a:ext>
            </a:extLst>
          </p:cNvPr>
          <p:cNvSpPr>
            <a:spLocks xmlns:a="http://schemas.openxmlformats.org/drawingml/2006/main" noGrp="1"/>
          </p:cNvSpPr>
          <p:nvPr/>
        </p:nvSpPr>
        <p:spPr>
          <a:xfrm xmlns:a="http://schemas.openxmlformats.org/drawingml/2006/main">
            <a:off x="628650" y="6438900"/>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53" name="">
            <a:extLst xmlns:a="http://schemas.openxmlformats.org/drawingml/2006/main">
              <a:ext uri="{FF2B5EF4-FFF2-40B4-BE49-F238E27FC236}">
                <a16:creationId xmlns:a16="http://schemas.microsoft.com/office/drawing/2014/main" id="{E4252D14-95CF-4B9E-BFEC-6C82769303BE}"/>
              </a:ext>
            </a:extLst>
          </p:cNvPr>
          <p:cNvSpPr>
            <a:spLocks xmlns:a="http://schemas.openxmlformats.org/drawingml/2006/main" noGrp="1"/>
          </p:cNvSpPr>
          <p:nvPr/>
        </p:nvSpPr>
        <p:spPr>
          <a:xfrm xmlns:a="http://schemas.openxmlformats.org/drawingml/2006/main">
            <a:off x="628650" y="6524625"/>
            <a:ext cx="10934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0" i="1">
                <a:solidFill>
                  <a:srgbClr val="202024"/>
                </a:solidFill>
                <a:latin typeface="Arial"/>
                <a:ea typeface="Arial"/>
                <a:cs typeface="Arial"/>
              </a:defRPr>
            </a:pPr>
            <a:r>
              <a:rPr sz="825" b="0" i="1">
                <a:solidFill>
                  <a:srgbClr val="202024"/>
                </a:solidFill>
                <a:latin typeface="Arial"/>
                <a:ea typeface="Arial"/>
                <a:cs typeface="Arial"/>
              </a:rPr>
              <a:t>Source: Master synopsis, sections A-D, H-I</a:t>
            </a:r>
          </a:p>
        </p:txBody>
      </p:sp>
    </p:spTree>
    <p:extLst>
      <p:ext uri="{BB962C8B-B14F-4D97-AF65-F5344CB8AC3E}">
        <p14:creationId xmlns:p14="http://schemas.microsoft.com/office/powerpoint/2010/main" val="78861721"/>
      </p:ext>
    </p:extLst>
  </p:cSld>
</p:sld>
</file>

<file path=ppt/slides/slide3.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77" name="">
            <a:extLst xmlns:a="http://schemas.openxmlformats.org/drawingml/2006/main">
              <a:ext uri="{FF2B5EF4-FFF2-40B4-BE49-F238E27FC236}">
                <a16:creationId xmlns:a16="http://schemas.microsoft.com/office/drawing/2014/main" id="{F9D32CD5-F05B-427E-9B5E-ED311E763D24}"/>
              </a:ext>
            </a:extLst>
          </p:cNvPr>
          <p:cNvSpPr>
            <a:spLocks xmlns:a="http://schemas.openxmlformats.org/drawingml/2006/main" noGrp="1"/>
          </p:cNvSpPr>
          <p:nvPr/>
        </p:nvSpPr>
        <p:spPr>
          <a:xfrm xmlns:a="http://schemas.openxmlformats.org/drawingml/2006/main">
            <a:off x="628650" y="33337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MACHINE LEARNING WORKFLOW</a:t>
            </a:r>
          </a:p>
        </p:txBody>
      </p:sp>
      <p:sp>
        <p:nvSpPr>
          <p:cNvPr id="2" name="">
            <a:extLst xmlns:a="http://schemas.openxmlformats.org/drawingml/2006/main">
              <a:ext uri="{FF2B5EF4-FFF2-40B4-BE49-F238E27FC236}">
                <a16:creationId xmlns:a16="http://schemas.microsoft.com/office/drawing/2014/main" id="{D0CFC878-C6B8-4EA4-8ED9-EE9F0FC2EFBB}"/>
              </a:ext>
            </a:extLst>
          </p:cNvPr>
          <p:cNvSpPr>
            <a:spLocks xmlns:a="http://schemas.openxmlformats.org/drawingml/2006/main" noGrp="1"/>
          </p:cNvSpPr>
          <p:nvPr/>
        </p:nvSpPr>
        <p:spPr>
          <a:xfrm xmlns:a="http://schemas.openxmlformats.org/drawingml/2006/main">
            <a:off x="628650" y="638175"/>
            <a:ext cx="10934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700" b="1" i="0">
                <a:solidFill>
                  <a:srgbClr val="202024"/>
                </a:solidFill>
                <a:latin typeface="Arial"/>
                <a:ea typeface="Arial"/>
                <a:cs typeface="Arial"/>
              </a:defRPr>
            </a:pPr>
            <a:r>
              <a:rPr sz="2700" b="1" i="0">
                <a:solidFill>
                  <a:srgbClr val="202024"/>
                </a:solidFill>
                <a:latin typeface="Arial"/>
                <a:ea typeface="Arial"/>
                <a:cs typeface="Arial"/>
              </a:rPr>
              <a:t>The documented workflow separates model training from future prediction</a:t>
            </a:r>
          </a:p>
        </p:txBody>
      </p:sp>
      <p:sp>
        <p:nvSpPr>
          <p:cNvPr id="3" name="">
            <a:extLst xmlns:a="http://schemas.openxmlformats.org/drawingml/2006/main">
              <a:ext uri="{FF2B5EF4-FFF2-40B4-BE49-F238E27FC236}">
                <a16:creationId xmlns:a16="http://schemas.microsoft.com/office/drawing/2014/main" id="{7EA62586-ECC6-4C8D-B11D-41CC5D4D2DE6}"/>
              </a:ext>
            </a:extLst>
          </p:cNvPr>
          <p:cNvSpPr>
            <a:spLocks xmlns:a="http://schemas.openxmlformats.org/drawingml/2006/main" noGrp="1"/>
          </p:cNvSpPr>
          <p:nvPr/>
        </p:nvSpPr>
        <p:spPr>
          <a:xfrm xmlns:a="http://schemas.openxmlformats.org/drawingml/2006/main">
            <a:off x="628650" y="1514475"/>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 name="">
            <a:extLst xmlns:a="http://schemas.openxmlformats.org/drawingml/2006/main">
              <a:ext uri="{FF2B5EF4-FFF2-40B4-BE49-F238E27FC236}">
                <a16:creationId xmlns:a16="http://schemas.microsoft.com/office/drawing/2014/main" id="{BD619B87-841E-469E-8F89-8976CF841DC8}"/>
              </a:ext>
            </a:extLst>
          </p:cNvPr>
          <p:cNvSpPr>
            <a:spLocks xmlns:a="http://schemas.openxmlformats.org/drawingml/2006/main" noGrp="1"/>
          </p:cNvSpPr>
          <p:nvPr/>
        </p:nvSpPr>
        <p:spPr>
          <a:xfrm xmlns:a="http://schemas.openxmlformats.org/drawingml/2006/main">
            <a:off x="11144250" y="342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E9DF3DAC-620D-44D2-8E41-9DE40262ECD4}"/>
              </a:ext>
            </a:extLst>
          </p:cNvPr>
          <p:cNvSpPr>
            <a:spLocks xmlns:a="http://schemas.openxmlformats.org/drawingml/2006/main" noGrp="1"/>
          </p:cNvSpPr>
          <p:nvPr/>
        </p:nvSpPr>
        <p:spPr>
          <a:xfrm xmlns:a="http://schemas.openxmlformats.org/drawingml/2006/main">
            <a:off x="628650" y="1647825"/>
            <a:ext cx="1409700" cy="28575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6" name="">
            <a:extLst xmlns:a="http://schemas.openxmlformats.org/drawingml/2006/main">
              <a:ext uri="{FF2B5EF4-FFF2-40B4-BE49-F238E27FC236}">
                <a16:creationId xmlns:a16="http://schemas.microsoft.com/office/drawing/2014/main" id="{1FBD13EB-E976-4377-BF30-30B8C3A3039B}"/>
              </a:ext>
            </a:extLst>
          </p:cNvPr>
          <p:cNvSpPr>
            <a:spLocks xmlns:a="http://schemas.openxmlformats.org/drawingml/2006/main" noGrp="1"/>
          </p:cNvSpPr>
          <p:nvPr/>
        </p:nvSpPr>
        <p:spPr>
          <a:xfrm xmlns:a="http://schemas.openxmlformats.org/drawingml/2006/main">
            <a:off x="723900" y="1695450"/>
            <a:ext cx="1219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FFFF"/>
                </a:solidFill>
                <a:latin typeface="Arial"/>
                <a:ea typeface="Arial"/>
                <a:cs typeface="Arial"/>
              </a:defRPr>
            </a:pPr>
            <a:r>
              <a:rPr sz="1125" b="1" i="0">
                <a:solidFill>
                  <a:srgbClr val="FFFFFF"/>
                </a:solidFill>
                <a:latin typeface="Arial"/>
                <a:ea typeface="Arial"/>
                <a:cs typeface="Arial"/>
              </a:rPr>
              <a:t>TRAINING PATH</a:t>
            </a:r>
          </a:p>
        </p:txBody>
      </p:sp>
      <p:sp>
        <p:nvSpPr>
          <p:cNvPr id="7" name="">
            <a:extLst xmlns:a="http://schemas.openxmlformats.org/drawingml/2006/main">
              <a:ext uri="{FF2B5EF4-FFF2-40B4-BE49-F238E27FC236}">
                <a16:creationId xmlns:a16="http://schemas.microsoft.com/office/drawing/2014/main" id="{5B912C73-6E0E-4685-8610-1ADEFDD36620}"/>
              </a:ext>
            </a:extLst>
          </p:cNvPr>
          <p:cNvSpPr>
            <a:spLocks xmlns:a="http://schemas.openxmlformats.org/drawingml/2006/main" noGrp="1"/>
          </p:cNvSpPr>
          <p:nvPr/>
        </p:nvSpPr>
        <p:spPr>
          <a:xfrm xmlns:a="http://schemas.openxmlformats.org/drawingml/2006/main">
            <a:off x="628650" y="2076450"/>
            <a:ext cx="13525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8" name="">
            <a:extLst xmlns:a="http://schemas.openxmlformats.org/drawingml/2006/main">
              <a:ext uri="{FF2B5EF4-FFF2-40B4-BE49-F238E27FC236}">
                <a16:creationId xmlns:a16="http://schemas.microsoft.com/office/drawing/2014/main" id="{D413843E-F4A1-42C2-86A1-25033A7F307D}"/>
              </a:ext>
            </a:extLst>
          </p:cNvPr>
          <p:cNvSpPr>
            <a:spLocks xmlns:a="http://schemas.openxmlformats.org/drawingml/2006/main" noGrp="1"/>
          </p:cNvSpPr>
          <p:nvPr/>
        </p:nvSpPr>
        <p:spPr>
          <a:xfrm xmlns:a="http://schemas.openxmlformats.org/drawingml/2006/main">
            <a:off x="742950" y="22002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1</a:t>
            </a:r>
          </a:p>
        </p:txBody>
      </p:sp>
      <p:sp>
        <p:nvSpPr>
          <p:cNvPr id="9" name="">
            <a:extLst xmlns:a="http://schemas.openxmlformats.org/drawingml/2006/main">
              <a:ext uri="{FF2B5EF4-FFF2-40B4-BE49-F238E27FC236}">
                <a16:creationId xmlns:a16="http://schemas.microsoft.com/office/drawing/2014/main" id="{9B443EB8-35D1-4778-BD4F-BBB1CD8F229B}"/>
              </a:ext>
            </a:extLst>
          </p:cNvPr>
          <p:cNvSpPr>
            <a:spLocks xmlns:a="http://schemas.openxmlformats.org/drawingml/2006/main" noGrp="1"/>
          </p:cNvSpPr>
          <p:nvPr/>
        </p:nvSpPr>
        <p:spPr>
          <a:xfrm xmlns:a="http://schemas.openxmlformats.org/drawingml/2006/main">
            <a:off x="990600" y="216217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270"/>
          </a:bodyPr>
          <a:lstStyle xmlns:a="http://schemas.openxmlformats.org/drawingml/2006/main"/>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Inspect</a:t>
            </a:r>
          </a:p>
        </p:txBody>
      </p:sp>
      <p:sp>
        <p:nvSpPr>
          <p:cNvPr id="10" name="">
            <a:extLst xmlns:a="http://schemas.openxmlformats.org/drawingml/2006/main">
              <a:ext uri="{FF2B5EF4-FFF2-40B4-BE49-F238E27FC236}">
                <a16:creationId xmlns:a16="http://schemas.microsoft.com/office/drawing/2014/main" id="{B5FFFF71-A399-4677-A7EA-6C51978BD68E}"/>
              </a:ext>
            </a:extLst>
          </p:cNvPr>
          <p:cNvSpPr>
            <a:spLocks xmlns:a="http://schemas.openxmlformats.org/drawingml/2006/main" noGrp="1"/>
          </p:cNvSpPr>
          <p:nvPr/>
        </p:nvSpPr>
        <p:spPr>
          <a:xfrm xmlns:a="http://schemas.openxmlformats.org/drawingml/2006/main">
            <a:off x="742950" y="2495550"/>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4957"/>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shape, info, describe</a:t>
            </a:r>
          </a:p>
        </p:txBody>
      </p:sp>
      <p:sp>
        <p:nvSpPr>
          <p:cNvPr id="11" name="">
            <a:extLst xmlns:a="http://schemas.openxmlformats.org/drawingml/2006/main">
              <a:ext uri="{FF2B5EF4-FFF2-40B4-BE49-F238E27FC236}">
                <a16:creationId xmlns:a16="http://schemas.microsoft.com/office/drawing/2014/main" id="{6DCECC16-1EA5-4AC1-96A9-44D09FE2FB34}"/>
              </a:ext>
            </a:extLst>
          </p:cNvPr>
          <p:cNvSpPr>
            <a:spLocks xmlns:a="http://schemas.openxmlformats.org/drawingml/2006/main" noGrp="1"/>
          </p:cNvSpPr>
          <p:nvPr/>
        </p:nvSpPr>
        <p:spPr>
          <a:xfrm xmlns:a="http://schemas.openxmlformats.org/drawingml/2006/main">
            <a:off x="1981200" y="24955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12" name="">
            <a:extLst xmlns:a="http://schemas.openxmlformats.org/drawingml/2006/main">
              <a:ext uri="{FF2B5EF4-FFF2-40B4-BE49-F238E27FC236}">
                <a16:creationId xmlns:a16="http://schemas.microsoft.com/office/drawing/2014/main" id="{D4443D07-2FD4-4319-82F1-1F79E8D593B0}"/>
              </a:ext>
            </a:extLst>
          </p:cNvPr>
          <p:cNvSpPr>
            <a:spLocks xmlns:a="http://schemas.openxmlformats.org/drawingml/2006/main" noGrp="1"/>
          </p:cNvSpPr>
          <p:nvPr/>
        </p:nvSpPr>
        <p:spPr>
          <a:xfrm xmlns:a="http://schemas.openxmlformats.org/drawingml/2006/main">
            <a:off x="2171700" y="2076450"/>
            <a:ext cx="13525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13" name="">
            <a:extLst xmlns:a="http://schemas.openxmlformats.org/drawingml/2006/main">
              <a:ext uri="{FF2B5EF4-FFF2-40B4-BE49-F238E27FC236}">
                <a16:creationId xmlns:a16="http://schemas.microsoft.com/office/drawing/2014/main" id="{A3022814-E488-4EE9-83B2-AE3D268A9AB0}"/>
              </a:ext>
            </a:extLst>
          </p:cNvPr>
          <p:cNvSpPr>
            <a:spLocks xmlns:a="http://schemas.openxmlformats.org/drawingml/2006/main" noGrp="1"/>
          </p:cNvSpPr>
          <p:nvPr/>
        </p:nvSpPr>
        <p:spPr>
          <a:xfrm xmlns:a="http://schemas.openxmlformats.org/drawingml/2006/main">
            <a:off x="2286000" y="22002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A69D6E69-0504-4262-AEFA-E0EBEC20588C}"/>
              </a:ext>
            </a:extLst>
          </p:cNvPr>
          <p:cNvSpPr>
            <a:spLocks xmlns:a="http://schemas.openxmlformats.org/drawingml/2006/main" noGrp="1"/>
          </p:cNvSpPr>
          <p:nvPr/>
        </p:nvSpPr>
        <p:spPr>
          <a:xfrm xmlns:a="http://schemas.openxmlformats.org/drawingml/2006/main">
            <a:off x="2533650" y="216217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270"/>
          </a:bodyPr>
          <a:lstStyle xmlns:a="http://schemas.openxmlformats.org/drawingml/2006/main"/>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Prepare</a:t>
            </a:r>
          </a:p>
        </p:txBody>
      </p:sp>
      <p:sp>
        <p:nvSpPr>
          <p:cNvPr id="15" name="">
            <a:extLst xmlns:a="http://schemas.openxmlformats.org/drawingml/2006/main">
              <a:ext uri="{FF2B5EF4-FFF2-40B4-BE49-F238E27FC236}">
                <a16:creationId xmlns:a16="http://schemas.microsoft.com/office/drawing/2014/main" id="{360820E6-378C-4B42-8DFA-AC998944E53D}"/>
              </a:ext>
            </a:extLst>
          </p:cNvPr>
          <p:cNvSpPr>
            <a:spLocks xmlns:a="http://schemas.openxmlformats.org/drawingml/2006/main" noGrp="1"/>
          </p:cNvSpPr>
          <p:nvPr/>
        </p:nvSpPr>
        <p:spPr>
          <a:xfrm xmlns:a="http://schemas.openxmlformats.org/drawingml/2006/main">
            <a:off x="2286000" y="2495550"/>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fill missing values</a:t>
            </a:r>
          </a:p>
        </p:txBody>
      </p:sp>
      <p:sp>
        <p:nvSpPr>
          <p:cNvPr id="16" name="">
            <a:extLst xmlns:a="http://schemas.openxmlformats.org/drawingml/2006/main">
              <a:ext uri="{FF2B5EF4-FFF2-40B4-BE49-F238E27FC236}">
                <a16:creationId xmlns:a16="http://schemas.microsoft.com/office/drawing/2014/main" id="{213E0A33-D006-4CDA-8BC1-9DC98168100B}"/>
              </a:ext>
            </a:extLst>
          </p:cNvPr>
          <p:cNvSpPr>
            <a:spLocks xmlns:a="http://schemas.openxmlformats.org/drawingml/2006/main" noGrp="1"/>
          </p:cNvSpPr>
          <p:nvPr/>
        </p:nvSpPr>
        <p:spPr>
          <a:xfrm xmlns:a="http://schemas.openxmlformats.org/drawingml/2006/main">
            <a:off x="3524250" y="24955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17" name="">
            <a:extLst xmlns:a="http://schemas.openxmlformats.org/drawingml/2006/main">
              <a:ext uri="{FF2B5EF4-FFF2-40B4-BE49-F238E27FC236}">
                <a16:creationId xmlns:a16="http://schemas.microsoft.com/office/drawing/2014/main" id="{4DDC1351-F48F-4350-9949-6DE6CBF349A0}"/>
              </a:ext>
            </a:extLst>
          </p:cNvPr>
          <p:cNvSpPr>
            <a:spLocks xmlns:a="http://schemas.openxmlformats.org/drawingml/2006/main" noGrp="1"/>
          </p:cNvSpPr>
          <p:nvPr/>
        </p:nvSpPr>
        <p:spPr>
          <a:xfrm xmlns:a="http://schemas.openxmlformats.org/drawingml/2006/main">
            <a:off x="3714750" y="2076450"/>
            <a:ext cx="13525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18" name="">
            <a:extLst xmlns:a="http://schemas.openxmlformats.org/drawingml/2006/main">
              <a:ext uri="{FF2B5EF4-FFF2-40B4-BE49-F238E27FC236}">
                <a16:creationId xmlns:a16="http://schemas.microsoft.com/office/drawing/2014/main" id="{99CAFB80-8889-4841-A564-312EEF9DA58A}"/>
              </a:ext>
            </a:extLst>
          </p:cNvPr>
          <p:cNvSpPr>
            <a:spLocks xmlns:a="http://schemas.openxmlformats.org/drawingml/2006/main" noGrp="1"/>
          </p:cNvSpPr>
          <p:nvPr/>
        </p:nvSpPr>
        <p:spPr>
          <a:xfrm xmlns:a="http://schemas.openxmlformats.org/drawingml/2006/main">
            <a:off x="3829050" y="22002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3</a:t>
            </a:r>
          </a:p>
        </p:txBody>
      </p:sp>
      <p:sp>
        <p:nvSpPr>
          <p:cNvPr id="19" name="">
            <a:extLst xmlns:a="http://schemas.openxmlformats.org/drawingml/2006/main">
              <a:ext uri="{FF2B5EF4-FFF2-40B4-BE49-F238E27FC236}">
                <a16:creationId xmlns:a16="http://schemas.microsoft.com/office/drawing/2014/main" id="{62023815-98E9-48BD-A56C-F90778981552}"/>
              </a:ext>
            </a:extLst>
          </p:cNvPr>
          <p:cNvSpPr>
            <a:spLocks xmlns:a="http://schemas.openxmlformats.org/drawingml/2006/main" noGrp="1"/>
          </p:cNvSpPr>
          <p:nvPr/>
        </p:nvSpPr>
        <p:spPr>
          <a:xfrm xmlns:a="http://schemas.openxmlformats.org/drawingml/2006/main">
            <a:off x="4076700" y="216217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270"/>
          </a:bodyPr>
          <a:lstStyle xmlns:a="http://schemas.openxmlformats.org/drawingml/2006/main"/>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Encode</a:t>
            </a:r>
          </a:p>
        </p:txBody>
      </p:sp>
      <p:sp>
        <p:nvSpPr>
          <p:cNvPr id="20" name="">
            <a:extLst xmlns:a="http://schemas.openxmlformats.org/drawingml/2006/main">
              <a:ext uri="{FF2B5EF4-FFF2-40B4-BE49-F238E27FC236}">
                <a16:creationId xmlns:a16="http://schemas.microsoft.com/office/drawing/2014/main" id="{059B5185-51F6-4711-9213-86CA9E8B9A10}"/>
              </a:ext>
            </a:extLst>
          </p:cNvPr>
          <p:cNvSpPr>
            <a:spLocks xmlns:a="http://schemas.openxmlformats.org/drawingml/2006/main" noGrp="1"/>
          </p:cNvSpPr>
          <p:nvPr/>
        </p:nvSpPr>
        <p:spPr>
          <a:xfrm xmlns:a="http://schemas.openxmlformats.org/drawingml/2006/main">
            <a:off x="3829050" y="2495550"/>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61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convert categories</a:t>
            </a:r>
          </a:p>
        </p:txBody>
      </p:sp>
      <p:sp>
        <p:nvSpPr>
          <p:cNvPr id="21" name="">
            <a:extLst xmlns:a="http://schemas.openxmlformats.org/drawingml/2006/main">
              <a:ext uri="{FF2B5EF4-FFF2-40B4-BE49-F238E27FC236}">
                <a16:creationId xmlns:a16="http://schemas.microsoft.com/office/drawing/2014/main" id="{B0CFE05C-E517-42C2-84D0-3D5F13933A1B}"/>
              </a:ext>
            </a:extLst>
          </p:cNvPr>
          <p:cNvSpPr>
            <a:spLocks xmlns:a="http://schemas.openxmlformats.org/drawingml/2006/main" noGrp="1"/>
          </p:cNvSpPr>
          <p:nvPr/>
        </p:nvSpPr>
        <p:spPr>
          <a:xfrm xmlns:a="http://schemas.openxmlformats.org/drawingml/2006/main">
            <a:off x="5067300" y="24955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22" name="">
            <a:extLst xmlns:a="http://schemas.openxmlformats.org/drawingml/2006/main">
              <a:ext uri="{FF2B5EF4-FFF2-40B4-BE49-F238E27FC236}">
                <a16:creationId xmlns:a16="http://schemas.microsoft.com/office/drawing/2014/main" id="{1023FF10-6338-4FBC-83CC-102BB98AFE50}"/>
              </a:ext>
            </a:extLst>
          </p:cNvPr>
          <p:cNvSpPr>
            <a:spLocks xmlns:a="http://schemas.openxmlformats.org/drawingml/2006/main" noGrp="1"/>
          </p:cNvSpPr>
          <p:nvPr/>
        </p:nvSpPr>
        <p:spPr>
          <a:xfrm xmlns:a="http://schemas.openxmlformats.org/drawingml/2006/main">
            <a:off x="5257800" y="2076450"/>
            <a:ext cx="13525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23" name="">
            <a:extLst xmlns:a="http://schemas.openxmlformats.org/drawingml/2006/main">
              <a:ext uri="{FF2B5EF4-FFF2-40B4-BE49-F238E27FC236}">
                <a16:creationId xmlns:a16="http://schemas.microsoft.com/office/drawing/2014/main" id="{44F69B89-BFD8-40AA-9EEC-96137F62FC6A}"/>
              </a:ext>
            </a:extLst>
          </p:cNvPr>
          <p:cNvSpPr>
            <a:spLocks xmlns:a="http://schemas.openxmlformats.org/drawingml/2006/main" noGrp="1"/>
          </p:cNvSpPr>
          <p:nvPr/>
        </p:nvSpPr>
        <p:spPr>
          <a:xfrm xmlns:a="http://schemas.openxmlformats.org/drawingml/2006/main">
            <a:off x="5372100" y="22002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4</a:t>
            </a:r>
          </a:p>
        </p:txBody>
      </p:sp>
      <p:sp>
        <p:nvSpPr>
          <p:cNvPr id="24" name="">
            <a:extLst xmlns:a="http://schemas.openxmlformats.org/drawingml/2006/main">
              <a:ext uri="{FF2B5EF4-FFF2-40B4-BE49-F238E27FC236}">
                <a16:creationId xmlns:a16="http://schemas.microsoft.com/office/drawing/2014/main" id="{033F1E4A-769F-4FAD-A66B-89CBC08A8369}"/>
              </a:ext>
            </a:extLst>
          </p:cNvPr>
          <p:cNvSpPr>
            <a:spLocks xmlns:a="http://schemas.openxmlformats.org/drawingml/2006/main" noGrp="1"/>
          </p:cNvSpPr>
          <p:nvPr/>
        </p:nvSpPr>
        <p:spPr>
          <a:xfrm xmlns:a="http://schemas.openxmlformats.org/drawingml/2006/main">
            <a:off x="5619750" y="216217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270"/>
          </a:bodyPr>
          <a:lstStyle xmlns:a="http://schemas.openxmlformats.org/drawingml/2006/main"/>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Split</a:t>
            </a:r>
          </a:p>
        </p:txBody>
      </p:sp>
      <p:sp>
        <p:nvSpPr>
          <p:cNvPr id="25" name="">
            <a:extLst xmlns:a="http://schemas.openxmlformats.org/drawingml/2006/main">
              <a:ext uri="{FF2B5EF4-FFF2-40B4-BE49-F238E27FC236}">
                <a16:creationId xmlns:a16="http://schemas.microsoft.com/office/drawing/2014/main" id="{D326AF9E-B99B-4258-A14F-5651DB764482}"/>
              </a:ext>
            </a:extLst>
          </p:cNvPr>
          <p:cNvSpPr>
            <a:spLocks xmlns:a="http://schemas.openxmlformats.org/drawingml/2006/main" noGrp="1"/>
          </p:cNvSpPr>
          <p:nvPr/>
        </p:nvSpPr>
        <p:spPr>
          <a:xfrm xmlns:a="http://schemas.openxmlformats.org/drawingml/2006/main">
            <a:off x="5372100" y="2495550"/>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089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80% train, 20% test</a:t>
            </a:r>
          </a:p>
        </p:txBody>
      </p:sp>
      <p:sp>
        <p:nvSpPr>
          <p:cNvPr id="26" name="">
            <a:extLst xmlns:a="http://schemas.openxmlformats.org/drawingml/2006/main">
              <a:ext uri="{FF2B5EF4-FFF2-40B4-BE49-F238E27FC236}">
                <a16:creationId xmlns:a16="http://schemas.microsoft.com/office/drawing/2014/main" id="{5425CB9C-C88F-4B18-88FF-AED9387E2C7D}"/>
              </a:ext>
            </a:extLst>
          </p:cNvPr>
          <p:cNvSpPr>
            <a:spLocks xmlns:a="http://schemas.openxmlformats.org/drawingml/2006/main" noGrp="1"/>
          </p:cNvSpPr>
          <p:nvPr/>
        </p:nvSpPr>
        <p:spPr>
          <a:xfrm xmlns:a="http://schemas.openxmlformats.org/drawingml/2006/main">
            <a:off x="6610350" y="24955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27" name="">
            <a:extLst xmlns:a="http://schemas.openxmlformats.org/drawingml/2006/main">
              <a:ext uri="{FF2B5EF4-FFF2-40B4-BE49-F238E27FC236}">
                <a16:creationId xmlns:a16="http://schemas.microsoft.com/office/drawing/2014/main" id="{AB84F1CF-1D5C-47E3-A16F-5EA062C35BEC}"/>
              </a:ext>
            </a:extLst>
          </p:cNvPr>
          <p:cNvSpPr>
            <a:spLocks xmlns:a="http://schemas.openxmlformats.org/drawingml/2006/main" noGrp="1"/>
          </p:cNvSpPr>
          <p:nvPr/>
        </p:nvSpPr>
        <p:spPr>
          <a:xfrm xmlns:a="http://schemas.openxmlformats.org/drawingml/2006/main">
            <a:off x="6800850" y="2076450"/>
            <a:ext cx="13525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28" name="">
            <a:extLst xmlns:a="http://schemas.openxmlformats.org/drawingml/2006/main">
              <a:ext uri="{FF2B5EF4-FFF2-40B4-BE49-F238E27FC236}">
                <a16:creationId xmlns:a16="http://schemas.microsoft.com/office/drawing/2014/main" id="{9C1EE26C-0558-46EA-91A6-FAA33DA6A1BC}"/>
              </a:ext>
            </a:extLst>
          </p:cNvPr>
          <p:cNvSpPr>
            <a:spLocks xmlns:a="http://schemas.openxmlformats.org/drawingml/2006/main" noGrp="1"/>
          </p:cNvSpPr>
          <p:nvPr/>
        </p:nvSpPr>
        <p:spPr>
          <a:xfrm xmlns:a="http://schemas.openxmlformats.org/drawingml/2006/main">
            <a:off x="6915150" y="22002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5</a:t>
            </a:r>
          </a:p>
        </p:txBody>
      </p:sp>
      <p:sp>
        <p:nvSpPr>
          <p:cNvPr id="29" name="">
            <a:extLst xmlns:a="http://schemas.openxmlformats.org/drawingml/2006/main">
              <a:ext uri="{FF2B5EF4-FFF2-40B4-BE49-F238E27FC236}">
                <a16:creationId xmlns:a16="http://schemas.microsoft.com/office/drawing/2014/main" id="{B558873F-5331-44B9-8347-69BF8A1954C2}"/>
              </a:ext>
            </a:extLst>
          </p:cNvPr>
          <p:cNvSpPr>
            <a:spLocks xmlns:a="http://schemas.openxmlformats.org/drawingml/2006/main" noGrp="1"/>
          </p:cNvSpPr>
          <p:nvPr/>
        </p:nvSpPr>
        <p:spPr>
          <a:xfrm xmlns:a="http://schemas.openxmlformats.org/drawingml/2006/main">
            <a:off x="7162800" y="216217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270"/>
          </a:bodyPr>
          <a:lstStyle xmlns:a="http://schemas.openxmlformats.org/drawingml/2006/main"/>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Scale</a:t>
            </a:r>
          </a:p>
        </p:txBody>
      </p:sp>
      <p:sp>
        <p:nvSpPr>
          <p:cNvPr id="30" name="">
            <a:extLst xmlns:a="http://schemas.openxmlformats.org/drawingml/2006/main">
              <a:ext uri="{FF2B5EF4-FFF2-40B4-BE49-F238E27FC236}">
                <a16:creationId xmlns:a16="http://schemas.microsoft.com/office/drawing/2014/main" id="{080F9CEA-2533-4FD5-82D1-B7BF422CE406}"/>
              </a:ext>
            </a:extLst>
          </p:cNvPr>
          <p:cNvSpPr>
            <a:spLocks xmlns:a="http://schemas.openxmlformats.org/drawingml/2006/main" noGrp="1"/>
          </p:cNvSpPr>
          <p:nvPr/>
        </p:nvSpPr>
        <p:spPr>
          <a:xfrm xmlns:a="http://schemas.openxmlformats.org/drawingml/2006/main">
            <a:off x="6915150" y="2495550"/>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803"/>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fit on training data</a:t>
            </a:r>
          </a:p>
        </p:txBody>
      </p:sp>
      <p:sp>
        <p:nvSpPr>
          <p:cNvPr id="31" name="">
            <a:extLst xmlns:a="http://schemas.openxmlformats.org/drawingml/2006/main">
              <a:ext uri="{FF2B5EF4-FFF2-40B4-BE49-F238E27FC236}">
                <a16:creationId xmlns:a16="http://schemas.microsoft.com/office/drawing/2014/main" id="{C8757C9A-A9D2-4A95-8210-A570C19968BB}"/>
              </a:ext>
            </a:extLst>
          </p:cNvPr>
          <p:cNvSpPr>
            <a:spLocks xmlns:a="http://schemas.openxmlformats.org/drawingml/2006/main" noGrp="1"/>
          </p:cNvSpPr>
          <p:nvPr/>
        </p:nvSpPr>
        <p:spPr>
          <a:xfrm xmlns:a="http://schemas.openxmlformats.org/drawingml/2006/main">
            <a:off x="8153400" y="24955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32" name="">
            <a:extLst xmlns:a="http://schemas.openxmlformats.org/drawingml/2006/main">
              <a:ext uri="{FF2B5EF4-FFF2-40B4-BE49-F238E27FC236}">
                <a16:creationId xmlns:a16="http://schemas.microsoft.com/office/drawing/2014/main" id="{129DFC65-5306-45CE-B6EC-EAECCAFBAF5A}"/>
              </a:ext>
            </a:extLst>
          </p:cNvPr>
          <p:cNvSpPr>
            <a:spLocks xmlns:a="http://schemas.openxmlformats.org/drawingml/2006/main" noGrp="1"/>
          </p:cNvSpPr>
          <p:nvPr/>
        </p:nvSpPr>
        <p:spPr>
          <a:xfrm xmlns:a="http://schemas.openxmlformats.org/drawingml/2006/main">
            <a:off x="8343900" y="2076450"/>
            <a:ext cx="1352550" cy="838200"/>
          </a:xfrm>
          <a:prstGeom xmlns:a="http://schemas.openxmlformats.org/drawingml/2006/main" prst="rect">
            <a:avLst/>
          </a:prstGeom>
          <a:solidFill xmlns:a="http://schemas.openxmlformats.org/drawingml/2006/main">
            <a:srgbClr val="F1E4E7"/>
          </a:solidFill>
          <a:ln xmlns:a="http://schemas.openxmlformats.org/drawingml/2006/main" w="19050">
            <a:solidFill>
              <a:srgbClr val="76545F"/>
            </a:solidFill>
            <a:prstDash val="solid"/>
          </a:ln>
        </p:spPr>
      </p:sp>
      <p:sp>
        <p:nvSpPr>
          <p:cNvPr id="33" name="">
            <a:extLst xmlns:a="http://schemas.openxmlformats.org/drawingml/2006/main">
              <a:ext uri="{FF2B5EF4-FFF2-40B4-BE49-F238E27FC236}">
                <a16:creationId xmlns:a16="http://schemas.microsoft.com/office/drawing/2014/main" id="{FA090D4E-3834-4059-8116-6F49DC0A4189}"/>
              </a:ext>
            </a:extLst>
          </p:cNvPr>
          <p:cNvSpPr>
            <a:spLocks xmlns:a="http://schemas.openxmlformats.org/drawingml/2006/main" noGrp="1"/>
          </p:cNvSpPr>
          <p:nvPr/>
        </p:nvSpPr>
        <p:spPr>
          <a:xfrm xmlns:a="http://schemas.openxmlformats.org/drawingml/2006/main">
            <a:off x="8458200" y="22002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6</a:t>
            </a:r>
          </a:p>
        </p:txBody>
      </p:sp>
      <p:sp>
        <p:nvSpPr>
          <p:cNvPr id="34" name="">
            <a:extLst xmlns:a="http://schemas.openxmlformats.org/drawingml/2006/main">
              <a:ext uri="{FF2B5EF4-FFF2-40B4-BE49-F238E27FC236}">
                <a16:creationId xmlns:a16="http://schemas.microsoft.com/office/drawing/2014/main" id="{81AFF2E3-4F95-439A-A21E-F8D2A4073D63}"/>
              </a:ext>
            </a:extLst>
          </p:cNvPr>
          <p:cNvSpPr>
            <a:spLocks xmlns:a="http://schemas.openxmlformats.org/drawingml/2006/main" noGrp="1"/>
          </p:cNvSpPr>
          <p:nvPr/>
        </p:nvSpPr>
        <p:spPr>
          <a:xfrm xmlns:a="http://schemas.openxmlformats.org/drawingml/2006/main">
            <a:off x="8705850" y="216217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270"/>
          </a:bodyPr>
          <a:lstStyle xmlns:a="http://schemas.openxmlformats.org/drawingml/2006/main"/>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Train</a:t>
            </a:r>
          </a:p>
        </p:txBody>
      </p:sp>
      <p:sp>
        <p:nvSpPr>
          <p:cNvPr id="35" name="">
            <a:extLst xmlns:a="http://schemas.openxmlformats.org/drawingml/2006/main">
              <a:ext uri="{FF2B5EF4-FFF2-40B4-BE49-F238E27FC236}">
                <a16:creationId xmlns:a16="http://schemas.microsoft.com/office/drawing/2014/main" id="{F2E6D54A-BC1E-49AD-A2F7-EC5E911C3166}"/>
              </a:ext>
            </a:extLst>
          </p:cNvPr>
          <p:cNvSpPr>
            <a:spLocks xmlns:a="http://schemas.openxmlformats.org/drawingml/2006/main" noGrp="1"/>
          </p:cNvSpPr>
          <p:nvPr/>
        </p:nvSpPr>
        <p:spPr>
          <a:xfrm xmlns:a="http://schemas.openxmlformats.org/drawingml/2006/main">
            <a:off x="8458200" y="2495550"/>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963"/>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Logistic Regression</a:t>
            </a:r>
          </a:p>
        </p:txBody>
      </p:sp>
      <p:sp>
        <p:nvSpPr>
          <p:cNvPr id="36" name="">
            <a:extLst xmlns:a="http://schemas.openxmlformats.org/drawingml/2006/main">
              <a:ext uri="{FF2B5EF4-FFF2-40B4-BE49-F238E27FC236}">
                <a16:creationId xmlns:a16="http://schemas.microsoft.com/office/drawing/2014/main" id="{A9178C87-67C0-4E59-A1BA-E8050EDB4BFA}"/>
              </a:ext>
            </a:extLst>
          </p:cNvPr>
          <p:cNvSpPr>
            <a:spLocks xmlns:a="http://schemas.openxmlformats.org/drawingml/2006/main" noGrp="1"/>
          </p:cNvSpPr>
          <p:nvPr/>
        </p:nvSpPr>
        <p:spPr>
          <a:xfrm xmlns:a="http://schemas.openxmlformats.org/drawingml/2006/main">
            <a:off x="9696450" y="24955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37" name="">
            <a:extLst xmlns:a="http://schemas.openxmlformats.org/drawingml/2006/main">
              <a:ext uri="{FF2B5EF4-FFF2-40B4-BE49-F238E27FC236}">
                <a16:creationId xmlns:a16="http://schemas.microsoft.com/office/drawing/2014/main" id="{4C97C269-98A2-4AE0-A305-F0BB51889B17}"/>
              </a:ext>
            </a:extLst>
          </p:cNvPr>
          <p:cNvSpPr>
            <a:spLocks xmlns:a="http://schemas.openxmlformats.org/drawingml/2006/main" noGrp="1"/>
          </p:cNvSpPr>
          <p:nvPr/>
        </p:nvSpPr>
        <p:spPr>
          <a:xfrm xmlns:a="http://schemas.openxmlformats.org/drawingml/2006/main">
            <a:off x="9886950" y="2076450"/>
            <a:ext cx="13525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38" name="">
            <a:extLst xmlns:a="http://schemas.openxmlformats.org/drawingml/2006/main">
              <a:ext uri="{FF2B5EF4-FFF2-40B4-BE49-F238E27FC236}">
                <a16:creationId xmlns:a16="http://schemas.microsoft.com/office/drawing/2014/main" id="{C30E0843-4A8C-4873-B79B-D364F3ABD5A6}"/>
              </a:ext>
            </a:extLst>
          </p:cNvPr>
          <p:cNvSpPr>
            <a:spLocks xmlns:a="http://schemas.openxmlformats.org/drawingml/2006/main" noGrp="1"/>
          </p:cNvSpPr>
          <p:nvPr/>
        </p:nvSpPr>
        <p:spPr>
          <a:xfrm xmlns:a="http://schemas.openxmlformats.org/drawingml/2006/main">
            <a:off x="10001250" y="22002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7</a:t>
            </a:r>
          </a:p>
        </p:txBody>
      </p:sp>
      <p:sp>
        <p:nvSpPr>
          <p:cNvPr id="39" name="">
            <a:extLst xmlns:a="http://schemas.openxmlformats.org/drawingml/2006/main">
              <a:ext uri="{FF2B5EF4-FFF2-40B4-BE49-F238E27FC236}">
                <a16:creationId xmlns:a16="http://schemas.microsoft.com/office/drawing/2014/main" id="{10114C69-3935-48A9-928A-BE69C8BFF9EF}"/>
              </a:ext>
            </a:extLst>
          </p:cNvPr>
          <p:cNvSpPr>
            <a:spLocks xmlns:a="http://schemas.openxmlformats.org/drawingml/2006/main" noGrp="1"/>
          </p:cNvSpPr>
          <p:nvPr/>
        </p:nvSpPr>
        <p:spPr>
          <a:xfrm xmlns:a="http://schemas.openxmlformats.org/drawingml/2006/main">
            <a:off x="10248900" y="216217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270"/>
          </a:bodyPr>
          <a:lstStyle xmlns:a="http://schemas.openxmlformats.org/drawingml/2006/main"/>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Evaluate</a:t>
            </a:r>
          </a:p>
        </p:txBody>
      </p:sp>
      <p:sp>
        <p:nvSpPr>
          <p:cNvPr id="40" name="">
            <a:extLst xmlns:a="http://schemas.openxmlformats.org/drawingml/2006/main">
              <a:ext uri="{FF2B5EF4-FFF2-40B4-BE49-F238E27FC236}">
                <a16:creationId xmlns:a16="http://schemas.microsoft.com/office/drawing/2014/main" id="{0FB55272-B166-41FC-940B-4569189C196B}"/>
              </a:ext>
            </a:extLst>
          </p:cNvPr>
          <p:cNvSpPr>
            <a:spLocks xmlns:a="http://schemas.openxmlformats.org/drawingml/2006/main" noGrp="1"/>
          </p:cNvSpPr>
          <p:nvPr/>
        </p:nvSpPr>
        <p:spPr>
          <a:xfrm xmlns:a="http://schemas.openxmlformats.org/drawingml/2006/main">
            <a:off x="10001250" y="2495550"/>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903"/>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metrics on test data</a:t>
            </a:r>
          </a:p>
        </p:txBody>
      </p:sp>
      <p:sp>
        <p:nvSpPr>
          <p:cNvPr id="41" name="">
            <a:extLst xmlns:a="http://schemas.openxmlformats.org/drawingml/2006/main">
              <a:ext uri="{FF2B5EF4-FFF2-40B4-BE49-F238E27FC236}">
                <a16:creationId xmlns:a16="http://schemas.microsoft.com/office/drawing/2014/main" id="{4B61E8B0-372F-4997-BA73-1F61C79A3AB0}"/>
              </a:ext>
            </a:extLst>
          </p:cNvPr>
          <p:cNvSpPr>
            <a:spLocks xmlns:a="http://schemas.openxmlformats.org/drawingml/2006/main" noGrp="1"/>
          </p:cNvSpPr>
          <p:nvPr/>
        </p:nvSpPr>
        <p:spPr>
          <a:xfrm xmlns:a="http://schemas.openxmlformats.org/drawingml/2006/main">
            <a:off x="685800" y="3067050"/>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1">
                <a:solidFill>
                  <a:srgbClr val="202024"/>
                </a:solidFill>
                <a:latin typeface="Arial"/>
                <a:ea typeface="Arial"/>
                <a:cs typeface="Arial"/>
              </a:defRPr>
            </a:pPr>
            <a:r>
              <a:rPr sz="975" b="0" i="1">
                <a:solidFill>
                  <a:srgbClr val="202024"/>
                </a:solidFill>
                <a:latin typeface="Arial"/>
                <a:ea typeface="Arial"/>
                <a:cs typeface="Arial"/>
              </a:rPr>
              <a:t>data.info()</a:t>
            </a:r>
          </a:p>
        </p:txBody>
      </p:sp>
      <p:sp>
        <p:nvSpPr>
          <p:cNvPr id="42" name="">
            <a:extLst xmlns:a="http://schemas.openxmlformats.org/drawingml/2006/main">
              <a:ext uri="{FF2B5EF4-FFF2-40B4-BE49-F238E27FC236}">
                <a16:creationId xmlns:a16="http://schemas.microsoft.com/office/drawing/2014/main" id="{E439ADE4-92C7-4476-BC80-6640FE8554C1}"/>
              </a:ext>
            </a:extLst>
          </p:cNvPr>
          <p:cNvSpPr>
            <a:spLocks xmlns:a="http://schemas.openxmlformats.org/drawingml/2006/main" noGrp="1"/>
          </p:cNvSpPr>
          <p:nvPr/>
        </p:nvSpPr>
        <p:spPr>
          <a:xfrm xmlns:a="http://schemas.openxmlformats.org/drawingml/2006/main">
            <a:off x="2228850" y="3067050"/>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1">
                <a:solidFill>
                  <a:srgbClr val="202024"/>
                </a:solidFill>
                <a:latin typeface="Arial"/>
                <a:ea typeface="Arial"/>
                <a:cs typeface="Arial"/>
              </a:defRPr>
            </a:pPr>
            <a:r>
              <a:rPr sz="975" b="0" i="1">
                <a:solidFill>
                  <a:srgbClr val="202024"/>
                </a:solidFill>
                <a:latin typeface="Arial"/>
                <a:ea typeface="Arial"/>
                <a:cs typeface="Arial"/>
              </a:rPr>
              <a:t>fillna()</a:t>
            </a:r>
          </a:p>
        </p:txBody>
      </p:sp>
      <p:sp>
        <p:nvSpPr>
          <p:cNvPr id="43" name="">
            <a:extLst xmlns:a="http://schemas.openxmlformats.org/drawingml/2006/main">
              <a:ext uri="{FF2B5EF4-FFF2-40B4-BE49-F238E27FC236}">
                <a16:creationId xmlns:a16="http://schemas.microsoft.com/office/drawing/2014/main" id="{0FE005B4-ADA4-448A-BC65-1114C85A2E71}"/>
              </a:ext>
            </a:extLst>
          </p:cNvPr>
          <p:cNvSpPr>
            <a:spLocks xmlns:a="http://schemas.openxmlformats.org/drawingml/2006/main" noGrp="1"/>
          </p:cNvSpPr>
          <p:nvPr/>
        </p:nvSpPr>
        <p:spPr>
          <a:xfrm xmlns:a="http://schemas.openxmlformats.org/drawingml/2006/main">
            <a:off x="3771900" y="3067050"/>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1">
                <a:solidFill>
                  <a:srgbClr val="202024"/>
                </a:solidFill>
                <a:latin typeface="Arial"/>
                <a:ea typeface="Arial"/>
                <a:cs typeface="Arial"/>
              </a:defRPr>
            </a:pPr>
            <a:r>
              <a:rPr sz="975" b="0" i="1">
                <a:solidFill>
                  <a:srgbClr val="202024"/>
                </a:solidFill>
                <a:latin typeface="Arial"/>
                <a:ea typeface="Arial"/>
                <a:cs typeface="Arial"/>
              </a:rPr>
              <a:t>LabelEncoder()</a:t>
            </a:r>
          </a:p>
        </p:txBody>
      </p:sp>
      <p:sp>
        <p:nvSpPr>
          <p:cNvPr id="44" name="">
            <a:extLst xmlns:a="http://schemas.openxmlformats.org/drawingml/2006/main">
              <a:ext uri="{FF2B5EF4-FFF2-40B4-BE49-F238E27FC236}">
                <a16:creationId xmlns:a16="http://schemas.microsoft.com/office/drawing/2014/main" id="{509F77E4-1569-46F4-8473-F8C78875B7C1}"/>
              </a:ext>
            </a:extLst>
          </p:cNvPr>
          <p:cNvSpPr>
            <a:spLocks xmlns:a="http://schemas.openxmlformats.org/drawingml/2006/main" noGrp="1"/>
          </p:cNvSpPr>
          <p:nvPr/>
        </p:nvSpPr>
        <p:spPr>
          <a:xfrm xmlns:a="http://schemas.openxmlformats.org/drawingml/2006/main">
            <a:off x="5314950" y="3067050"/>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1">
                <a:solidFill>
                  <a:srgbClr val="202024"/>
                </a:solidFill>
                <a:latin typeface="Arial"/>
                <a:ea typeface="Arial"/>
                <a:cs typeface="Arial"/>
              </a:defRPr>
            </a:pPr>
            <a:r>
              <a:rPr sz="975" b="0" i="1">
                <a:solidFill>
                  <a:srgbClr val="202024"/>
                </a:solidFill>
                <a:latin typeface="Arial"/>
                <a:ea typeface="Arial"/>
                <a:cs typeface="Arial"/>
              </a:rPr>
              <a:t>train_test_split()</a:t>
            </a:r>
          </a:p>
        </p:txBody>
      </p:sp>
      <p:sp>
        <p:nvSpPr>
          <p:cNvPr id="45" name="">
            <a:extLst xmlns:a="http://schemas.openxmlformats.org/drawingml/2006/main">
              <a:ext uri="{FF2B5EF4-FFF2-40B4-BE49-F238E27FC236}">
                <a16:creationId xmlns:a16="http://schemas.microsoft.com/office/drawing/2014/main" id="{ED0CB5D8-8BC9-4E3F-BDE4-E4616E8E194F}"/>
              </a:ext>
            </a:extLst>
          </p:cNvPr>
          <p:cNvSpPr>
            <a:spLocks xmlns:a="http://schemas.openxmlformats.org/drawingml/2006/main" noGrp="1"/>
          </p:cNvSpPr>
          <p:nvPr/>
        </p:nvSpPr>
        <p:spPr>
          <a:xfrm xmlns:a="http://schemas.openxmlformats.org/drawingml/2006/main">
            <a:off x="6858000" y="3067050"/>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1">
                <a:solidFill>
                  <a:srgbClr val="202024"/>
                </a:solidFill>
                <a:latin typeface="Arial"/>
                <a:ea typeface="Arial"/>
                <a:cs typeface="Arial"/>
              </a:defRPr>
            </a:pPr>
            <a:r>
              <a:rPr sz="975" b="0" i="1">
                <a:solidFill>
                  <a:srgbClr val="202024"/>
                </a:solidFill>
                <a:latin typeface="Arial"/>
                <a:ea typeface="Arial"/>
                <a:cs typeface="Arial"/>
              </a:rPr>
              <a:t>StandardScaler()</a:t>
            </a:r>
          </a:p>
        </p:txBody>
      </p:sp>
      <p:sp>
        <p:nvSpPr>
          <p:cNvPr id="46" name="">
            <a:extLst xmlns:a="http://schemas.openxmlformats.org/drawingml/2006/main">
              <a:ext uri="{FF2B5EF4-FFF2-40B4-BE49-F238E27FC236}">
                <a16:creationId xmlns:a16="http://schemas.microsoft.com/office/drawing/2014/main" id="{9057CF39-628C-417B-81A2-7846AE388C42}"/>
              </a:ext>
            </a:extLst>
          </p:cNvPr>
          <p:cNvSpPr>
            <a:spLocks xmlns:a="http://schemas.openxmlformats.org/drawingml/2006/main" noGrp="1"/>
          </p:cNvSpPr>
          <p:nvPr/>
        </p:nvSpPr>
        <p:spPr>
          <a:xfrm xmlns:a="http://schemas.openxmlformats.org/drawingml/2006/main">
            <a:off x="8401050" y="3067050"/>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1">
                <a:solidFill>
                  <a:srgbClr val="202024"/>
                </a:solidFill>
                <a:latin typeface="Arial"/>
                <a:ea typeface="Arial"/>
                <a:cs typeface="Arial"/>
              </a:defRPr>
            </a:pPr>
            <a:r>
              <a:rPr sz="975" b="0" i="1">
                <a:solidFill>
                  <a:srgbClr val="202024"/>
                </a:solidFill>
                <a:latin typeface="Arial"/>
                <a:ea typeface="Arial"/>
                <a:cs typeface="Arial"/>
              </a:rPr>
              <a:t>model.fit()</a:t>
            </a:r>
          </a:p>
        </p:txBody>
      </p:sp>
      <p:sp>
        <p:nvSpPr>
          <p:cNvPr id="47" name="">
            <a:extLst xmlns:a="http://schemas.openxmlformats.org/drawingml/2006/main">
              <a:ext uri="{FF2B5EF4-FFF2-40B4-BE49-F238E27FC236}">
                <a16:creationId xmlns:a16="http://schemas.microsoft.com/office/drawing/2014/main" id="{98B7FC36-641E-47DE-A1B6-BD904A6CE0D7}"/>
              </a:ext>
            </a:extLst>
          </p:cNvPr>
          <p:cNvSpPr>
            <a:spLocks xmlns:a="http://schemas.openxmlformats.org/drawingml/2006/main" noGrp="1"/>
          </p:cNvSpPr>
          <p:nvPr/>
        </p:nvSpPr>
        <p:spPr>
          <a:xfrm xmlns:a="http://schemas.openxmlformats.org/drawingml/2006/main">
            <a:off x="9944100" y="3067050"/>
            <a:ext cx="142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1">
                <a:solidFill>
                  <a:srgbClr val="202024"/>
                </a:solidFill>
                <a:latin typeface="Arial"/>
                <a:ea typeface="Arial"/>
                <a:cs typeface="Arial"/>
              </a:defRPr>
            </a:pPr>
            <a:r>
              <a:rPr sz="975" b="0" i="1">
                <a:solidFill>
                  <a:srgbClr val="202024"/>
                </a:solidFill>
                <a:latin typeface="Arial"/>
                <a:ea typeface="Arial"/>
                <a:cs typeface="Arial"/>
              </a:rPr>
              <a:t>classification metrics</a:t>
            </a:r>
          </a:p>
        </p:txBody>
      </p:sp>
      <p:sp>
        <p:nvSpPr>
          <p:cNvPr id="48" name="">
            <a:extLst xmlns:a="http://schemas.openxmlformats.org/drawingml/2006/main">
              <a:ext uri="{FF2B5EF4-FFF2-40B4-BE49-F238E27FC236}">
                <a16:creationId xmlns:a16="http://schemas.microsoft.com/office/drawing/2014/main" id="{7E65D9D3-B956-40A5-AF11-7255D3CB3E1E}"/>
              </a:ext>
            </a:extLst>
          </p:cNvPr>
          <p:cNvSpPr>
            <a:spLocks xmlns:a="http://schemas.openxmlformats.org/drawingml/2006/main" noGrp="1"/>
          </p:cNvSpPr>
          <p:nvPr/>
        </p:nvSpPr>
        <p:spPr>
          <a:xfrm xmlns:a="http://schemas.openxmlformats.org/drawingml/2006/main">
            <a:off x="628650" y="3495675"/>
            <a:ext cx="1143000" cy="285750"/>
          </a:xfrm>
          <a:prstGeom xmlns:a="http://schemas.openxmlformats.org/drawingml/2006/main" prst="rect">
            <a:avLst/>
          </a:prstGeom>
          <a:solidFill xmlns:a="http://schemas.openxmlformats.org/drawingml/2006/main">
            <a:srgbClr val="A67C88"/>
          </a:solidFill>
          <a:ln xmlns:a="http://schemas.openxmlformats.org/drawingml/2006/main" w="0">
            <a:solidFill>
              <a:srgbClr val="A67C88"/>
            </a:solidFill>
            <a:prstDash val="solid"/>
          </a:ln>
        </p:spPr>
      </p:sp>
      <p:sp>
        <p:nvSpPr>
          <p:cNvPr id="49" name="">
            <a:extLst xmlns:a="http://schemas.openxmlformats.org/drawingml/2006/main">
              <a:ext uri="{FF2B5EF4-FFF2-40B4-BE49-F238E27FC236}">
                <a16:creationId xmlns:a16="http://schemas.microsoft.com/office/drawing/2014/main" id="{B29E2B09-6B78-4023-979F-65F7CA656126}"/>
              </a:ext>
            </a:extLst>
          </p:cNvPr>
          <p:cNvSpPr>
            <a:spLocks xmlns:a="http://schemas.openxmlformats.org/drawingml/2006/main" noGrp="1"/>
          </p:cNvSpPr>
          <p:nvPr/>
        </p:nvSpPr>
        <p:spPr>
          <a:xfrm xmlns:a="http://schemas.openxmlformats.org/drawingml/2006/main">
            <a:off x="723900" y="3543300"/>
            <a:ext cx="95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REUSE PATH</a:t>
            </a:r>
          </a:p>
        </p:txBody>
      </p:sp>
      <p:sp>
        <p:nvSpPr>
          <p:cNvPr id="50" name="">
            <a:extLst xmlns:a="http://schemas.openxmlformats.org/drawingml/2006/main">
              <a:ext uri="{FF2B5EF4-FFF2-40B4-BE49-F238E27FC236}">
                <a16:creationId xmlns:a16="http://schemas.microsoft.com/office/drawing/2014/main" id="{B01BB25F-B7D8-4C2D-8932-59580CCAB3E7}"/>
              </a:ext>
            </a:extLst>
          </p:cNvPr>
          <p:cNvSpPr>
            <a:spLocks xmlns:a="http://schemas.openxmlformats.org/drawingml/2006/main" noGrp="1"/>
          </p:cNvSpPr>
          <p:nvPr/>
        </p:nvSpPr>
        <p:spPr>
          <a:xfrm xmlns:a="http://schemas.openxmlformats.org/drawingml/2006/main">
            <a:off x="628650" y="3943350"/>
            <a:ext cx="2552700" cy="1066800"/>
          </a:xfrm>
          <a:prstGeom xmlns:a="http://schemas.openxmlformats.org/drawingml/2006/main" prst="rect">
            <a:avLst/>
          </a:prstGeom>
          <a:solidFill xmlns:a="http://schemas.openxmlformats.org/drawingml/2006/main">
            <a:srgbClr val="F1E4E7"/>
          </a:solidFill>
          <a:ln xmlns:a="http://schemas.openxmlformats.org/drawingml/2006/main" w="19050">
            <a:solidFill>
              <a:srgbClr val="76545F"/>
            </a:solidFill>
            <a:prstDash val="solid"/>
          </a:ln>
        </p:spPr>
      </p:sp>
      <p:sp>
        <p:nvSpPr>
          <p:cNvPr id="51" name="">
            <a:extLst xmlns:a="http://schemas.openxmlformats.org/drawingml/2006/main">
              <a:ext uri="{FF2B5EF4-FFF2-40B4-BE49-F238E27FC236}">
                <a16:creationId xmlns:a16="http://schemas.microsoft.com/office/drawing/2014/main" id="{71C6321F-D0FA-4962-8B46-8B71A6EABC45}"/>
              </a:ext>
            </a:extLst>
          </p:cNvPr>
          <p:cNvSpPr>
            <a:spLocks xmlns:a="http://schemas.openxmlformats.org/drawingml/2006/main" noGrp="1"/>
          </p:cNvSpPr>
          <p:nvPr/>
        </p:nvSpPr>
        <p:spPr>
          <a:xfrm xmlns:a="http://schemas.openxmlformats.org/drawingml/2006/main">
            <a:off x="781050" y="4105275"/>
            <a:ext cx="2247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202024"/>
                </a:solidFill>
                <a:latin typeface="Arial"/>
                <a:ea typeface="Arial"/>
                <a:cs typeface="Arial"/>
              </a:defRPr>
            </a:pPr>
            <a:r>
              <a:rPr sz="1650" b="1" i="0">
                <a:solidFill>
                  <a:srgbClr val="202024"/>
                </a:solidFill>
                <a:latin typeface="Arial"/>
                <a:ea typeface="Arial"/>
                <a:cs typeface="Arial"/>
              </a:rPr>
              <a:t>Persisted artefacts</a:t>
            </a:r>
          </a:p>
        </p:txBody>
      </p:sp>
      <p:sp>
        <p:nvSpPr>
          <p:cNvPr id="52" name="">
            <a:extLst xmlns:a="http://schemas.openxmlformats.org/drawingml/2006/main">
              <a:ext uri="{FF2B5EF4-FFF2-40B4-BE49-F238E27FC236}">
                <a16:creationId xmlns:a16="http://schemas.microsoft.com/office/drawing/2014/main" id="{7DB2487B-D9B7-4CD9-97A2-C07D086E7E40}"/>
              </a:ext>
            </a:extLst>
          </p:cNvPr>
          <p:cNvSpPr>
            <a:spLocks xmlns:a="http://schemas.openxmlformats.org/drawingml/2006/main" noGrp="1"/>
          </p:cNvSpPr>
          <p:nvPr/>
        </p:nvSpPr>
        <p:spPr>
          <a:xfrm xmlns:a="http://schemas.openxmlformats.org/drawingml/2006/main">
            <a:off x="781050" y="4467225"/>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Saved model and scaler, as documented</a:t>
            </a:r>
          </a:p>
        </p:txBody>
      </p:sp>
      <p:sp>
        <p:nvSpPr>
          <p:cNvPr id="53" name="">
            <a:extLst xmlns:a="http://schemas.openxmlformats.org/drawingml/2006/main">
              <a:ext uri="{FF2B5EF4-FFF2-40B4-BE49-F238E27FC236}">
                <a16:creationId xmlns:a16="http://schemas.microsoft.com/office/drawing/2014/main" id="{718BCDF7-7FBC-46B8-839E-CC7AABAD452F}"/>
              </a:ext>
            </a:extLst>
          </p:cNvPr>
          <p:cNvSpPr>
            <a:spLocks xmlns:a="http://schemas.openxmlformats.org/drawingml/2006/main" noGrp="1"/>
          </p:cNvSpPr>
          <p:nvPr/>
        </p:nvSpPr>
        <p:spPr>
          <a:xfrm xmlns:a="http://schemas.openxmlformats.org/drawingml/2006/main">
            <a:off x="3181350" y="44767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54" name="">
            <a:extLst xmlns:a="http://schemas.openxmlformats.org/drawingml/2006/main">
              <a:ext uri="{FF2B5EF4-FFF2-40B4-BE49-F238E27FC236}">
                <a16:creationId xmlns:a16="http://schemas.microsoft.com/office/drawing/2014/main" id="{A7A5F157-DE96-4EC1-A38B-405AD15D813B}"/>
              </a:ext>
            </a:extLst>
          </p:cNvPr>
          <p:cNvSpPr>
            <a:spLocks xmlns:a="http://schemas.openxmlformats.org/drawingml/2006/main" noGrp="1"/>
          </p:cNvSpPr>
          <p:nvPr/>
        </p:nvSpPr>
        <p:spPr>
          <a:xfrm xmlns:a="http://schemas.openxmlformats.org/drawingml/2006/main">
            <a:off x="3371850" y="3943350"/>
            <a:ext cx="25527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55" name="">
            <a:extLst xmlns:a="http://schemas.openxmlformats.org/drawingml/2006/main">
              <a:ext uri="{FF2B5EF4-FFF2-40B4-BE49-F238E27FC236}">
                <a16:creationId xmlns:a16="http://schemas.microsoft.com/office/drawing/2014/main" id="{B5D4AAD5-FAE7-4568-B86F-30878A66DD86}"/>
              </a:ext>
            </a:extLst>
          </p:cNvPr>
          <p:cNvSpPr>
            <a:spLocks xmlns:a="http://schemas.openxmlformats.org/drawingml/2006/main" noGrp="1"/>
          </p:cNvSpPr>
          <p:nvPr/>
        </p:nvSpPr>
        <p:spPr>
          <a:xfrm xmlns:a="http://schemas.openxmlformats.org/drawingml/2006/main">
            <a:off x="3524250" y="4105275"/>
            <a:ext cx="2247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202024"/>
                </a:solidFill>
                <a:latin typeface="Arial"/>
                <a:ea typeface="Arial"/>
                <a:cs typeface="Arial"/>
              </a:defRPr>
            </a:pPr>
            <a:r>
              <a:rPr sz="1650" b="1" i="0">
                <a:solidFill>
                  <a:srgbClr val="202024"/>
                </a:solidFill>
                <a:latin typeface="Arial"/>
                <a:ea typeface="Arial"/>
                <a:cs typeface="Arial"/>
              </a:rPr>
              <a:t>New customer record</a:t>
            </a:r>
          </a:p>
        </p:txBody>
      </p:sp>
      <p:sp>
        <p:nvSpPr>
          <p:cNvPr id="56" name="">
            <a:extLst xmlns:a="http://schemas.openxmlformats.org/drawingml/2006/main">
              <a:ext uri="{FF2B5EF4-FFF2-40B4-BE49-F238E27FC236}">
                <a16:creationId xmlns:a16="http://schemas.microsoft.com/office/drawing/2014/main" id="{38F421FD-7794-43E3-A8A8-210E77F3C006}"/>
              </a:ext>
            </a:extLst>
          </p:cNvPr>
          <p:cNvSpPr>
            <a:spLocks xmlns:a="http://schemas.openxmlformats.org/drawingml/2006/main" noGrp="1"/>
          </p:cNvSpPr>
          <p:nvPr/>
        </p:nvSpPr>
        <p:spPr>
          <a:xfrm xmlns:a="http://schemas.openxmlformats.org/drawingml/2006/main">
            <a:off x="3524250" y="4467225"/>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Same fields, order and category treatment</a:t>
            </a:r>
          </a:p>
        </p:txBody>
      </p:sp>
      <p:sp>
        <p:nvSpPr>
          <p:cNvPr id="57" name="">
            <a:extLst xmlns:a="http://schemas.openxmlformats.org/drawingml/2006/main">
              <a:ext uri="{FF2B5EF4-FFF2-40B4-BE49-F238E27FC236}">
                <a16:creationId xmlns:a16="http://schemas.microsoft.com/office/drawing/2014/main" id="{382C4D08-1837-4A8C-8944-DC13FA3D819E}"/>
              </a:ext>
            </a:extLst>
          </p:cNvPr>
          <p:cNvSpPr>
            <a:spLocks xmlns:a="http://schemas.openxmlformats.org/drawingml/2006/main" noGrp="1"/>
          </p:cNvSpPr>
          <p:nvPr/>
        </p:nvSpPr>
        <p:spPr>
          <a:xfrm xmlns:a="http://schemas.openxmlformats.org/drawingml/2006/main">
            <a:off x="5924550" y="44767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58" name="">
            <a:extLst xmlns:a="http://schemas.openxmlformats.org/drawingml/2006/main">
              <a:ext uri="{FF2B5EF4-FFF2-40B4-BE49-F238E27FC236}">
                <a16:creationId xmlns:a16="http://schemas.microsoft.com/office/drawing/2014/main" id="{634EF19B-D46D-4A80-88A0-A72451470E57}"/>
              </a:ext>
            </a:extLst>
          </p:cNvPr>
          <p:cNvSpPr>
            <a:spLocks xmlns:a="http://schemas.openxmlformats.org/drawingml/2006/main" noGrp="1"/>
          </p:cNvSpPr>
          <p:nvPr/>
        </p:nvSpPr>
        <p:spPr>
          <a:xfrm xmlns:a="http://schemas.openxmlformats.org/drawingml/2006/main">
            <a:off x="6115050" y="3943350"/>
            <a:ext cx="25527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59" name="">
            <a:extLst xmlns:a="http://schemas.openxmlformats.org/drawingml/2006/main">
              <a:ext uri="{FF2B5EF4-FFF2-40B4-BE49-F238E27FC236}">
                <a16:creationId xmlns:a16="http://schemas.microsoft.com/office/drawing/2014/main" id="{E36432A6-060D-4226-9C7F-9EAC50BFE1FB}"/>
              </a:ext>
            </a:extLst>
          </p:cNvPr>
          <p:cNvSpPr>
            <a:spLocks xmlns:a="http://schemas.openxmlformats.org/drawingml/2006/main" noGrp="1"/>
          </p:cNvSpPr>
          <p:nvPr/>
        </p:nvSpPr>
        <p:spPr>
          <a:xfrm xmlns:a="http://schemas.openxmlformats.org/drawingml/2006/main">
            <a:off x="6267450" y="4105275"/>
            <a:ext cx="2247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202024"/>
                </a:solidFill>
                <a:latin typeface="Arial"/>
                <a:ea typeface="Arial"/>
                <a:cs typeface="Arial"/>
              </a:defRPr>
            </a:pPr>
            <a:r>
              <a:rPr sz="1650" b="1" i="0">
                <a:solidFill>
                  <a:srgbClr val="202024"/>
                </a:solidFill>
                <a:latin typeface="Arial"/>
                <a:ea typeface="Arial"/>
                <a:cs typeface="Arial"/>
              </a:rPr>
              <a:t>Transform</a:t>
            </a:r>
          </a:p>
        </p:txBody>
      </p:sp>
      <p:sp>
        <p:nvSpPr>
          <p:cNvPr id="60" name="">
            <a:extLst xmlns:a="http://schemas.openxmlformats.org/drawingml/2006/main">
              <a:ext uri="{FF2B5EF4-FFF2-40B4-BE49-F238E27FC236}">
                <a16:creationId xmlns:a16="http://schemas.microsoft.com/office/drawing/2014/main" id="{697A9A4B-A609-4A01-BE24-3A7023CFFF06}"/>
              </a:ext>
            </a:extLst>
          </p:cNvPr>
          <p:cNvSpPr>
            <a:spLocks xmlns:a="http://schemas.openxmlformats.org/drawingml/2006/main" noGrp="1"/>
          </p:cNvSpPr>
          <p:nvPr/>
        </p:nvSpPr>
        <p:spPr>
          <a:xfrm xmlns:a="http://schemas.openxmlformats.org/drawingml/2006/main">
            <a:off x="6267450" y="4467225"/>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Reuse the saved preprocessing logic</a:t>
            </a:r>
          </a:p>
        </p:txBody>
      </p:sp>
      <p:sp>
        <p:nvSpPr>
          <p:cNvPr id="61" name="">
            <a:extLst xmlns:a="http://schemas.openxmlformats.org/drawingml/2006/main">
              <a:ext uri="{FF2B5EF4-FFF2-40B4-BE49-F238E27FC236}">
                <a16:creationId xmlns:a16="http://schemas.microsoft.com/office/drawing/2014/main" id="{5DCF66BA-5197-41AC-93FA-712EEA201ED6}"/>
              </a:ext>
            </a:extLst>
          </p:cNvPr>
          <p:cNvSpPr>
            <a:spLocks xmlns:a="http://schemas.openxmlformats.org/drawingml/2006/main" noGrp="1"/>
          </p:cNvSpPr>
          <p:nvPr/>
        </p:nvSpPr>
        <p:spPr>
          <a:xfrm xmlns:a="http://schemas.openxmlformats.org/drawingml/2006/main">
            <a:off x="8667750" y="44767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62" name="">
            <a:extLst xmlns:a="http://schemas.openxmlformats.org/drawingml/2006/main">
              <a:ext uri="{FF2B5EF4-FFF2-40B4-BE49-F238E27FC236}">
                <a16:creationId xmlns:a16="http://schemas.microsoft.com/office/drawing/2014/main" id="{90200417-C12E-4262-ADE6-2EC79673A494}"/>
              </a:ext>
            </a:extLst>
          </p:cNvPr>
          <p:cNvSpPr>
            <a:spLocks xmlns:a="http://schemas.openxmlformats.org/drawingml/2006/main" noGrp="1"/>
          </p:cNvSpPr>
          <p:nvPr/>
        </p:nvSpPr>
        <p:spPr>
          <a:xfrm xmlns:a="http://schemas.openxmlformats.org/drawingml/2006/main">
            <a:off x="8858250" y="3943350"/>
            <a:ext cx="25527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63" name="">
            <a:extLst xmlns:a="http://schemas.openxmlformats.org/drawingml/2006/main">
              <a:ext uri="{FF2B5EF4-FFF2-40B4-BE49-F238E27FC236}">
                <a16:creationId xmlns:a16="http://schemas.microsoft.com/office/drawing/2014/main" id="{615B691F-0F52-467D-84B2-6EB9B8219B46}"/>
              </a:ext>
            </a:extLst>
          </p:cNvPr>
          <p:cNvSpPr>
            <a:spLocks xmlns:a="http://schemas.openxmlformats.org/drawingml/2006/main" noGrp="1"/>
          </p:cNvSpPr>
          <p:nvPr/>
        </p:nvSpPr>
        <p:spPr>
          <a:xfrm xmlns:a="http://schemas.openxmlformats.org/drawingml/2006/main">
            <a:off x="9010650" y="4105275"/>
            <a:ext cx="2247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202024"/>
                </a:solidFill>
                <a:latin typeface="Arial"/>
                <a:ea typeface="Arial"/>
                <a:cs typeface="Arial"/>
              </a:defRPr>
            </a:pPr>
            <a:r>
              <a:rPr sz="1650" b="1" i="0">
                <a:solidFill>
                  <a:srgbClr val="202024"/>
                </a:solidFill>
                <a:latin typeface="Arial"/>
                <a:ea typeface="Arial"/>
                <a:cs typeface="Arial"/>
              </a:rPr>
              <a:t>Predict</a:t>
            </a:r>
          </a:p>
        </p:txBody>
      </p:sp>
      <p:sp>
        <p:nvSpPr>
          <p:cNvPr id="64" name="">
            <a:extLst xmlns:a="http://schemas.openxmlformats.org/drawingml/2006/main">
              <a:ext uri="{FF2B5EF4-FFF2-40B4-BE49-F238E27FC236}">
                <a16:creationId xmlns:a16="http://schemas.microsoft.com/office/drawing/2014/main" id="{BAD8B8C5-8079-473E-BD68-E8F8F3DD3582}"/>
              </a:ext>
            </a:extLst>
          </p:cNvPr>
          <p:cNvSpPr>
            <a:spLocks xmlns:a="http://schemas.openxmlformats.org/drawingml/2006/main" noGrp="1"/>
          </p:cNvSpPr>
          <p:nvPr/>
        </p:nvSpPr>
        <p:spPr>
          <a:xfrm xmlns:a="http://schemas.openxmlformats.org/drawingml/2006/main">
            <a:off x="9010650" y="4467225"/>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Return likely stay or churn</a:t>
            </a:r>
          </a:p>
        </p:txBody>
      </p:sp>
      <p:sp>
        <p:nvSpPr>
          <p:cNvPr id="65" name="">
            <a:extLst xmlns:a="http://schemas.openxmlformats.org/drawingml/2006/main">
              <a:ext uri="{FF2B5EF4-FFF2-40B4-BE49-F238E27FC236}">
                <a16:creationId xmlns:a16="http://schemas.microsoft.com/office/drawing/2014/main" id="{0626FD7A-1127-410E-98F2-726BF7F87C0E}"/>
              </a:ext>
            </a:extLst>
          </p:cNvPr>
          <p:cNvSpPr>
            <a:spLocks xmlns:a="http://schemas.openxmlformats.org/drawingml/2006/main" noGrp="1"/>
          </p:cNvSpPr>
          <p:nvPr/>
        </p:nvSpPr>
        <p:spPr>
          <a:xfrm xmlns:a="http://schemas.openxmlformats.org/drawingml/2006/main">
            <a:off x="628650" y="5267325"/>
            <a:ext cx="10934700" cy="838200"/>
          </a:xfrm>
          <a:prstGeom xmlns:a="http://schemas.openxmlformats.org/drawingml/2006/main" prst="rect">
            <a:avLst/>
          </a:prstGeom>
          <a:solidFill xmlns:a="http://schemas.openxmlformats.org/drawingml/2006/main">
            <a:srgbClr val="F1E4E7"/>
          </a:solidFill>
          <a:ln xmlns:a="http://schemas.openxmlformats.org/drawingml/2006/main" w="9525">
            <a:solidFill>
              <a:srgbClr val="E7D4D9"/>
            </a:solidFill>
            <a:prstDash val="solid"/>
          </a:ln>
        </p:spPr>
      </p:sp>
      <p:sp>
        <p:nvSpPr>
          <p:cNvPr id="66" name="">
            <a:extLst xmlns:a="http://schemas.openxmlformats.org/drawingml/2006/main">
              <a:ext uri="{FF2B5EF4-FFF2-40B4-BE49-F238E27FC236}">
                <a16:creationId xmlns:a16="http://schemas.microsoft.com/office/drawing/2014/main" id="{9DADB741-C226-430D-9DB8-47E1ABEC55D1}"/>
              </a:ext>
            </a:extLst>
          </p:cNvPr>
          <p:cNvSpPr>
            <a:spLocks xmlns:a="http://schemas.openxmlformats.org/drawingml/2006/main" noGrp="1"/>
          </p:cNvSpPr>
          <p:nvPr/>
        </p:nvSpPr>
        <p:spPr>
          <a:xfrm xmlns:a="http://schemas.openxmlformats.org/drawingml/2006/main">
            <a:off x="819150" y="544830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CONTROL POINTS</a:t>
            </a:r>
          </a:p>
        </p:txBody>
      </p:sp>
      <p:sp>
        <p:nvSpPr>
          <p:cNvPr id="67" name="">
            <a:extLst xmlns:a="http://schemas.openxmlformats.org/drawingml/2006/main">
              <a:ext uri="{FF2B5EF4-FFF2-40B4-BE49-F238E27FC236}">
                <a16:creationId xmlns:a16="http://schemas.microsoft.com/office/drawing/2014/main" id="{ADDF6459-7030-4C98-BA6E-F1510D49AF7A}"/>
              </a:ext>
            </a:extLst>
          </p:cNvPr>
          <p:cNvSpPr>
            <a:spLocks xmlns:a="http://schemas.openxmlformats.org/drawingml/2006/main" noGrp="1"/>
          </p:cNvSpPr>
          <p:nvPr/>
        </p:nvSpPr>
        <p:spPr>
          <a:xfrm xmlns:a="http://schemas.openxmlformats.org/drawingml/2006/main">
            <a:off x="2400300" y="5391150"/>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202024"/>
                </a:solidFill>
                <a:latin typeface="Arial"/>
                <a:ea typeface="Arial"/>
                <a:cs typeface="Arial"/>
              </a:defRPr>
            </a:pPr>
            <a:r>
              <a:rPr sz="1500" b="1" i="0">
                <a:solidFill>
                  <a:srgbClr val="202024"/>
                </a:solidFill>
                <a:latin typeface="Arial"/>
                <a:ea typeface="Arial"/>
                <a:cs typeface="Arial"/>
              </a:rPr>
              <a:t>Fit scaling on training data</a:t>
            </a:r>
          </a:p>
        </p:txBody>
      </p:sp>
      <p:sp>
        <p:nvSpPr>
          <p:cNvPr id="68" name="">
            <a:extLst xmlns:a="http://schemas.openxmlformats.org/drawingml/2006/main">
              <a:ext uri="{FF2B5EF4-FFF2-40B4-BE49-F238E27FC236}">
                <a16:creationId xmlns:a16="http://schemas.microsoft.com/office/drawing/2014/main" id="{6C009D25-C11B-4743-8BB6-559962837A18}"/>
              </a:ext>
            </a:extLst>
          </p:cNvPr>
          <p:cNvSpPr>
            <a:spLocks xmlns:a="http://schemas.openxmlformats.org/drawingml/2006/main" noGrp="1"/>
          </p:cNvSpPr>
          <p:nvPr/>
        </p:nvSpPr>
        <p:spPr>
          <a:xfrm xmlns:a="http://schemas.openxmlformats.org/drawingml/2006/main">
            <a:off x="2400300" y="5819775"/>
            <a:ext cx="276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6053"/>
          </a:bodyPr>
          <a:lstStyle xmlns:a="http://schemas.openxmlformats.org/drawingml/2006/main"/>
          <a:p xmlns:a="http://schemas.openxmlformats.org/drawingml/2006/main">
            <a:pPr algn="l">
              <a:lnSpc>
                <a:spcPct val="100000"/>
              </a:lnSpc>
              <a:buNone/>
              <a:defRPr sz="1200" b="0" i="0">
                <a:solidFill>
                  <a:srgbClr val="202024"/>
                </a:solidFill>
                <a:latin typeface="Arial"/>
                <a:ea typeface="Arial"/>
                <a:cs typeface="Arial"/>
              </a:defRPr>
            </a:pPr>
            <a:r>
              <a:rPr sz="1200" b="0" i="0">
                <a:solidFill>
                  <a:srgbClr val="202024"/>
                </a:solidFill>
                <a:latin typeface="Arial"/>
                <a:ea typeface="Arial"/>
                <a:cs typeface="Arial"/>
              </a:rPr>
              <a:t>Reuse transformations for test and new records</a:t>
            </a:r>
          </a:p>
        </p:txBody>
      </p:sp>
      <p:sp>
        <p:nvSpPr>
          <p:cNvPr id="69" name="">
            <a:extLst xmlns:a="http://schemas.openxmlformats.org/drawingml/2006/main">
              <a:ext uri="{FF2B5EF4-FFF2-40B4-BE49-F238E27FC236}">
                <a16:creationId xmlns:a16="http://schemas.microsoft.com/office/drawing/2014/main" id="{B4F32C3C-017D-44C8-85FE-B53F027698B2}"/>
              </a:ext>
            </a:extLst>
          </p:cNvPr>
          <p:cNvSpPr>
            <a:spLocks xmlns:a="http://schemas.openxmlformats.org/drawingml/2006/main" noGrp="1"/>
          </p:cNvSpPr>
          <p:nvPr/>
        </p:nvSpPr>
        <p:spPr>
          <a:xfrm xmlns:a="http://schemas.openxmlformats.org/drawingml/2006/main">
            <a:off x="5410200" y="5410200"/>
            <a:ext cx="0" cy="53340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70" name="">
            <a:extLst xmlns:a="http://schemas.openxmlformats.org/drawingml/2006/main">
              <a:ext uri="{FF2B5EF4-FFF2-40B4-BE49-F238E27FC236}">
                <a16:creationId xmlns:a16="http://schemas.microsoft.com/office/drawing/2014/main" id="{058EB700-FF21-4702-AB74-2805049D0588}"/>
              </a:ext>
            </a:extLst>
          </p:cNvPr>
          <p:cNvSpPr>
            <a:spLocks xmlns:a="http://schemas.openxmlformats.org/drawingml/2006/main" noGrp="1"/>
          </p:cNvSpPr>
          <p:nvPr/>
        </p:nvSpPr>
        <p:spPr>
          <a:xfrm xmlns:a="http://schemas.openxmlformats.org/drawingml/2006/main">
            <a:off x="5715000" y="539115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632"/>
          </a:bodyPr>
          <a:lstStyle xmlns:a="http://schemas.openxmlformats.org/drawingml/2006/main"/>
          <a:p xmlns:a="http://schemas.openxmlformats.org/drawingml/2006/main">
            <a:pPr algn="l">
              <a:lnSpc>
                <a:spcPct val="100000"/>
              </a:lnSpc>
              <a:buNone/>
              <a:defRPr sz="1500" b="1" i="0">
                <a:solidFill>
                  <a:srgbClr val="202024"/>
                </a:solidFill>
                <a:latin typeface="Arial"/>
                <a:ea typeface="Arial"/>
                <a:cs typeface="Arial"/>
              </a:defRPr>
            </a:pPr>
            <a:r>
              <a:rPr sz="1500" b="1" i="0">
                <a:solidFill>
                  <a:srgbClr val="202024"/>
                </a:solidFill>
                <a:latin typeface="Arial"/>
                <a:ea typeface="Arial"/>
                <a:cs typeface="Arial"/>
              </a:rPr>
              <a:t>Keep test data independent</a:t>
            </a:r>
          </a:p>
        </p:txBody>
      </p:sp>
      <p:sp>
        <p:nvSpPr>
          <p:cNvPr id="71" name="">
            <a:extLst xmlns:a="http://schemas.openxmlformats.org/drawingml/2006/main">
              <a:ext uri="{FF2B5EF4-FFF2-40B4-BE49-F238E27FC236}">
                <a16:creationId xmlns:a16="http://schemas.microsoft.com/office/drawing/2014/main" id="{34B5BD62-AD8E-4E54-B399-2F7A79EEA891}"/>
              </a:ext>
            </a:extLst>
          </p:cNvPr>
          <p:cNvSpPr>
            <a:spLocks xmlns:a="http://schemas.openxmlformats.org/drawingml/2006/main" noGrp="1"/>
          </p:cNvSpPr>
          <p:nvPr/>
        </p:nvSpPr>
        <p:spPr>
          <a:xfrm xmlns:a="http://schemas.openxmlformats.org/drawingml/2006/main">
            <a:off x="5715000" y="5819775"/>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4397"/>
          </a:bodyPr>
          <a:lstStyle xmlns:a="http://schemas.openxmlformats.org/drawingml/2006/main"/>
          <a:p xmlns:a="http://schemas.openxmlformats.org/drawingml/2006/main">
            <a:pPr algn="l">
              <a:lnSpc>
                <a:spcPct val="100000"/>
              </a:lnSpc>
              <a:buNone/>
              <a:defRPr sz="1200" b="0" i="0">
                <a:solidFill>
                  <a:srgbClr val="202024"/>
                </a:solidFill>
                <a:latin typeface="Arial"/>
                <a:ea typeface="Arial"/>
                <a:cs typeface="Arial"/>
              </a:defRPr>
            </a:pPr>
            <a:r>
              <a:rPr sz="1200" b="0" i="0">
                <a:solidFill>
                  <a:srgbClr val="202024"/>
                </a:solidFill>
                <a:latin typeface="Arial"/>
                <a:ea typeface="Arial"/>
                <a:cs typeface="Arial"/>
              </a:rPr>
              <a:t>Prevent evaluation data from influencing learning</a:t>
            </a:r>
          </a:p>
        </p:txBody>
      </p:sp>
      <p:sp>
        <p:nvSpPr>
          <p:cNvPr id="72" name="">
            <a:extLst xmlns:a="http://schemas.openxmlformats.org/drawingml/2006/main">
              <a:ext uri="{FF2B5EF4-FFF2-40B4-BE49-F238E27FC236}">
                <a16:creationId xmlns:a16="http://schemas.microsoft.com/office/drawing/2014/main" id="{B27BD525-8A30-4DEB-96AB-22C4154188B4}"/>
              </a:ext>
            </a:extLst>
          </p:cNvPr>
          <p:cNvSpPr>
            <a:spLocks xmlns:a="http://schemas.openxmlformats.org/drawingml/2006/main" noGrp="1"/>
          </p:cNvSpPr>
          <p:nvPr/>
        </p:nvSpPr>
        <p:spPr>
          <a:xfrm xmlns:a="http://schemas.openxmlformats.org/drawingml/2006/main">
            <a:off x="8420100" y="5410200"/>
            <a:ext cx="0" cy="53340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73" name="">
            <a:extLst xmlns:a="http://schemas.openxmlformats.org/drawingml/2006/main">
              <a:ext uri="{FF2B5EF4-FFF2-40B4-BE49-F238E27FC236}">
                <a16:creationId xmlns:a16="http://schemas.microsoft.com/office/drawing/2014/main" id="{88B279C6-9737-4F0B-9734-4B27F41FAF9D}"/>
              </a:ext>
            </a:extLst>
          </p:cNvPr>
          <p:cNvSpPr>
            <a:spLocks xmlns:a="http://schemas.openxmlformats.org/drawingml/2006/main" noGrp="1"/>
          </p:cNvSpPr>
          <p:nvPr/>
        </p:nvSpPr>
        <p:spPr>
          <a:xfrm xmlns:a="http://schemas.openxmlformats.org/drawingml/2006/main">
            <a:off x="8724900" y="5391150"/>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137"/>
          </a:bodyPr>
          <a:lstStyle xmlns:a="http://schemas.openxmlformats.org/drawingml/2006/main"/>
          <a:p xmlns:a="http://schemas.openxmlformats.org/drawingml/2006/main">
            <a:pPr algn="l">
              <a:lnSpc>
                <a:spcPct val="100000"/>
              </a:lnSpc>
              <a:buNone/>
              <a:defRPr sz="1500" b="1" i="0">
                <a:solidFill>
                  <a:srgbClr val="202024"/>
                </a:solidFill>
                <a:latin typeface="Arial"/>
                <a:ea typeface="Arial"/>
                <a:cs typeface="Arial"/>
              </a:defRPr>
            </a:pPr>
            <a:r>
              <a:rPr sz="1500" b="1" i="0">
                <a:solidFill>
                  <a:srgbClr val="202024"/>
                </a:solidFill>
                <a:latin typeface="Arial"/>
                <a:ea typeface="Arial"/>
                <a:cs typeface="Arial"/>
              </a:rPr>
              <a:t>Preserve the input schema</a:t>
            </a:r>
          </a:p>
        </p:txBody>
      </p:sp>
      <p:sp>
        <p:nvSpPr>
          <p:cNvPr id="74" name="">
            <a:extLst xmlns:a="http://schemas.openxmlformats.org/drawingml/2006/main">
              <a:ext uri="{FF2B5EF4-FFF2-40B4-BE49-F238E27FC236}">
                <a16:creationId xmlns:a16="http://schemas.microsoft.com/office/drawing/2014/main" id="{50C0A021-3624-4CB7-9F0A-7B23E1FA820C}"/>
              </a:ext>
            </a:extLst>
          </p:cNvPr>
          <p:cNvSpPr>
            <a:spLocks xmlns:a="http://schemas.openxmlformats.org/drawingml/2006/main" noGrp="1"/>
          </p:cNvSpPr>
          <p:nvPr/>
        </p:nvSpPr>
        <p:spPr>
          <a:xfrm xmlns:a="http://schemas.openxmlformats.org/drawingml/2006/main">
            <a:off x="8724900" y="5819775"/>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2741"/>
          </a:bodyPr>
          <a:lstStyle xmlns:a="http://schemas.openxmlformats.org/drawingml/2006/main"/>
          <a:p xmlns:a="http://schemas.openxmlformats.org/drawingml/2006/main">
            <a:pPr algn="l">
              <a:lnSpc>
                <a:spcPct val="100000"/>
              </a:lnSpc>
              <a:buNone/>
              <a:defRPr sz="1200" b="0" i="0">
                <a:solidFill>
                  <a:srgbClr val="202024"/>
                </a:solidFill>
                <a:latin typeface="Arial"/>
                <a:ea typeface="Arial"/>
                <a:cs typeface="Arial"/>
              </a:defRPr>
            </a:pPr>
            <a:r>
              <a:rPr sz="1200" b="0" i="0">
                <a:solidFill>
                  <a:srgbClr val="202024"/>
                </a:solidFill>
                <a:latin typeface="Arial"/>
                <a:ea typeface="Arial"/>
                <a:cs typeface="Arial"/>
              </a:rPr>
              <a:t>Maintain feature order and categorical mappings</a:t>
            </a:r>
          </a:p>
        </p:txBody>
      </p:sp>
      <p:sp>
        <p:nvSpPr>
          <p:cNvPr id="75" name="">
            <a:extLst xmlns:a="http://schemas.openxmlformats.org/drawingml/2006/main">
              <a:ext uri="{FF2B5EF4-FFF2-40B4-BE49-F238E27FC236}">
                <a16:creationId xmlns:a16="http://schemas.microsoft.com/office/drawing/2014/main" id="{78460D14-2A60-4F77-BF7B-FAFA38A37FEC}"/>
              </a:ext>
            </a:extLst>
          </p:cNvPr>
          <p:cNvSpPr>
            <a:spLocks xmlns:a="http://schemas.openxmlformats.org/drawingml/2006/main" noGrp="1"/>
          </p:cNvSpPr>
          <p:nvPr/>
        </p:nvSpPr>
        <p:spPr>
          <a:xfrm xmlns:a="http://schemas.openxmlformats.org/drawingml/2006/main">
            <a:off x="628650" y="6438900"/>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76" name="">
            <a:extLst xmlns:a="http://schemas.openxmlformats.org/drawingml/2006/main">
              <a:ext uri="{FF2B5EF4-FFF2-40B4-BE49-F238E27FC236}">
                <a16:creationId xmlns:a16="http://schemas.microsoft.com/office/drawing/2014/main" id="{C5B02B39-DC41-474A-987A-AEE73AD18069}"/>
              </a:ext>
            </a:extLst>
          </p:cNvPr>
          <p:cNvSpPr>
            <a:spLocks xmlns:a="http://schemas.openxmlformats.org/drawingml/2006/main" noGrp="1"/>
          </p:cNvSpPr>
          <p:nvPr/>
        </p:nvSpPr>
        <p:spPr>
          <a:xfrm xmlns:a="http://schemas.openxmlformats.org/drawingml/2006/main">
            <a:off x="628650" y="6524625"/>
            <a:ext cx="10934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0" i="1">
                <a:solidFill>
                  <a:srgbClr val="202024"/>
                </a:solidFill>
                <a:latin typeface="Arial"/>
                <a:ea typeface="Arial"/>
                <a:cs typeface="Arial"/>
              </a:defRPr>
            </a:pPr>
            <a:r>
              <a:rPr sz="825" b="0" i="1">
                <a:solidFill>
                  <a:srgbClr val="202024"/>
                </a:solidFill>
                <a:latin typeface="Arial"/>
                <a:ea typeface="Arial"/>
                <a:cs typeface="Arial"/>
              </a:rPr>
              <a:t>Source: Master synopsis, sections D-G and J</a:t>
            </a:r>
          </a:p>
        </p:txBody>
      </p:sp>
    </p:spTree>
    <p:extLst>
      <p:ext uri="{BB962C8B-B14F-4D97-AF65-F5344CB8AC3E}">
        <p14:creationId xmlns:p14="http://schemas.microsoft.com/office/powerpoint/2010/main" val="580403879"/>
      </p:ext>
    </p:extLst>
  </p:cSld>
</p:sld>
</file>

<file path=ppt/slides/slide4.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61" name="">
            <a:extLst xmlns:a="http://schemas.openxmlformats.org/drawingml/2006/main">
              <a:ext uri="{FF2B5EF4-FFF2-40B4-BE49-F238E27FC236}">
                <a16:creationId xmlns:a16="http://schemas.microsoft.com/office/drawing/2014/main" id="{562BC18A-BDBF-42B1-B24F-9A5D8B43ABDE}"/>
              </a:ext>
            </a:extLst>
          </p:cNvPr>
          <p:cNvSpPr>
            <a:spLocks xmlns:a="http://schemas.openxmlformats.org/drawingml/2006/main" noGrp="1"/>
          </p:cNvSpPr>
          <p:nvPr/>
        </p:nvSpPr>
        <p:spPr>
          <a:xfrm xmlns:a="http://schemas.openxmlformats.org/drawingml/2006/main">
            <a:off x="628650" y="33337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MODEL AND EVALUATION</a:t>
            </a:r>
          </a:p>
        </p:txBody>
      </p:sp>
      <p:sp>
        <p:nvSpPr>
          <p:cNvPr id="2" name="">
            <a:extLst xmlns:a="http://schemas.openxmlformats.org/drawingml/2006/main">
              <a:ext uri="{FF2B5EF4-FFF2-40B4-BE49-F238E27FC236}">
                <a16:creationId xmlns:a16="http://schemas.microsoft.com/office/drawing/2014/main" id="{0D2D61B4-EEAC-423C-9E3B-460D0A7A1F30}"/>
              </a:ext>
            </a:extLst>
          </p:cNvPr>
          <p:cNvSpPr>
            <a:spLocks xmlns:a="http://schemas.openxmlformats.org/drawingml/2006/main" noGrp="1"/>
          </p:cNvSpPr>
          <p:nvPr/>
        </p:nvSpPr>
        <p:spPr>
          <a:xfrm xmlns:a="http://schemas.openxmlformats.org/drawingml/2006/main">
            <a:off x="628650" y="638175"/>
            <a:ext cx="10934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700" b="1" i="0">
                <a:solidFill>
                  <a:srgbClr val="202024"/>
                </a:solidFill>
                <a:latin typeface="Arial"/>
                <a:ea typeface="Arial"/>
                <a:cs typeface="Arial"/>
              </a:defRPr>
            </a:pPr>
            <a:r>
              <a:rPr sz="2700" b="1" i="0">
                <a:solidFill>
                  <a:srgbClr val="202024"/>
                </a:solidFill>
                <a:latin typeface="Arial"/>
                <a:ea typeface="Arial"/>
                <a:cs typeface="Arial"/>
              </a:rPr>
              <a:t>Logistic Regression produces the class, while error analysis explains its meaning</a:t>
            </a:r>
          </a:p>
        </p:txBody>
      </p:sp>
      <p:sp>
        <p:nvSpPr>
          <p:cNvPr id="3" name="">
            <a:extLst xmlns:a="http://schemas.openxmlformats.org/drawingml/2006/main">
              <a:ext uri="{FF2B5EF4-FFF2-40B4-BE49-F238E27FC236}">
                <a16:creationId xmlns:a16="http://schemas.microsoft.com/office/drawing/2014/main" id="{CB1479B0-C495-4F5C-AD50-20A62E42DF95}"/>
              </a:ext>
            </a:extLst>
          </p:cNvPr>
          <p:cNvSpPr>
            <a:spLocks xmlns:a="http://schemas.openxmlformats.org/drawingml/2006/main" noGrp="1"/>
          </p:cNvSpPr>
          <p:nvPr/>
        </p:nvSpPr>
        <p:spPr>
          <a:xfrm xmlns:a="http://schemas.openxmlformats.org/drawingml/2006/main">
            <a:off x="628650" y="1514475"/>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 name="">
            <a:extLst xmlns:a="http://schemas.openxmlformats.org/drawingml/2006/main">
              <a:ext uri="{FF2B5EF4-FFF2-40B4-BE49-F238E27FC236}">
                <a16:creationId xmlns:a16="http://schemas.microsoft.com/office/drawing/2014/main" id="{05D9F991-D3D3-4754-8859-470BF788246C}"/>
              </a:ext>
            </a:extLst>
          </p:cNvPr>
          <p:cNvSpPr>
            <a:spLocks xmlns:a="http://schemas.openxmlformats.org/drawingml/2006/main" noGrp="1"/>
          </p:cNvSpPr>
          <p:nvPr/>
        </p:nvSpPr>
        <p:spPr>
          <a:xfrm xmlns:a="http://schemas.openxmlformats.org/drawingml/2006/main">
            <a:off x="11144250" y="342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625E323C-0910-4DFC-9022-3EB6C555DEFF}"/>
              </a:ext>
            </a:extLst>
          </p:cNvPr>
          <p:cNvSpPr>
            <a:spLocks xmlns:a="http://schemas.openxmlformats.org/drawingml/2006/main" noGrp="1"/>
          </p:cNvSpPr>
          <p:nvPr/>
        </p:nvSpPr>
        <p:spPr>
          <a:xfrm xmlns:a="http://schemas.openxmlformats.org/drawingml/2006/main">
            <a:off x="628650" y="1657350"/>
            <a:ext cx="1228725" cy="28575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6" name="">
            <a:extLst xmlns:a="http://schemas.openxmlformats.org/drawingml/2006/main">
              <a:ext uri="{FF2B5EF4-FFF2-40B4-BE49-F238E27FC236}">
                <a16:creationId xmlns:a16="http://schemas.microsoft.com/office/drawing/2014/main" id="{AE0960DE-2F51-43A4-A5E5-5CAB5F54281F}"/>
              </a:ext>
            </a:extLst>
          </p:cNvPr>
          <p:cNvSpPr>
            <a:spLocks xmlns:a="http://schemas.openxmlformats.org/drawingml/2006/main" noGrp="1"/>
          </p:cNvSpPr>
          <p:nvPr/>
        </p:nvSpPr>
        <p:spPr>
          <a:xfrm xmlns:a="http://schemas.openxmlformats.org/drawingml/2006/main">
            <a:off x="723900" y="1704975"/>
            <a:ext cx="10382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FFFF"/>
                </a:solidFill>
                <a:latin typeface="Arial"/>
                <a:ea typeface="Arial"/>
                <a:cs typeface="Arial"/>
              </a:defRPr>
            </a:pPr>
            <a:r>
              <a:rPr sz="1125" b="1" i="0">
                <a:solidFill>
                  <a:srgbClr val="FFFFFF"/>
                </a:solidFill>
                <a:latin typeface="Arial"/>
                <a:ea typeface="Arial"/>
                <a:cs typeface="Arial"/>
              </a:rPr>
              <a:t>MODEL LOGIC</a:t>
            </a:r>
          </a:p>
        </p:txBody>
      </p:sp>
      <p:sp>
        <p:nvSpPr>
          <p:cNvPr id="7" name="">
            <a:extLst xmlns:a="http://schemas.openxmlformats.org/drawingml/2006/main">
              <a:ext uri="{FF2B5EF4-FFF2-40B4-BE49-F238E27FC236}">
                <a16:creationId xmlns:a16="http://schemas.microsoft.com/office/drawing/2014/main" id="{8BF9E391-16C4-4BA2-AD91-42AEC4774341}"/>
              </a:ext>
            </a:extLst>
          </p:cNvPr>
          <p:cNvSpPr>
            <a:spLocks xmlns:a="http://schemas.openxmlformats.org/drawingml/2006/main" noGrp="1"/>
          </p:cNvSpPr>
          <p:nvPr/>
        </p:nvSpPr>
        <p:spPr>
          <a:xfrm xmlns:a="http://schemas.openxmlformats.org/drawingml/2006/main">
            <a:off x="628650" y="2057400"/>
            <a:ext cx="3048000" cy="1762125"/>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8" name="">
            <a:extLst xmlns:a="http://schemas.openxmlformats.org/drawingml/2006/main">
              <a:ext uri="{FF2B5EF4-FFF2-40B4-BE49-F238E27FC236}">
                <a16:creationId xmlns:a16="http://schemas.microsoft.com/office/drawing/2014/main" id="{C2CD3648-39D2-47ED-B8AC-BE8A062689CF}"/>
              </a:ext>
            </a:extLst>
          </p:cNvPr>
          <p:cNvSpPr>
            <a:spLocks xmlns:a="http://schemas.openxmlformats.org/drawingml/2006/main" noGrp="1"/>
          </p:cNvSpPr>
          <p:nvPr/>
        </p:nvSpPr>
        <p:spPr>
          <a:xfrm xmlns:a="http://schemas.openxmlformats.org/drawingml/2006/main">
            <a:off x="819150" y="22479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0909"/>
          </a:bodyPr>
          <a:lstStyle xmlns:a="http://schemas.openxmlformats.org/drawingml/2006/main"/>
          <a:p xmlns:a="http://schemas.openxmlformats.org/drawingml/2006/main">
            <a:pPr algn="l">
              <a:lnSpc>
                <a:spcPct val="100000"/>
              </a:lnSpc>
              <a:buNone/>
              <a:defRPr sz="1650" b="1" i="0">
                <a:solidFill>
                  <a:srgbClr val="202024"/>
                </a:solidFill>
                <a:latin typeface="Arial"/>
                <a:ea typeface="Arial"/>
                <a:cs typeface="Arial"/>
              </a:defRPr>
            </a:pPr>
            <a:r>
              <a:rPr sz="1650" b="1" i="0">
                <a:solidFill>
                  <a:srgbClr val="202024"/>
                </a:solidFill>
                <a:latin typeface="Arial"/>
                <a:ea typeface="Arial"/>
                <a:cs typeface="Arial"/>
              </a:rPr>
              <a:t>Customer features</a:t>
            </a:r>
          </a:p>
        </p:txBody>
      </p:sp>
      <p:sp>
        <p:nvSpPr>
          <p:cNvPr id="9" name="">
            <a:extLst xmlns:a="http://schemas.openxmlformats.org/drawingml/2006/main">
              <a:ext uri="{FF2B5EF4-FFF2-40B4-BE49-F238E27FC236}">
                <a16:creationId xmlns:a16="http://schemas.microsoft.com/office/drawing/2014/main" id="{BF863231-048D-477B-A9DE-C275E0E5A5E2}"/>
              </a:ext>
            </a:extLst>
          </p:cNvPr>
          <p:cNvSpPr>
            <a:spLocks xmlns:a="http://schemas.openxmlformats.org/drawingml/2006/main" noGrp="1"/>
          </p:cNvSpPr>
          <p:nvPr/>
        </p:nvSpPr>
        <p:spPr>
          <a:xfrm xmlns:a="http://schemas.openxmlformats.org/drawingml/2006/main">
            <a:off x="819150" y="2571750"/>
            <a:ext cx="266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Tenure, charges, contract and service attributes</a:t>
            </a:r>
          </a:p>
        </p:txBody>
      </p:sp>
      <p:sp>
        <p:nvSpPr>
          <p:cNvPr id="10" name="">
            <a:extLst xmlns:a="http://schemas.openxmlformats.org/drawingml/2006/main">
              <a:ext uri="{FF2B5EF4-FFF2-40B4-BE49-F238E27FC236}">
                <a16:creationId xmlns:a16="http://schemas.microsoft.com/office/drawing/2014/main" id="{DBD26264-F09F-4655-A1E6-18270E2DF780}"/>
              </a:ext>
            </a:extLst>
          </p:cNvPr>
          <p:cNvSpPr>
            <a:spLocks xmlns:a="http://schemas.openxmlformats.org/drawingml/2006/main" noGrp="1"/>
          </p:cNvSpPr>
          <p:nvPr/>
        </p:nvSpPr>
        <p:spPr>
          <a:xfrm xmlns:a="http://schemas.openxmlformats.org/drawingml/2006/main">
            <a:off x="819150" y="3143250"/>
            <a:ext cx="26670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11" name="">
            <a:extLst xmlns:a="http://schemas.openxmlformats.org/drawingml/2006/main">
              <a:ext uri="{FF2B5EF4-FFF2-40B4-BE49-F238E27FC236}">
                <a16:creationId xmlns:a16="http://schemas.microsoft.com/office/drawing/2014/main" id="{0705F06B-5239-4707-BEBE-3DEF061FA2BE}"/>
              </a:ext>
            </a:extLst>
          </p:cNvPr>
          <p:cNvSpPr>
            <a:spLocks xmlns:a="http://schemas.openxmlformats.org/drawingml/2006/main" noGrp="1"/>
          </p:cNvSpPr>
          <p:nvPr/>
        </p:nvSpPr>
        <p:spPr>
          <a:xfrm xmlns:a="http://schemas.openxmlformats.org/drawingml/2006/main">
            <a:off x="819150" y="32956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667"/>
          </a:bodyPr>
          <a:lstStyle xmlns:a="http://schemas.openxmlformats.org/drawingml/2006/main"/>
          <a:p xmlns:a="http://schemas.openxmlformats.org/drawingml/2006/main">
            <a:pPr algn="l">
              <a:lnSpc>
                <a:spcPct val="100000"/>
              </a:lnSpc>
              <a:buNone/>
              <a:defRPr sz="1500" b="1" i="0">
                <a:solidFill>
                  <a:srgbClr val="202024"/>
                </a:solidFill>
                <a:latin typeface="Arial"/>
                <a:ea typeface="Arial"/>
                <a:cs typeface="Arial"/>
              </a:defRPr>
            </a:pPr>
            <a:r>
              <a:rPr sz="1500" b="1" i="0">
                <a:solidFill>
                  <a:srgbClr val="202024"/>
                </a:solidFill>
                <a:latin typeface="Arial"/>
                <a:ea typeface="Arial"/>
                <a:cs typeface="Arial"/>
              </a:rPr>
              <a:t>Weighted combination</a:t>
            </a:r>
          </a:p>
        </p:txBody>
      </p:sp>
      <p:sp>
        <p:nvSpPr>
          <p:cNvPr id="12" name="">
            <a:extLst xmlns:a="http://schemas.openxmlformats.org/drawingml/2006/main">
              <a:ext uri="{FF2B5EF4-FFF2-40B4-BE49-F238E27FC236}">
                <a16:creationId xmlns:a16="http://schemas.microsoft.com/office/drawing/2014/main" id="{E669113D-29C2-4542-9CBF-4EA12E250972}"/>
              </a:ext>
            </a:extLst>
          </p:cNvPr>
          <p:cNvSpPr>
            <a:spLocks xmlns:a="http://schemas.openxmlformats.org/drawingml/2006/main" noGrp="1"/>
          </p:cNvSpPr>
          <p:nvPr/>
        </p:nvSpPr>
        <p:spPr>
          <a:xfrm xmlns:a="http://schemas.openxmlformats.org/drawingml/2006/main">
            <a:off x="819150" y="356235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6956"/>
          </a:bodyPr>
          <a:lstStyle xmlns:a="http://schemas.openxmlformats.org/drawingml/2006/main"/>
          <a:p xmlns:a="http://schemas.openxmlformats.org/drawingml/2006/main">
            <a:pPr algn="l">
              <a:lnSpc>
                <a:spcPct val="100000"/>
              </a:lnSpc>
              <a:buNone/>
              <a:defRPr sz="1725" b="1" i="0">
                <a:solidFill>
                  <a:srgbClr val="202024"/>
                </a:solidFill>
                <a:latin typeface="Arial"/>
                <a:ea typeface="Arial"/>
                <a:cs typeface="Arial"/>
              </a:defRPr>
            </a:pPr>
            <a:r>
              <a:rPr sz="1725" b="1" i="0">
                <a:solidFill>
                  <a:srgbClr val="202024"/>
                </a:solidFill>
                <a:latin typeface="Arial"/>
                <a:ea typeface="Arial"/>
                <a:cs typeface="Arial"/>
              </a:rPr>
              <a:t>p = 1 / (1 + e^-z)</a:t>
            </a:r>
          </a:p>
        </p:txBody>
      </p:sp>
      <p:sp>
        <p:nvSpPr>
          <p:cNvPr id="13" name="">
            <a:extLst xmlns:a="http://schemas.openxmlformats.org/drawingml/2006/main">
              <a:ext uri="{FF2B5EF4-FFF2-40B4-BE49-F238E27FC236}">
                <a16:creationId xmlns:a16="http://schemas.microsoft.com/office/drawing/2014/main" id="{5D75205D-5573-4FD9-A5D0-E113E17A2ED6}"/>
              </a:ext>
            </a:extLst>
          </p:cNvPr>
          <p:cNvSpPr>
            <a:spLocks xmlns:a="http://schemas.openxmlformats.org/drawingml/2006/main" noGrp="1"/>
          </p:cNvSpPr>
          <p:nvPr/>
        </p:nvSpPr>
        <p:spPr>
          <a:xfrm xmlns:a="http://schemas.openxmlformats.org/drawingml/2006/main">
            <a:off x="628650" y="4000500"/>
            <a:ext cx="3048000" cy="1028700"/>
          </a:xfrm>
          <a:prstGeom xmlns:a="http://schemas.openxmlformats.org/drawingml/2006/main" prst="rect">
            <a:avLst/>
          </a:prstGeom>
          <a:solidFill xmlns:a="http://schemas.openxmlformats.org/drawingml/2006/main">
            <a:srgbClr val="F1E4E7"/>
          </a:solidFill>
          <a:ln xmlns:a="http://schemas.openxmlformats.org/drawingml/2006/main" w="9525">
            <a:solidFill>
              <a:srgbClr val="E7D4D9"/>
            </a:solidFill>
            <a:prstDash val="solid"/>
          </a:ln>
        </p:spPr>
      </p:sp>
      <p:sp>
        <p:nvSpPr>
          <p:cNvPr id="14" name="">
            <a:extLst xmlns:a="http://schemas.openxmlformats.org/drawingml/2006/main">
              <a:ext uri="{FF2B5EF4-FFF2-40B4-BE49-F238E27FC236}">
                <a16:creationId xmlns:a16="http://schemas.microsoft.com/office/drawing/2014/main" id="{4700768F-830D-4DE9-B4F9-23893774E342}"/>
              </a:ext>
            </a:extLst>
          </p:cNvPr>
          <p:cNvSpPr>
            <a:spLocks xmlns:a="http://schemas.openxmlformats.org/drawingml/2006/main" noGrp="1"/>
          </p:cNvSpPr>
          <p:nvPr/>
        </p:nvSpPr>
        <p:spPr>
          <a:xfrm xmlns:a="http://schemas.openxmlformats.org/drawingml/2006/main">
            <a:off x="819150" y="418147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WHY THIS BASELINE</a:t>
            </a:r>
          </a:p>
        </p:txBody>
      </p:sp>
      <p:sp>
        <p:nvSpPr>
          <p:cNvPr id="15" name="">
            <a:extLst xmlns:a="http://schemas.openxmlformats.org/drawingml/2006/main">
              <a:ext uri="{FF2B5EF4-FFF2-40B4-BE49-F238E27FC236}">
                <a16:creationId xmlns:a16="http://schemas.microsoft.com/office/drawing/2014/main" id="{883097B3-A077-4D47-AD23-F2E0186F4628}"/>
              </a:ext>
            </a:extLst>
          </p:cNvPr>
          <p:cNvSpPr>
            <a:spLocks xmlns:a="http://schemas.openxmlformats.org/drawingml/2006/main" noGrp="1"/>
          </p:cNvSpPr>
          <p:nvPr/>
        </p:nvSpPr>
        <p:spPr>
          <a:xfrm xmlns:a="http://schemas.openxmlformats.org/drawingml/2006/main">
            <a:off x="819150" y="4467225"/>
            <a:ext cx="2619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881"/>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It fits a binary classification task and remains comparatively interpretable.</a:t>
            </a:r>
          </a:p>
        </p:txBody>
      </p:sp>
      <p:sp>
        <p:nvSpPr>
          <p:cNvPr id="16" name="">
            <a:extLst xmlns:a="http://schemas.openxmlformats.org/drawingml/2006/main">
              <a:ext uri="{FF2B5EF4-FFF2-40B4-BE49-F238E27FC236}">
                <a16:creationId xmlns:a16="http://schemas.microsoft.com/office/drawing/2014/main" id="{1E27F287-56FD-49DE-805C-FC49EB940AFA}"/>
              </a:ext>
            </a:extLst>
          </p:cNvPr>
          <p:cNvSpPr>
            <a:spLocks xmlns:a="http://schemas.openxmlformats.org/drawingml/2006/main" noGrp="1"/>
          </p:cNvSpPr>
          <p:nvPr/>
        </p:nvSpPr>
        <p:spPr>
          <a:xfrm xmlns:a="http://schemas.openxmlformats.org/drawingml/2006/main">
            <a:off x="4038600" y="1657350"/>
            <a:ext cx="1333500" cy="285750"/>
          </a:xfrm>
          <a:prstGeom xmlns:a="http://schemas.openxmlformats.org/drawingml/2006/main" prst="rect">
            <a:avLst/>
          </a:prstGeom>
          <a:solidFill xmlns:a="http://schemas.openxmlformats.org/drawingml/2006/main">
            <a:srgbClr val="A67C88"/>
          </a:solidFill>
          <a:ln xmlns:a="http://schemas.openxmlformats.org/drawingml/2006/main" w="0">
            <a:solidFill>
              <a:srgbClr val="A67C88"/>
            </a:solidFill>
            <a:prstDash val="solid"/>
          </a:ln>
        </p:spPr>
      </p:sp>
      <p:sp>
        <p:nvSpPr>
          <p:cNvPr id="17" name="">
            <a:extLst xmlns:a="http://schemas.openxmlformats.org/drawingml/2006/main">
              <a:ext uri="{FF2B5EF4-FFF2-40B4-BE49-F238E27FC236}">
                <a16:creationId xmlns:a16="http://schemas.microsoft.com/office/drawing/2014/main" id="{9405B6EF-DAAB-4DDE-A711-AE4C4A83758F}"/>
              </a:ext>
            </a:extLst>
          </p:cNvPr>
          <p:cNvSpPr>
            <a:spLocks xmlns:a="http://schemas.openxmlformats.org/drawingml/2006/main" noGrp="1"/>
          </p:cNvSpPr>
          <p:nvPr/>
        </p:nvSpPr>
        <p:spPr>
          <a:xfrm xmlns:a="http://schemas.openxmlformats.org/drawingml/2006/main">
            <a:off x="4133850" y="1704975"/>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ERROR MATRIX</a:t>
            </a:r>
          </a:p>
        </p:txBody>
      </p:sp>
      <p:sp>
        <p:nvSpPr>
          <p:cNvPr id="18" name="">
            <a:extLst xmlns:a="http://schemas.openxmlformats.org/drawingml/2006/main">
              <a:ext uri="{FF2B5EF4-FFF2-40B4-BE49-F238E27FC236}">
                <a16:creationId xmlns:a16="http://schemas.microsoft.com/office/drawing/2014/main" id="{DFA1FFF5-26E1-470C-A199-F624F3D1510F}"/>
              </a:ext>
            </a:extLst>
          </p:cNvPr>
          <p:cNvSpPr>
            <a:spLocks xmlns:a="http://schemas.openxmlformats.org/drawingml/2006/main" noGrp="1"/>
          </p:cNvSpPr>
          <p:nvPr/>
        </p:nvSpPr>
        <p:spPr>
          <a:xfrm xmlns:a="http://schemas.openxmlformats.org/drawingml/2006/main">
            <a:off x="4038600" y="2057400"/>
            <a:ext cx="1657350" cy="7429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19" name="">
            <a:extLst xmlns:a="http://schemas.openxmlformats.org/drawingml/2006/main">
              <a:ext uri="{FF2B5EF4-FFF2-40B4-BE49-F238E27FC236}">
                <a16:creationId xmlns:a16="http://schemas.microsoft.com/office/drawing/2014/main" id="{7AC42EF4-2B14-4A7A-9548-4F5493C29294}"/>
              </a:ext>
            </a:extLst>
          </p:cNvPr>
          <p:cNvSpPr>
            <a:spLocks xmlns:a="http://schemas.openxmlformats.org/drawingml/2006/main" noGrp="1"/>
          </p:cNvSpPr>
          <p:nvPr/>
        </p:nvSpPr>
        <p:spPr>
          <a:xfrm xmlns:a="http://schemas.openxmlformats.org/drawingml/2006/main">
            <a:off x="4152900" y="229552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Actual / predicted</a:t>
            </a:r>
          </a:p>
        </p:txBody>
      </p:sp>
      <p:sp>
        <p:nvSpPr>
          <p:cNvPr id="20" name="">
            <a:extLst xmlns:a="http://schemas.openxmlformats.org/drawingml/2006/main">
              <a:ext uri="{FF2B5EF4-FFF2-40B4-BE49-F238E27FC236}">
                <a16:creationId xmlns:a16="http://schemas.microsoft.com/office/drawing/2014/main" id="{D256F104-1ECE-4A18-AEE0-C4E63509C077}"/>
              </a:ext>
            </a:extLst>
          </p:cNvPr>
          <p:cNvSpPr>
            <a:spLocks xmlns:a="http://schemas.openxmlformats.org/drawingml/2006/main" noGrp="1"/>
          </p:cNvSpPr>
          <p:nvPr/>
        </p:nvSpPr>
        <p:spPr>
          <a:xfrm xmlns:a="http://schemas.openxmlformats.org/drawingml/2006/main">
            <a:off x="5695950" y="2057400"/>
            <a:ext cx="1657350" cy="742950"/>
          </a:xfrm>
          <a:prstGeom xmlns:a="http://schemas.openxmlformats.org/drawingml/2006/main" prst="rect">
            <a:avLst/>
          </a:prstGeom>
          <a:solidFill xmlns:a="http://schemas.openxmlformats.org/drawingml/2006/main">
            <a:srgbClr val="F1E4E7"/>
          </a:solidFill>
          <a:ln xmlns:a="http://schemas.openxmlformats.org/drawingml/2006/main" w="9525">
            <a:solidFill>
              <a:srgbClr val="CFCFD2"/>
            </a:solidFill>
            <a:prstDash val="solid"/>
          </a:ln>
        </p:spPr>
      </p:sp>
      <p:sp>
        <p:nvSpPr>
          <p:cNvPr id="21" name="">
            <a:extLst xmlns:a="http://schemas.openxmlformats.org/drawingml/2006/main">
              <a:ext uri="{FF2B5EF4-FFF2-40B4-BE49-F238E27FC236}">
                <a16:creationId xmlns:a16="http://schemas.microsoft.com/office/drawing/2014/main" id="{FFB59DAA-FD8D-4840-847D-10A3D9C5D063}"/>
              </a:ext>
            </a:extLst>
          </p:cNvPr>
          <p:cNvSpPr>
            <a:spLocks xmlns:a="http://schemas.openxmlformats.org/drawingml/2006/main" noGrp="1"/>
          </p:cNvSpPr>
          <p:nvPr/>
        </p:nvSpPr>
        <p:spPr>
          <a:xfrm xmlns:a="http://schemas.openxmlformats.org/drawingml/2006/main">
            <a:off x="5695950" y="2295525"/>
            <a:ext cx="1657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1" i="0">
                <a:solidFill>
                  <a:srgbClr val="202024"/>
                </a:solidFill>
                <a:latin typeface="Arial"/>
                <a:ea typeface="Arial"/>
                <a:cs typeface="Arial"/>
              </a:defRPr>
            </a:pPr>
            <a:r>
              <a:rPr sz="1350" b="1" i="0">
                <a:solidFill>
                  <a:srgbClr val="202024"/>
                </a:solidFill>
                <a:latin typeface="Arial"/>
                <a:ea typeface="Arial"/>
                <a:cs typeface="Arial"/>
              </a:rPr>
              <a:t>STAY</a:t>
            </a:r>
          </a:p>
        </p:txBody>
      </p:sp>
      <p:sp>
        <p:nvSpPr>
          <p:cNvPr id="22" name="">
            <a:extLst xmlns:a="http://schemas.openxmlformats.org/drawingml/2006/main">
              <a:ext uri="{FF2B5EF4-FFF2-40B4-BE49-F238E27FC236}">
                <a16:creationId xmlns:a16="http://schemas.microsoft.com/office/drawing/2014/main" id="{0574BDAD-09DA-4861-8A3C-385F6F396BC9}"/>
              </a:ext>
            </a:extLst>
          </p:cNvPr>
          <p:cNvSpPr>
            <a:spLocks xmlns:a="http://schemas.openxmlformats.org/drawingml/2006/main" noGrp="1"/>
          </p:cNvSpPr>
          <p:nvPr/>
        </p:nvSpPr>
        <p:spPr>
          <a:xfrm xmlns:a="http://schemas.openxmlformats.org/drawingml/2006/main">
            <a:off x="7353300" y="2057400"/>
            <a:ext cx="1657350" cy="742950"/>
          </a:xfrm>
          <a:prstGeom xmlns:a="http://schemas.openxmlformats.org/drawingml/2006/main" prst="rect">
            <a:avLst/>
          </a:prstGeom>
          <a:solidFill xmlns:a="http://schemas.openxmlformats.org/drawingml/2006/main">
            <a:srgbClr val="F1E4E7"/>
          </a:solidFill>
          <a:ln xmlns:a="http://schemas.openxmlformats.org/drawingml/2006/main" w="9525">
            <a:solidFill>
              <a:srgbClr val="CFCFD2"/>
            </a:solidFill>
            <a:prstDash val="solid"/>
          </a:ln>
        </p:spPr>
      </p:sp>
      <p:sp>
        <p:nvSpPr>
          <p:cNvPr id="23" name="">
            <a:extLst xmlns:a="http://schemas.openxmlformats.org/drawingml/2006/main">
              <a:ext uri="{FF2B5EF4-FFF2-40B4-BE49-F238E27FC236}">
                <a16:creationId xmlns:a16="http://schemas.microsoft.com/office/drawing/2014/main" id="{77AE754C-FA8C-484E-9347-DB8F6C4C3422}"/>
              </a:ext>
            </a:extLst>
          </p:cNvPr>
          <p:cNvSpPr>
            <a:spLocks xmlns:a="http://schemas.openxmlformats.org/drawingml/2006/main" noGrp="1"/>
          </p:cNvSpPr>
          <p:nvPr/>
        </p:nvSpPr>
        <p:spPr>
          <a:xfrm xmlns:a="http://schemas.openxmlformats.org/drawingml/2006/main">
            <a:off x="7353300" y="2295525"/>
            <a:ext cx="1657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1" i="0">
                <a:solidFill>
                  <a:srgbClr val="202024"/>
                </a:solidFill>
                <a:latin typeface="Arial"/>
                <a:ea typeface="Arial"/>
                <a:cs typeface="Arial"/>
              </a:defRPr>
            </a:pPr>
            <a:r>
              <a:rPr sz="1350" b="1" i="0">
                <a:solidFill>
                  <a:srgbClr val="202024"/>
                </a:solidFill>
                <a:latin typeface="Arial"/>
                <a:ea typeface="Arial"/>
                <a:cs typeface="Arial"/>
              </a:rPr>
              <a:t>CHURN</a:t>
            </a:r>
          </a:p>
        </p:txBody>
      </p:sp>
      <p:sp>
        <p:nvSpPr>
          <p:cNvPr id="24" name="">
            <a:extLst xmlns:a="http://schemas.openxmlformats.org/drawingml/2006/main">
              <a:ext uri="{FF2B5EF4-FFF2-40B4-BE49-F238E27FC236}">
                <a16:creationId xmlns:a16="http://schemas.microsoft.com/office/drawing/2014/main" id="{17BCF495-042F-4D6A-9E90-4EBBA2AA4F11}"/>
              </a:ext>
            </a:extLst>
          </p:cNvPr>
          <p:cNvSpPr>
            <a:spLocks xmlns:a="http://schemas.openxmlformats.org/drawingml/2006/main" noGrp="1"/>
          </p:cNvSpPr>
          <p:nvPr/>
        </p:nvSpPr>
        <p:spPr>
          <a:xfrm xmlns:a="http://schemas.openxmlformats.org/drawingml/2006/main">
            <a:off x="4038600" y="2800350"/>
            <a:ext cx="1657350" cy="742950"/>
          </a:xfrm>
          <a:prstGeom xmlns:a="http://schemas.openxmlformats.org/drawingml/2006/main" prst="rect">
            <a:avLst/>
          </a:prstGeom>
          <a:solidFill xmlns:a="http://schemas.openxmlformats.org/drawingml/2006/main">
            <a:srgbClr val="F1E4E7"/>
          </a:solidFill>
          <a:ln xmlns:a="http://schemas.openxmlformats.org/drawingml/2006/main" w="9525">
            <a:solidFill>
              <a:srgbClr val="CFCFD2"/>
            </a:solidFill>
            <a:prstDash val="solid"/>
          </a:ln>
        </p:spPr>
      </p:sp>
      <p:sp>
        <p:nvSpPr>
          <p:cNvPr id="25" name="">
            <a:extLst xmlns:a="http://schemas.openxmlformats.org/drawingml/2006/main">
              <a:ext uri="{FF2B5EF4-FFF2-40B4-BE49-F238E27FC236}">
                <a16:creationId xmlns:a16="http://schemas.microsoft.com/office/drawing/2014/main" id="{4267D3CE-14C6-4524-AD3A-BEC8BE235466}"/>
              </a:ext>
            </a:extLst>
          </p:cNvPr>
          <p:cNvSpPr>
            <a:spLocks xmlns:a="http://schemas.openxmlformats.org/drawingml/2006/main" noGrp="1"/>
          </p:cNvSpPr>
          <p:nvPr/>
        </p:nvSpPr>
        <p:spPr>
          <a:xfrm xmlns:a="http://schemas.openxmlformats.org/drawingml/2006/main">
            <a:off x="4038600" y="3038475"/>
            <a:ext cx="1657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ACTUAL STAY</a:t>
            </a:r>
          </a:p>
        </p:txBody>
      </p:sp>
      <p:sp>
        <p:nvSpPr>
          <p:cNvPr id="26" name="">
            <a:extLst xmlns:a="http://schemas.openxmlformats.org/drawingml/2006/main">
              <a:ext uri="{FF2B5EF4-FFF2-40B4-BE49-F238E27FC236}">
                <a16:creationId xmlns:a16="http://schemas.microsoft.com/office/drawing/2014/main" id="{9DFEB948-AE84-4131-842C-518006827115}"/>
              </a:ext>
            </a:extLst>
          </p:cNvPr>
          <p:cNvSpPr>
            <a:spLocks xmlns:a="http://schemas.openxmlformats.org/drawingml/2006/main" noGrp="1"/>
          </p:cNvSpPr>
          <p:nvPr/>
        </p:nvSpPr>
        <p:spPr>
          <a:xfrm xmlns:a="http://schemas.openxmlformats.org/drawingml/2006/main">
            <a:off x="5695950" y="2800350"/>
            <a:ext cx="1657350" cy="742950"/>
          </a:xfrm>
          <a:prstGeom xmlns:a="http://schemas.openxmlformats.org/drawingml/2006/main" prst="rect">
            <a:avLst/>
          </a:prstGeom>
          <a:solidFill xmlns:a="http://schemas.openxmlformats.org/drawingml/2006/main">
            <a:srgbClr val="EDF2F0"/>
          </a:solidFill>
          <a:ln xmlns:a="http://schemas.openxmlformats.org/drawingml/2006/main" w="9525">
            <a:solidFill>
              <a:srgbClr val="CFCFD2"/>
            </a:solidFill>
            <a:prstDash val="solid"/>
          </a:ln>
        </p:spPr>
      </p:sp>
      <p:sp>
        <p:nvSpPr>
          <p:cNvPr id="27" name="">
            <a:extLst xmlns:a="http://schemas.openxmlformats.org/drawingml/2006/main">
              <a:ext uri="{FF2B5EF4-FFF2-40B4-BE49-F238E27FC236}">
                <a16:creationId xmlns:a16="http://schemas.microsoft.com/office/drawing/2014/main" id="{64758A11-533C-40B7-B836-6AB8B540A458}"/>
              </a:ext>
            </a:extLst>
          </p:cNvPr>
          <p:cNvSpPr>
            <a:spLocks xmlns:a="http://schemas.openxmlformats.org/drawingml/2006/main" noGrp="1"/>
          </p:cNvSpPr>
          <p:nvPr/>
        </p:nvSpPr>
        <p:spPr>
          <a:xfrm xmlns:a="http://schemas.openxmlformats.org/drawingml/2006/main">
            <a:off x="5695950" y="2981325"/>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719"/>
          </a:bodyPr>
          <a:lstStyle xmlns:a="http://schemas.openxmlformats.org/drawingml/2006/main"/>
          <a:p xmlns:a="http://schemas.openxmlformats.org/drawingml/2006/main">
            <a:pPr algn="ctr">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Correct stay</a:t>
            </a:r>
          </a:p>
        </p:txBody>
      </p:sp>
      <p:sp>
        <p:nvSpPr>
          <p:cNvPr id="28" name="">
            <a:extLst xmlns:a="http://schemas.openxmlformats.org/drawingml/2006/main">
              <a:ext uri="{FF2B5EF4-FFF2-40B4-BE49-F238E27FC236}">
                <a16:creationId xmlns:a16="http://schemas.microsoft.com/office/drawing/2014/main" id="{A414901A-1026-4521-BEEA-08C615A6FE41}"/>
              </a:ext>
            </a:extLst>
          </p:cNvPr>
          <p:cNvSpPr>
            <a:spLocks xmlns:a="http://schemas.openxmlformats.org/drawingml/2006/main" noGrp="1"/>
          </p:cNvSpPr>
          <p:nvPr/>
        </p:nvSpPr>
        <p:spPr>
          <a:xfrm xmlns:a="http://schemas.openxmlformats.org/drawingml/2006/main">
            <a:off x="5695950" y="3219450"/>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No alert needed</a:t>
            </a:r>
          </a:p>
        </p:txBody>
      </p:sp>
      <p:sp>
        <p:nvSpPr>
          <p:cNvPr id="29" name="">
            <a:extLst xmlns:a="http://schemas.openxmlformats.org/drawingml/2006/main">
              <a:ext uri="{FF2B5EF4-FFF2-40B4-BE49-F238E27FC236}">
                <a16:creationId xmlns:a16="http://schemas.microsoft.com/office/drawing/2014/main" id="{AF8A11DD-A1A2-4526-A924-8BC2B33BAF2F}"/>
              </a:ext>
            </a:extLst>
          </p:cNvPr>
          <p:cNvSpPr>
            <a:spLocks xmlns:a="http://schemas.openxmlformats.org/drawingml/2006/main" noGrp="1"/>
          </p:cNvSpPr>
          <p:nvPr/>
        </p:nvSpPr>
        <p:spPr>
          <a:xfrm xmlns:a="http://schemas.openxmlformats.org/drawingml/2006/main">
            <a:off x="7353300" y="2800350"/>
            <a:ext cx="1657350" cy="742950"/>
          </a:xfrm>
          <a:prstGeom xmlns:a="http://schemas.openxmlformats.org/drawingml/2006/main" prst="rect">
            <a:avLst/>
          </a:prstGeom>
          <a:solidFill xmlns:a="http://schemas.openxmlformats.org/drawingml/2006/main">
            <a:srgbClr val="F5EEE5"/>
          </a:solidFill>
          <a:ln xmlns:a="http://schemas.openxmlformats.org/drawingml/2006/main" w="9525">
            <a:solidFill>
              <a:srgbClr val="CFCFD2"/>
            </a:solidFill>
            <a:prstDash val="solid"/>
          </a:ln>
        </p:spPr>
      </p:sp>
      <p:sp>
        <p:nvSpPr>
          <p:cNvPr id="30" name="">
            <a:extLst xmlns:a="http://schemas.openxmlformats.org/drawingml/2006/main">
              <a:ext uri="{FF2B5EF4-FFF2-40B4-BE49-F238E27FC236}">
                <a16:creationId xmlns:a16="http://schemas.microsoft.com/office/drawing/2014/main" id="{DEAB1694-5C6C-4C50-88AE-C3BD831C3273}"/>
              </a:ext>
            </a:extLst>
          </p:cNvPr>
          <p:cNvSpPr>
            <a:spLocks xmlns:a="http://schemas.openxmlformats.org/drawingml/2006/main" noGrp="1"/>
          </p:cNvSpPr>
          <p:nvPr/>
        </p:nvSpPr>
        <p:spPr>
          <a:xfrm xmlns:a="http://schemas.openxmlformats.org/drawingml/2006/main">
            <a:off x="7353300" y="2981325"/>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719"/>
          </a:bodyPr>
          <a:lstStyle xmlns:a="http://schemas.openxmlformats.org/drawingml/2006/main"/>
          <a:p xmlns:a="http://schemas.openxmlformats.org/drawingml/2006/main">
            <a:pPr algn="ctr">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False alert</a:t>
            </a:r>
          </a:p>
        </p:txBody>
      </p:sp>
      <p:sp>
        <p:nvSpPr>
          <p:cNvPr id="31" name="">
            <a:extLst xmlns:a="http://schemas.openxmlformats.org/drawingml/2006/main">
              <a:ext uri="{FF2B5EF4-FFF2-40B4-BE49-F238E27FC236}">
                <a16:creationId xmlns:a16="http://schemas.microsoft.com/office/drawing/2014/main" id="{AB340D7B-43B1-421E-BC5C-48774BDA9D5D}"/>
              </a:ext>
            </a:extLst>
          </p:cNvPr>
          <p:cNvSpPr>
            <a:spLocks xmlns:a="http://schemas.openxmlformats.org/drawingml/2006/main" noGrp="1"/>
          </p:cNvSpPr>
          <p:nvPr/>
        </p:nvSpPr>
        <p:spPr>
          <a:xfrm xmlns:a="http://schemas.openxmlformats.org/drawingml/2006/main">
            <a:off x="7353300" y="3219450"/>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Unnecessary review</a:t>
            </a:r>
          </a:p>
        </p:txBody>
      </p:sp>
      <p:sp>
        <p:nvSpPr>
          <p:cNvPr id="32" name="">
            <a:extLst xmlns:a="http://schemas.openxmlformats.org/drawingml/2006/main">
              <a:ext uri="{FF2B5EF4-FFF2-40B4-BE49-F238E27FC236}">
                <a16:creationId xmlns:a16="http://schemas.microsoft.com/office/drawing/2014/main" id="{E05A6AF1-590C-482A-9BAC-3AEB0B03F73C}"/>
              </a:ext>
            </a:extLst>
          </p:cNvPr>
          <p:cNvSpPr>
            <a:spLocks xmlns:a="http://schemas.openxmlformats.org/drawingml/2006/main" noGrp="1"/>
          </p:cNvSpPr>
          <p:nvPr/>
        </p:nvSpPr>
        <p:spPr>
          <a:xfrm xmlns:a="http://schemas.openxmlformats.org/drawingml/2006/main">
            <a:off x="4038600" y="3543300"/>
            <a:ext cx="1657350" cy="742950"/>
          </a:xfrm>
          <a:prstGeom xmlns:a="http://schemas.openxmlformats.org/drawingml/2006/main" prst="rect">
            <a:avLst/>
          </a:prstGeom>
          <a:solidFill xmlns:a="http://schemas.openxmlformats.org/drawingml/2006/main">
            <a:srgbClr val="F1E4E7"/>
          </a:solidFill>
          <a:ln xmlns:a="http://schemas.openxmlformats.org/drawingml/2006/main" w="9525">
            <a:solidFill>
              <a:srgbClr val="CFCFD2"/>
            </a:solidFill>
            <a:prstDash val="solid"/>
          </a:ln>
        </p:spPr>
      </p:sp>
      <p:sp>
        <p:nvSpPr>
          <p:cNvPr id="33" name="">
            <a:extLst xmlns:a="http://schemas.openxmlformats.org/drawingml/2006/main">
              <a:ext uri="{FF2B5EF4-FFF2-40B4-BE49-F238E27FC236}">
                <a16:creationId xmlns:a16="http://schemas.microsoft.com/office/drawing/2014/main" id="{F86F2B19-A287-4708-97C7-ED8E95C9CD33}"/>
              </a:ext>
            </a:extLst>
          </p:cNvPr>
          <p:cNvSpPr>
            <a:spLocks xmlns:a="http://schemas.openxmlformats.org/drawingml/2006/main" noGrp="1"/>
          </p:cNvSpPr>
          <p:nvPr/>
        </p:nvSpPr>
        <p:spPr>
          <a:xfrm xmlns:a="http://schemas.openxmlformats.org/drawingml/2006/main">
            <a:off x="4038600" y="3781425"/>
            <a:ext cx="1657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ACTUAL CHURN</a:t>
            </a:r>
          </a:p>
        </p:txBody>
      </p:sp>
      <p:sp>
        <p:nvSpPr>
          <p:cNvPr id="34" name="">
            <a:extLst xmlns:a="http://schemas.openxmlformats.org/drawingml/2006/main">
              <a:ext uri="{FF2B5EF4-FFF2-40B4-BE49-F238E27FC236}">
                <a16:creationId xmlns:a16="http://schemas.microsoft.com/office/drawing/2014/main" id="{158FBEA1-0430-4ED7-8C75-15DF379EB316}"/>
              </a:ext>
            </a:extLst>
          </p:cNvPr>
          <p:cNvSpPr>
            <a:spLocks xmlns:a="http://schemas.openxmlformats.org/drawingml/2006/main" noGrp="1"/>
          </p:cNvSpPr>
          <p:nvPr/>
        </p:nvSpPr>
        <p:spPr>
          <a:xfrm xmlns:a="http://schemas.openxmlformats.org/drawingml/2006/main">
            <a:off x="5695950" y="3543300"/>
            <a:ext cx="1657350" cy="742950"/>
          </a:xfrm>
          <a:prstGeom xmlns:a="http://schemas.openxmlformats.org/drawingml/2006/main" prst="rect">
            <a:avLst/>
          </a:prstGeom>
          <a:solidFill xmlns:a="http://schemas.openxmlformats.org/drawingml/2006/main">
            <a:srgbClr val="F5E8EA"/>
          </a:solidFill>
          <a:ln xmlns:a="http://schemas.openxmlformats.org/drawingml/2006/main" w="9525">
            <a:solidFill>
              <a:srgbClr val="CFCFD2"/>
            </a:solidFill>
            <a:prstDash val="solid"/>
          </a:ln>
        </p:spPr>
      </p:sp>
      <p:sp>
        <p:nvSpPr>
          <p:cNvPr id="35" name="">
            <a:extLst xmlns:a="http://schemas.openxmlformats.org/drawingml/2006/main">
              <a:ext uri="{FF2B5EF4-FFF2-40B4-BE49-F238E27FC236}">
                <a16:creationId xmlns:a16="http://schemas.microsoft.com/office/drawing/2014/main" id="{C3417E1B-9C6F-4D4F-90FA-C8FAC91BD36D}"/>
              </a:ext>
            </a:extLst>
          </p:cNvPr>
          <p:cNvSpPr>
            <a:spLocks xmlns:a="http://schemas.openxmlformats.org/drawingml/2006/main" noGrp="1"/>
          </p:cNvSpPr>
          <p:nvPr/>
        </p:nvSpPr>
        <p:spPr>
          <a:xfrm xmlns:a="http://schemas.openxmlformats.org/drawingml/2006/main">
            <a:off x="5695950" y="3724275"/>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719"/>
          </a:bodyPr>
          <a:lstStyle xmlns:a="http://schemas.openxmlformats.org/drawingml/2006/main"/>
          <a:p xmlns:a="http://schemas.openxmlformats.org/drawingml/2006/main">
            <a:pPr algn="ctr">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Missed churner</a:t>
            </a:r>
          </a:p>
        </p:txBody>
      </p:sp>
      <p:sp>
        <p:nvSpPr>
          <p:cNvPr id="36" name="">
            <a:extLst xmlns:a="http://schemas.openxmlformats.org/drawingml/2006/main">
              <a:ext uri="{FF2B5EF4-FFF2-40B4-BE49-F238E27FC236}">
                <a16:creationId xmlns:a16="http://schemas.microsoft.com/office/drawing/2014/main" id="{02CD95DA-15F6-48D0-84E6-A811892710DC}"/>
              </a:ext>
            </a:extLst>
          </p:cNvPr>
          <p:cNvSpPr>
            <a:spLocks xmlns:a="http://schemas.openxmlformats.org/drawingml/2006/main" noGrp="1"/>
          </p:cNvSpPr>
          <p:nvPr/>
        </p:nvSpPr>
        <p:spPr>
          <a:xfrm xmlns:a="http://schemas.openxmlformats.org/drawingml/2006/main">
            <a:off x="5695950" y="3962400"/>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Risk remains unseen</a:t>
            </a:r>
          </a:p>
        </p:txBody>
      </p:sp>
      <p:sp>
        <p:nvSpPr>
          <p:cNvPr id="37" name="">
            <a:extLst xmlns:a="http://schemas.openxmlformats.org/drawingml/2006/main">
              <a:ext uri="{FF2B5EF4-FFF2-40B4-BE49-F238E27FC236}">
                <a16:creationId xmlns:a16="http://schemas.microsoft.com/office/drawing/2014/main" id="{92BEEF8F-7B14-4969-92B6-E4BB97C6A7A7}"/>
              </a:ext>
            </a:extLst>
          </p:cNvPr>
          <p:cNvSpPr>
            <a:spLocks xmlns:a="http://schemas.openxmlformats.org/drawingml/2006/main" noGrp="1"/>
          </p:cNvSpPr>
          <p:nvPr/>
        </p:nvSpPr>
        <p:spPr>
          <a:xfrm xmlns:a="http://schemas.openxmlformats.org/drawingml/2006/main">
            <a:off x="7353300" y="3543300"/>
            <a:ext cx="1657350" cy="742950"/>
          </a:xfrm>
          <a:prstGeom xmlns:a="http://schemas.openxmlformats.org/drawingml/2006/main" prst="rect">
            <a:avLst/>
          </a:prstGeom>
          <a:solidFill xmlns:a="http://schemas.openxmlformats.org/drawingml/2006/main">
            <a:srgbClr val="EDF2F0"/>
          </a:solidFill>
          <a:ln xmlns:a="http://schemas.openxmlformats.org/drawingml/2006/main" w="9525">
            <a:solidFill>
              <a:srgbClr val="CFCFD2"/>
            </a:solidFill>
            <a:prstDash val="solid"/>
          </a:ln>
        </p:spPr>
      </p:sp>
      <p:sp>
        <p:nvSpPr>
          <p:cNvPr id="38" name="">
            <a:extLst xmlns:a="http://schemas.openxmlformats.org/drawingml/2006/main">
              <a:ext uri="{FF2B5EF4-FFF2-40B4-BE49-F238E27FC236}">
                <a16:creationId xmlns:a16="http://schemas.microsoft.com/office/drawing/2014/main" id="{3EF4C0C1-9A90-46FE-AF8F-D429A632F230}"/>
              </a:ext>
            </a:extLst>
          </p:cNvPr>
          <p:cNvSpPr>
            <a:spLocks xmlns:a="http://schemas.openxmlformats.org/drawingml/2006/main" noGrp="1"/>
          </p:cNvSpPr>
          <p:nvPr/>
        </p:nvSpPr>
        <p:spPr>
          <a:xfrm xmlns:a="http://schemas.openxmlformats.org/drawingml/2006/main">
            <a:off x="7353300" y="3724275"/>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719"/>
          </a:bodyPr>
          <a:lstStyle xmlns:a="http://schemas.openxmlformats.org/drawingml/2006/main"/>
          <a:p xmlns:a="http://schemas.openxmlformats.org/drawingml/2006/main">
            <a:pPr algn="ctr">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Correct alert</a:t>
            </a:r>
          </a:p>
        </p:txBody>
      </p:sp>
      <p:sp>
        <p:nvSpPr>
          <p:cNvPr id="39" name="">
            <a:extLst xmlns:a="http://schemas.openxmlformats.org/drawingml/2006/main">
              <a:ext uri="{FF2B5EF4-FFF2-40B4-BE49-F238E27FC236}">
                <a16:creationId xmlns:a16="http://schemas.microsoft.com/office/drawing/2014/main" id="{AF65DCDA-7514-4A2D-B22E-195E69A51962}"/>
              </a:ext>
            </a:extLst>
          </p:cNvPr>
          <p:cNvSpPr>
            <a:spLocks xmlns:a="http://schemas.openxmlformats.org/drawingml/2006/main" noGrp="1"/>
          </p:cNvSpPr>
          <p:nvPr/>
        </p:nvSpPr>
        <p:spPr>
          <a:xfrm xmlns:a="http://schemas.openxmlformats.org/drawingml/2006/main">
            <a:off x="7353300" y="3962400"/>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Review can begin</a:t>
            </a:r>
          </a:p>
        </p:txBody>
      </p:sp>
      <p:sp>
        <p:nvSpPr>
          <p:cNvPr id="40" name="">
            <a:extLst xmlns:a="http://schemas.openxmlformats.org/drawingml/2006/main">
              <a:ext uri="{FF2B5EF4-FFF2-40B4-BE49-F238E27FC236}">
                <a16:creationId xmlns:a16="http://schemas.microsoft.com/office/drawing/2014/main" id="{2BE9CC24-CA11-48FE-95EE-7E65A09998C7}"/>
              </a:ext>
            </a:extLst>
          </p:cNvPr>
          <p:cNvSpPr>
            <a:spLocks xmlns:a="http://schemas.openxmlformats.org/drawingml/2006/main" noGrp="1"/>
          </p:cNvSpPr>
          <p:nvPr/>
        </p:nvSpPr>
        <p:spPr>
          <a:xfrm xmlns:a="http://schemas.openxmlformats.org/drawingml/2006/main">
            <a:off x="9353550" y="1657350"/>
            <a:ext cx="2133600" cy="28575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41" name="">
            <a:extLst xmlns:a="http://schemas.openxmlformats.org/drawingml/2006/main">
              <a:ext uri="{FF2B5EF4-FFF2-40B4-BE49-F238E27FC236}">
                <a16:creationId xmlns:a16="http://schemas.microsoft.com/office/drawing/2014/main" id="{CF6312A9-BD13-4C17-AB68-9B51BFF4D757}"/>
              </a:ext>
            </a:extLst>
          </p:cNvPr>
          <p:cNvSpPr>
            <a:spLocks xmlns:a="http://schemas.openxmlformats.org/drawingml/2006/main" noGrp="1"/>
          </p:cNvSpPr>
          <p:nvPr/>
        </p:nvSpPr>
        <p:spPr>
          <a:xfrm xmlns:a="http://schemas.openxmlformats.org/drawingml/2006/main">
            <a:off x="9448800" y="1704975"/>
            <a:ext cx="1943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FFFF"/>
                </a:solidFill>
                <a:latin typeface="Arial"/>
                <a:ea typeface="Arial"/>
                <a:cs typeface="Arial"/>
              </a:defRPr>
            </a:pPr>
            <a:r>
              <a:rPr sz="1125" b="1" i="0">
                <a:solidFill>
                  <a:srgbClr val="FFFFFF"/>
                </a:solidFill>
                <a:latin typeface="Arial"/>
                <a:ea typeface="Arial"/>
                <a:cs typeface="Arial"/>
              </a:rPr>
              <a:t>METRIC INTERPRETATION</a:t>
            </a:r>
          </a:p>
        </p:txBody>
      </p:sp>
      <p:sp>
        <p:nvSpPr>
          <p:cNvPr id="42" name="">
            <a:extLst xmlns:a="http://schemas.openxmlformats.org/drawingml/2006/main">
              <a:ext uri="{FF2B5EF4-FFF2-40B4-BE49-F238E27FC236}">
                <a16:creationId xmlns:a16="http://schemas.microsoft.com/office/drawing/2014/main" id="{48B77CD9-1D37-4296-8523-2BF014D68B3E}"/>
              </a:ext>
            </a:extLst>
          </p:cNvPr>
          <p:cNvSpPr>
            <a:spLocks xmlns:a="http://schemas.openxmlformats.org/drawingml/2006/main" noGrp="1"/>
          </p:cNvSpPr>
          <p:nvPr/>
        </p:nvSpPr>
        <p:spPr>
          <a:xfrm xmlns:a="http://schemas.openxmlformats.org/drawingml/2006/main">
            <a:off x="9353550" y="2076450"/>
            <a:ext cx="990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l">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Accuracy</a:t>
            </a:r>
          </a:p>
        </p:txBody>
      </p:sp>
      <p:sp>
        <p:nvSpPr>
          <p:cNvPr id="43" name="">
            <a:extLst xmlns:a="http://schemas.openxmlformats.org/drawingml/2006/main">
              <a:ext uri="{FF2B5EF4-FFF2-40B4-BE49-F238E27FC236}">
                <a16:creationId xmlns:a16="http://schemas.microsoft.com/office/drawing/2014/main" id="{160D02F1-F3C8-46F8-9C6E-BF53B77FC100}"/>
              </a:ext>
            </a:extLst>
          </p:cNvPr>
          <p:cNvSpPr>
            <a:spLocks xmlns:a="http://schemas.openxmlformats.org/drawingml/2006/main" noGrp="1"/>
          </p:cNvSpPr>
          <p:nvPr/>
        </p:nvSpPr>
        <p:spPr>
          <a:xfrm xmlns:a="http://schemas.openxmlformats.org/drawingml/2006/main">
            <a:off x="10344150" y="2076450"/>
            <a:ext cx="1219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3263"/>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Share of all predictions that are correct</a:t>
            </a:r>
          </a:p>
        </p:txBody>
      </p:sp>
      <p:sp>
        <p:nvSpPr>
          <p:cNvPr id="44" name="">
            <a:extLst xmlns:a="http://schemas.openxmlformats.org/drawingml/2006/main">
              <a:ext uri="{FF2B5EF4-FFF2-40B4-BE49-F238E27FC236}">
                <a16:creationId xmlns:a16="http://schemas.microsoft.com/office/drawing/2014/main" id="{D6F7040B-27B4-4200-9610-6C28A22D7CF6}"/>
              </a:ext>
            </a:extLst>
          </p:cNvPr>
          <p:cNvSpPr>
            <a:spLocks xmlns:a="http://schemas.openxmlformats.org/drawingml/2006/main" noGrp="1"/>
          </p:cNvSpPr>
          <p:nvPr/>
        </p:nvSpPr>
        <p:spPr>
          <a:xfrm xmlns:a="http://schemas.openxmlformats.org/drawingml/2006/main">
            <a:off x="9353550" y="2543175"/>
            <a:ext cx="22098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5" name="">
            <a:extLst xmlns:a="http://schemas.openxmlformats.org/drawingml/2006/main">
              <a:ext uri="{FF2B5EF4-FFF2-40B4-BE49-F238E27FC236}">
                <a16:creationId xmlns:a16="http://schemas.microsoft.com/office/drawing/2014/main" id="{564F69F5-BE79-4953-9C82-74DCA65EB3E9}"/>
              </a:ext>
            </a:extLst>
          </p:cNvPr>
          <p:cNvSpPr>
            <a:spLocks xmlns:a="http://schemas.openxmlformats.org/drawingml/2006/main" noGrp="1"/>
          </p:cNvSpPr>
          <p:nvPr/>
        </p:nvSpPr>
        <p:spPr>
          <a:xfrm xmlns:a="http://schemas.openxmlformats.org/drawingml/2006/main">
            <a:off x="9353550" y="2667000"/>
            <a:ext cx="990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l">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Precision</a:t>
            </a:r>
          </a:p>
        </p:txBody>
      </p:sp>
      <p:sp>
        <p:nvSpPr>
          <p:cNvPr id="46" name="">
            <a:extLst xmlns:a="http://schemas.openxmlformats.org/drawingml/2006/main">
              <a:ext uri="{FF2B5EF4-FFF2-40B4-BE49-F238E27FC236}">
                <a16:creationId xmlns:a16="http://schemas.microsoft.com/office/drawing/2014/main" id="{07BBF574-EAEB-4DCE-AC42-B4C3A9A0512C}"/>
              </a:ext>
            </a:extLst>
          </p:cNvPr>
          <p:cNvSpPr>
            <a:spLocks xmlns:a="http://schemas.openxmlformats.org/drawingml/2006/main" noGrp="1"/>
          </p:cNvSpPr>
          <p:nvPr/>
        </p:nvSpPr>
        <p:spPr>
          <a:xfrm xmlns:a="http://schemas.openxmlformats.org/drawingml/2006/main">
            <a:off x="10344150" y="2667000"/>
            <a:ext cx="1219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Reliability of churn alerts</a:t>
            </a:r>
          </a:p>
        </p:txBody>
      </p:sp>
      <p:sp>
        <p:nvSpPr>
          <p:cNvPr id="47" name="">
            <a:extLst xmlns:a="http://schemas.openxmlformats.org/drawingml/2006/main">
              <a:ext uri="{FF2B5EF4-FFF2-40B4-BE49-F238E27FC236}">
                <a16:creationId xmlns:a16="http://schemas.microsoft.com/office/drawing/2014/main" id="{EC133318-5A7A-4320-857B-EEEE0789CEFB}"/>
              </a:ext>
            </a:extLst>
          </p:cNvPr>
          <p:cNvSpPr>
            <a:spLocks xmlns:a="http://schemas.openxmlformats.org/drawingml/2006/main" noGrp="1"/>
          </p:cNvSpPr>
          <p:nvPr/>
        </p:nvSpPr>
        <p:spPr>
          <a:xfrm xmlns:a="http://schemas.openxmlformats.org/drawingml/2006/main">
            <a:off x="9353550" y="3133725"/>
            <a:ext cx="22098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8" name="">
            <a:extLst xmlns:a="http://schemas.openxmlformats.org/drawingml/2006/main">
              <a:ext uri="{FF2B5EF4-FFF2-40B4-BE49-F238E27FC236}">
                <a16:creationId xmlns:a16="http://schemas.microsoft.com/office/drawing/2014/main" id="{000F8664-FA60-4AE7-96F7-050C2E979C9B}"/>
              </a:ext>
            </a:extLst>
          </p:cNvPr>
          <p:cNvSpPr>
            <a:spLocks xmlns:a="http://schemas.openxmlformats.org/drawingml/2006/main" noGrp="1"/>
          </p:cNvSpPr>
          <p:nvPr/>
        </p:nvSpPr>
        <p:spPr>
          <a:xfrm xmlns:a="http://schemas.openxmlformats.org/drawingml/2006/main">
            <a:off x="9353550" y="3257550"/>
            <a:ext cx="990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l">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Recall</a:t>
            </a:r>
          </a:p>
        </p:txBody>
      </p:sp>
      <p:sp>
        <p:nvSpPr>
          <p:cNvPr id="49" name="">
            <a:extLst xmlns:a="http://schemas.openxmlformats.org/drawingml/2006/main">
              <a:ext uri="{FF2B5EF4-FFF2-40B4-BE49-F238E27FC236}">
                <a16:creationId xmlns:a16="http://schemas.microsoft.com/office/drawing/2014/main" id="{21863C24-FAAA-4C9F-901A-F9587DAE38C1}"/>
              </a:ext>
            </a:extLst>
          </p:cNvPr>
          <p:cNvSpPr>
            <a:spLocks xmlns:a="http://schemas.openxmlformats.org/drawingml/2006/main" noGrp="1"/>
          </p:cNvSpPr>
          <p:nvPr/>
        </p:nvSpPr>
        <p:spPr>
          <a:xfrm xmlns:a="http://schemas.openxmlformats.org/drawingml/2006/main">
            <a:off x="10344150" y="3257550"/>
            <a:ext cx="1219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Coverage of actual churners</a:t>
            </a:r>
          </a:p>
        </p:txBody>
      </p:sp>
      <p:sp>
        <p:nvSpPr>
          <p:cNvPr id="50" name="">
            <a:extLst xmlns:a="http://schemas.openxmlformats.org/drawingml/2006/main">
              <a:ext uri="{FF2B5EF4-FFF2-40B4-BE49-F238E27FC236}">
                <a16:creationId xmlns:a16="http://schemas.microsoft.com/office/drawing/2014/main" id="{5873E7C3-1D41-456D-893A-BD3AFCD6E410}"/>
              </a:ext>
            </a:extLst>
          </p:cNvPr>
          <p:cNvSpPr>
            <a:spLocks xmlns:a="http://schemas.openxmlformats.org/drawingml/2006/main" noGrp="1"/>
          </p:cNvSpPr>
          <p:nvPr/>
        </p:nvSpPr>
        <p:spPr>
          <a:xfrm xmlns:a="http://schemas.openxmlformats.org/drawingml/2006/main">
            <a:off x="9353550" y="3724275"/>
            <a:ext cx="22098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51" name="">
            <a:extLst xmlns:a="http://schemas.openxmlformats.org/drawingml/2006/main">
              <a:ext uri="{FF2B5EF4-FFF2-40B4-BE49-F238E27FC236}">
                <a16:creationId xmlns:a16="http://schemas.microsoft.com/office/drawing/2014/main" id="{7A8804D5-48A3-4C9F-9458-AB9810451AF5}"/>
              </a:ext>
            </a:extLst>
          </p:cNvPr>
          <p:cNvSpPr>
            <a:spLocks xmlns:a="http://schemas.openxmlformats.org/drawingml/2006/main" noGrp="1"/>
          </p:cNvSpPr>
          <p:nvPr/>
        </p:nvSpPr>
        <p:spPr>
          <a:xfrm xmlns:a="http://schemas.openxmlformats.org/drawingml/2006/main">
            <a:off x="9353550" y="3848100"/>
            <a:ext cx="990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l">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F1</a:t>
            </a:r>
          </a:p>
        </p:txBody>
      </p:sp>
      <p:sp>
        <p:nvSpPr>
          <p:cNvPr id="52" name="">
            <a:extLst xmlns:a="http://schemas.openxmlformats.org/drawingml/2006/main">
              <a:ext uri="{FF2B5EF4-FFF2-40B4-BE49-F238E27FC236}">
                <a16:creationId xmlns:a16="http://schemas.microsoft.com/office/drawing/2014/main" id="{C017AB82-F25C-43A2-92BF-A0F045F2780B}"/>
              </a:ext>
            </a:extLst>
          </p:cNvPr>
          <p:cNvSpPr>
            <a:spLocks xmlns:a="http://schemas.openxmlformats.org/drawingml/2006/main" noGrp="1"/>
          </p:cNvSpPr>
          <p:nvPr/>
        </p:nvSpPr>
        <p:spPr>
          <a:xfrm xmlns:a="http://schemas.openxmlformats.org/drawingml/2006/main">
            <a:off x="10344150" y="3848100"/>
            <a:ext cx="1219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817"/>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Balance of precision and recall</a:t>
            </a:r>
          </a:p>
        </p:txBody>
      </p:sp>
      <p:sp>
        <p:nvSpPr>
          <p:cNvPr id="53" name="">
            <a:extLst xmlns:a="http://schemas.openxmlformats.org/drawingml/2006/main">
              <a:ext uri="{FF2B5EF4-FFF2-40B4-BE49-F238E27FC236}">
                <a16:creationId xmlns:a16="http://schemas.microsoft.com/office/drawing/2014/main" id="{C474AFC6-476A-401B-BDAC-8ABACD4480C3}"/>
              </a:ext>
            </a:extLst>
          </p:cNvPr>
          <p:cNvSpPr>
            <a:spLocks xmlns:a="http://schemas.openxmlformats.org/drawingml/2006/main" noGrp="1"/>
          </p:cNvSpPr>
          <p:nvPr/>
        </p:nvSpPr>
        <p:spPr>
          <a:xfrm xmlns:a="http://schemas.openxmlformats.org/drawingml/2006/main">
            <a:off x="9353550" y="4314825"/>
            <a:ext cx="22098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54" name="">
            <a:extLst xmlns:a="http://schemas.openxmlformats.org/drawingml/2006/main">
              <a:ext uri="{FF2B5EF4-FFF2-40B4-BE49-F238E27FC236}">
                <a16:creationId xmlns:a16="http://schemas.microsoft.com/office/drawing/2014/main" id="{DADE2418-8856-4BC7-848E-5D8143AE9784}"/>
              </a:ext>
            </a:extLst>
          </p:cNvPr>
          <p:cNvSpPr>
            <a:spLocks xmlns:a="http://schemas.openxmlformats.org/drawingml/2006/main" noGrp="1"/>
          </p:cNvSpPr>
          <p:nvPr/>
        </p:nvSpPr>
        <p:spPr>
          <a:xfrm xmlns:a="http://schemas.openxmlformats.org/drawingml/2006/main">
            <a:off x="9353550" y="4438650"/>
            <a:ext cx="990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l">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Support</a:t>
            </a:r>
          </a:p>
        </p:txBody>
      </p:sp>
      <p:sp>
        <p:nvSpPr>
          <p:cNvPr id="55" name="">
            <a:extLst xmlns:a="http://schemas.openxmlformats.org/drawingml/2006/main">
              <a:ext uri="{FF2B5EF4-FFF2-40B4-BE49-F238E27FC236}">
                <a16:creationId xmlns:a16="http://schemas.microsoft.com/office/drawing/2014/main" id="{4E943D09-33F0-418F-8B48-8FFF7A1562E6}"/>
              </a:ext>
            </a:extLst>
          </p:cNvPr>
          <p:cNvSpPr>
            <a:spLocks xmlns:a="http://schemas.openxmlformats.org/drawingml/2006/main" noGrp="1"/>
          </p:cNvSpPr>
          <p:nvPr/>
        </p:nvSpPr>
        <p:spPr>
          <a:xfrm xmlns:a="http://schemas.openxmlformats.org/drawingml/2006/main">
            <a:off x="10344150" y="4438650"/>
            <a:ext cx="1219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Records evaluated in each class</a:t>
            </a:r>
          </a:p>
        </p:txBody>
      </p:sp>
      <p:sp>
        <p:nvSpPr>
          <p:cNvPr id="56" name="">
            <a:extLst xmlns:a="http://schemas.openxmlformats.org/drawingml/2006/main">
              <a:ext uri="{FF2B5EF4-FFF2-40B4-BE49-F238E27FC236}">
                <a16:creationId xmlns:a16="http://schemas.microsoft.com/office/drawing/2014/main" id="{B9374FEB-4BBD-49DA-922D-1E7E45F042BC}"/>
              </a:ext>
            </a:extLst>
          </p:cNvPr>
          <p:cNvSpPr>
            <a:spLocks xmlns:a="http://schemas.openxmlformats.org/drawingml/2006/main" noGrp="1"/>
          </p:cNvSpPr>
          <p:nvPr/>
        </p:nvSpPr>
        <p:spPr>
          <a:xfrm xmlns:a="http://schemas.openxmlformats.org/drawingml/2006/main">
            <a:off x="628650" y="5295900"/>
            <a:ext cx="10934700" cy="800100"/>
          </a:xfrm>
          <a:prstGeom xmlns:a="http://schemas.openxmlformats.org/drawingml/2006/main" prst="rect">
            <a:avLst/>
          </a:prstGeom>
          <a:solidFill xmlns:a="http://schemas.openxmlformats.org/drawingml/2006/main">
            <a:srgbClr val="202024"/>
          </a:solidFill>
          <a:ln xmlns:a="http://schemas.openxmlformats.org/drawingml/2006/main" w="0">
            <a:solidFill>
              <a:srgbClr val="202024"/>
            </a:solidFill>
            <a:prstDash val="solid"/>
          </a:ln>
        </p:spPr>
      </p:sp>
      <p:sp>
        <p:nvSpPr>
          <p:cNvPr id="57" name="">
            <a:extLst xmlns:a="http://schemas.openxmlformats.org/drawingml/2006/main">
              <a:ext uri="{FF2B5EF4-FFF2-40B4-BE49-F238E27FC236}">
                <a16:creationId xmlns:a16="http://schemas.microsoft.com/office/drawing/2014/main" id="{3A94226C-49CC-4D39-8B3D-447FC87A6086}"/>
              </a:ext>
            </a:extLst>
          </p:cNvPr>
          <p:cNvSpPr>
            <a:spLocks xmlns:a="http://schemas.openxmlformats.org/drawingml/2006/main" noGrp="1"/>
          </p:cNvSpPr>
          <p:nvPr/>
        </p:nvSpPr>
        <p:spPr>
          <a:xfrm xmlns:a="http://schemas.openxmlformats.org/drawingml/2006/main">
            <a:off x="819150" y="5505450"/>
            <a:ext cx="561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9738"/>
          </a:bodyPr>
          <a:lstStyle xmlns:a="http://schemas.openxmlformats.org/drawingml/2006/main"/>
          <a:p xmlns:a="http://schemas.openxmlformats.org/drawingml/2006/main">
            <a:pPr algn="l">
              <a:lnSpc>
                <a:spcPct val="100000"/>
              </a:lnSpc>
              <a:buNone/>
              <a:defRPr sz="1875" b="1" i="0">
                <a:solidFill>
                  <a:srgbClr val="FFFFFF"/>
                </a:solidFill>
                <a:latin typeface="Arial"/>
                <a:ea typeface="Arial"/>
                <a:cs typeface="Arial"/>
              </a:defRPr>
            </a:pPr>
            <a:r>
              <a:rPr sz="1875" b="1" i="0">
                <a:solidFill>
                  <a:srgbClr val="FFFFFF"/>
                </a:solidFill>
                <a:latin typeface="Arial"/>
                <a:ea typeface="Arial"/>
                <a:cs typeface="Arial"/>
              </a:rPr>
              <a:t>The master synopsis does not report numerical model results.</a:t>
            </a:r>
          </a:p>
        </p:txBody>
      </p:sp>
      <p:sp>
        <p:nvSpPr>
          <p:cNvPr id="58" name="">
            <a:extLst xmlns:a="http://schemas.openxmlformats.org/drawingml/2006/main">
              <a:ext uri="{FF2B5EF4-FFF2-40B4-BE49-F238E27FC236}">
                <a16:creationId xmlns:a16="http://schemas.microsoft.com/office/drawing/2014/main" id="{DC708DF5-C872-4A1F-AC1D-A8BB16D45153}"/>
              </a:ext>
            </a:extLst>
          </p:cNvPr>
          <p:cNvSpPr>
            <a:spLocks xmlns:a="http://schemas.openxmlformats.org/drawingml/2006/main" noGrp="1"/>
          </p:cNvSpPr>
          <p:nvPr/>
        </p:nvSpPr>
        <p:spPr>
          <a:xfrm xmlns:a="http://schemas.openxmlformats.org/drawingml/2006/main">
            <a:off x="6877050" y="5514975"/>
            <a:ext cx="4400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0745"/>
          </a:bodyPr>
          <a:lstStyle xmlns:a="http://schemas.openxmlformats.org/drawingml/2006/main"/>
          <a:p xmlns:a="http://schemas.openxmlformats.org/drawingml/2006/main">
            <a:pPr algn="r">
              <a:lnSpc>
                <a:spcPct val="100000"/>
              </a:lnSpc>
              <a:buNone/>
              <a:defRPr sz="1575" b="1" i="0">
                <a:solidFill>
                  <a:srgbClr val="FFFFFF"/>
                </a:solidFill>
                <a:latin typeface="Arial"/>
                <a:ea typeface="Arial"/>
                <a:cs typeface="Arial"/>
              </a:defRPr>
            </a:pPr>
            <a:r>
              <a:rPr sz="1575" b="1" i="0">
                <a:solidFill>
                  <a:srgbClr val="FFFFFF"/>
                </a:solidFill>
                <a:latin typeface="Arial"/>
                <a:ea typeface="Arial"/>
                <a:cs typeface="Arial"/>
              </a:rPr>
              <a:t>Classification shows association, not the cause of churn.</a:t>
            </a:r>
          </a:p>
        </p:txBody>
      </p:sp>
      <p:sp>
        <p:nvSpPr>
          <p:cNvPr id="59" name="">
            <a:extLst xmlns:a="http://schemas.openxmlformats.org/drawingml/2006/main">
              <a:ext uri="{FF2B5EF4-FFF2-40B4-BE49-F238E27FC236}">
                <a16:creationId xmlns:a16="http://schemas.microsoft.com/office/drawing/2014/main" id="{59FB2386-AE36-4266-A130-617959ADD68A}"/>
              </a:ext>
            </a:extLst>
          </p:cNvPr>
          <p:cNvSpPr>
            <a:spLocks xmlns:a="http://schemas.openxmlformats.org/drawingml/2006/main" noGrp="1"/>
          </p:cNvSpPr>
          <p:nvPr/>
        </p:nvSpPr>
        <p:spPr>
          <a:xfrm xmlns:a="http://schemas.openxmlformats.org/drawingml/2006/main">
            <a:off x="628650" y="6438900"/>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60" name="">
            <a:extLst xmlns:a="http://schemas.openxmlformats.org/drawingml/2006/main">
              <a:ext uri="{FF2B5EF4-FFF2-40B4-BE49-F238E27FC236}">
                <a16:creationId xmlns:a16="http://schemas.microsoft.com/office/drawing/2014/main" id="{1735CC8E-F37D-4F7C-B763-7C2A4C76AF4A}"/>
              </a:ext>
            </a:extLst>
          </p:cNvPr>
          <p:cNvSpPr>
            <a:spLocks xmlns:a="http://schemas.openxmlformats.org/drawingml/2006/main" noGrp="1"/>
          </p:cNvSpPr>
          <p:nvPr/>
        </p:nvSpPr>
        <p:spPr>
          <a:xfrm xmlns:a="http://schemas.openxmlformats.org/drawingml/2006/main">
            <a:off x="628650" y="6524625"/>
            <a:ext cx="10934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0" i="1">
                <a:solidFill>
                  <a:srgbClr val="202024"/>
                </a:solidFill>
                <a:latin typeface="Arial"/>
                <a:ea typeface="Arial"/>
                <a:cs typeface="Arial"/>
              </a:defRPr>
            </a:pPr>
            <a:r>
              <a:rPr sz="825" b="0" i="1">
                <a:solidFill>
                  <a:srgbClr val="202024"/>
                </a:solidFill>
                <a:latin typeface="Arial"/>
                <a:ea typeface="Arial"/>
                <a:cs typeface="Arial"/>
              </a:rPr>
              <a:t>Source: Master synopsis, sections E-G; Scikit-learn documentation for metric concepts</a:t>
            </a:r>
          </a:p>
        </p:txBody>
      </p:sp>
    </p:spTree>
    <p:extLst>
      <p:ext uri="{BB962C8B-B14F-4D97-AF65-F5344CB8AC3E}">
        <p14:creationId xmlns:p14="http://schemas.microsoft.com/office/powerpoint/2010/main" val="1704731270"/>
      </p:ext>
    </p:extLst>
  </p:cSld>
</p:sld>
</file>

<file path=ppt/slides/slide5.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72" name="">
            <a:extLst xmlns:a="http://schemas.openxmlformats.org/drawingml/2006/main">
              <a:ext uri="{FF2B5EF4-FFF2-40B4-BE49-F238E27FC236}">
                <a16:creationId xmlns:a16="http://schemas.microsoft.com/office/drawing/2014/main" id="{BB7DC9DF-4239-4A7A-A444-19A69414540A}"/>
              </a:ext>
            </a:extLst>
          </p:cNvPr>
          <p:cNvSpPr>
            <a:spLocks xmlns:a="http://schemas.openxmlformats.org/drawingml/2006/main" noGrp="1"/>
          </p:cNvSpPr>
          <p:nvPr/>
        </p:nvSpPr>
        <p:spPr>
          <a:xfrm xmlns:a="http://schemas.openxmlformats.org/drawingml/2006/main">
            <a:off x="628650" y="33337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APPLICATION AND NEXT STEPS</a:t>
            </a:r>
          </a:p>
        </p:txBody>
      </p:sp>
      <p:sp>
        <p:nvSpPr>
          <p:cNvPr id="2" name="">
            <a:extLst xmlns:a="http://schemas.openxmlformats.org/drawingml/2006/main">
              <a:ext uri="{FF2B5EF4-FFF2-40B4-BE49-F238E27FC236}">
                <a16:creationId xmlns:a16="http://schemas.microsoft.com/office/drawing/2014/main" id="{AA8352C1-36B3-458A-ADE1-F506F7BA0A0B}"/>
              </a:ext>
            </a:extLst>
          </p:cNvPr>
          <p:cNvSpPr>
            <a:spLocks xmlns:a="http://schemas.openxmlformats.org/drawingml/2006/main" noGrp="1"/>
          </p:cNvSpPr>
          <p:nvPr/>
        </p:nvSpPr>
        <p:spPr>
          <a:xfrm xmlns:a="http://schemas.openxmlformats.org/drawingml/2006/main">
            <a:off x="628650" y="638175"/>
            <a:ext cx="10934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700" b="1" i="0">
                <a:solidFill>
                  <a:srgbClr val="202024"/>
                </a:solidFill>
                <a:latin typeface="Arial"/>
                <a:ea typeface="Arial"/>
                <a:cs typeface="Arial"/>
              </a:defRPr>
            </a:pPr>
            <a:r>
              <a:rPr sz="2700" b="1" i="0">
                <a:solidFill>
                  <a:srgbClr val="202024"/>
                </a:solidFill>
                <a:latin typeface="Arial"/>
                <a:ea typeface="Arial"/>
                <a:cs typeface="Arial"/>
              </a:rPr>
              <a:t>Operational use requires stronger validation and a process around each prediction</a:t>
            </a:r>
          </a:p>
        </p:txBody>
      </p:sp>
      <p:sp>
        <p:nvSpPr>
          <p:cNvPr id="3" name="">
            <a:extLst xmlns:a="http://schemas.openxmlformats.org/drawingml/2006/main">
              <a:ext uri="{FF2B5EF4-FFF2-40B4-BE49-F238E27FC236}">
                <a16:creationId xmlns:a16="http://schemas.microsoft.com/office/drawing/2014/main" id="{28ECA744-1DEC-43EA-AF24-EEE73DC653B5}"/>
              </a:ext>
            </a:extLst>
          </p:cNvPr>
          <p:cNvSpPr>
            <a:spLocks xmlns:a="http://schemas.openxmlformats.org/drawingml/2006/main" noGrp="1"/>
          </p:cNvSpPr>
          <p:nvPr/>
        </p:nvSpPr>
        <p:spPr>
          <a:xfrm xmlns:a="http://schemas.openxmlformats.org/drawingml/2006/main">
            <a:off x="628650" y="1514475"/>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 name="">
            <a:extLst xmlns:a="http://schemas.openxmlformats.org/drawingml/2006/main">
              <a:ext uri="{FF2B5EF4-FFF2-40B4-BE49-F238E27FC236}">
                <a16:creationId xmlns:a16="http://schemas.microsoft.com/office/drawing/2014/main" id="{A03ED2C9-4653-4401-B88D-AB5A63CF2AFF}"/>
              </a:ext>
            </a:extLst>
          </p:cNvPr>
          <p:cNvSpPr>
            <a:spLocks xmlns:a="http://schemas.openxmlformats.org/drawingml/2006/main" noGrp="1"/>
          </p:cNvSpPr>
          <p:nvPr/>
        </p:nvSpPr>
        <p:spPr>
          <a:xfrm xmlns:a="http://schemas.openxmlformats.org/drawingml/2006/main">
            <a:off x="11144250" y="342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2162C82E-845E-413F-8B97-F5FF4F39FABC}"/>
              </a:ext>
            </a:extLst>
          </p:cNvPr>
          <p:cNvSpPr>
            <a:spLocks xmlns:a="http://schemas.openxmlformats.org/drawingml/2006/main" noGrp="1"/>
          </p:cNvSpPr>
          <p:nvPr/>
        </p:nvSpPr>
        <p:spPr>
          <a:xfrm xmlns:a="http://schemas.openxmlformats.org/drawingml/2006/main">
            <a:off x="628650" y="1657350"/>
            <a:ext cx="2943225" cy="28575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6" name="">
            <a:extLst xmlns:a="http://schemas.openxmlformats.org/drawingml/2006/main">
              <a:ext uri="{FF2B5EF4-FFF2-40B4-BE49-F238E27FC236}">
                <a16:creationId xmlns:a16="http://schemas.microsoft.com/office/drawing/2014/main" id="{02602A6A-9129-4FC2-A383-40B4D1C45E1A}"/>
              </a:ext>
            </a:extLst>
          </p:cNvPr>
          <p:cNvSpPr>
            <a:spLocks xmlns:a="http://schemas.openxmlformats.org/drawingml/2006/main" noGrp="1"/>
          </p:cNvSpPr>
          <p:nvPr/>
        </p:nvSpPr>
        <p:spPr>
          <a:xfrm xmlns:a="http://schemas.openxmlformats.org/drawingml/2006/main">
            <a:off x="723900" y="1704975"/>
            <a:ext cx="27527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FFFF"/>
                </a:solidFill>
                <a:latin typeface="Arial"/>
                <a:ea typeface="Arial"/>
                <a:cs typeface="Arial"/>
              </a:defRPr>
            </a:pPr>
            <a:r>
              <a:rPr sz="1125" b="1" i="0">
                <a:solidFill>
                  <a:srgbClr val="FFFFFF"/>
                </a:solidFill>
                <a:latin typeface="Arial"/>
                <a:ea typeface="Arial"/>
                <a:cs typeface="Arial"/>
              </a:rPr>
              <a:t>ILLUSTRATIVE BUSINESS WORKFLOW</a:t>
            </a:r>
          </a:p>
        </p:txBody>
      </p:sp>
      <p:sp>
        <p:nvSpPr>
          <p:cNvPr id="7" name="">
            <a:extLst xmlns:a="http://schemas.openxmlformats.org/drawingml/2006/main">
              <a:ext uri="{FF2B5EF4-FFF2-40B4-BE49-F238E27FC236}">
                <a16:creationId xmlns:a16="http://schemas.microsoft.com/office/drawing/2014/main" id="{6A364CEC-B35B-45D1-8B70-0B80971DF10E}"/>
              </a:ext>
            </a:extLst>
          </p:cNvPr>
          <p:cNvSpPr>
            <a:spLocks xmlns:a="http://schemas.openxmlformats.org/drawingml/2006/main" noGrp="1"/>
          </p:cNvSpPr>
          <p:nvPr/>
        </p:nvSpPr>
        <p:spPr>
          <a:xfrm xmlns:a="http://schemas.openxmlformats.org/drawingml/2006/main">
            <a:off x="628650" y="2057400"/>
            <a:ext cx="2552700" cy="838200"/>
          </a:xfrm>
          <a:prstGeom xmlns:a="http://schemas.openxmlformats.org/drawingml/2006/main" prst="rect">
            <a:avLst/>
          </a:prstGeom>
          <a:solidFill xmlns:a="http://schemas.openxmlformats.org/drawingml/2006/main">
            <a:srgbClr val="F1E4E7"/>
          </a:solidFill>
          <a:ln xmlns:a="http://schemas.openxmlformats.org/drawingml/2006/main" w="9525">
            <a:solidFill>
              <a:srgbClr val="CFCFD2"/>
            </a:solidFill>
            <a:prstDash val="solid"/>
          </a:ln>
        </p:spPr>
      </p:sp>
      <p:sp>
        <p:nvSpPr>
          <p:cNvPr id="8" name="">
            <a:extLst xmlns:a="http://schemas.openxmlformats.org/drawingml/2006/main">
              <a:ext uri="{FF2B5EF4-FFF2-40B4-BE49-F238E27FC236}">
                <a16:creationId xmlns:a16="http://schemas.microsoft.com/office/drawing/2014/main" id="{3497B0EA-66C4-41E4-AF05-630DFE78FE54}"/>
              </a:ext>
            </a:extLst>
          </p:cNvPr>
          <p:cNvSpPr>
            <a:spLocks xmlns:a="http://schemas.openxmlformats.org/drawingml/2006/main" noGrp="1"/>
          </p:cNvSpPr>
          <p:nvPr/>
        </p:nvSpPr>
        <p:spPr>
          <a:xfrm xmlns:a="http://schemas.openxmlformats.org/drawingml/2006/main">
            <a:off x="762000" y="2238375"/>
            <a:ext cx="266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1</a:t>
            </a:r>
          </a:p>
        </p:txBody>
      </p:sp>
      <p:sp>
        <p:nvSpPr>
          <p:cNvPr id="9" name="">
            <a:extLst xmlns:a="http://schemas.openxmlformats.org/drawingml/2006/main">
              <a:ext uri="{FF2B5EF4-FFF2-40B4-BE49-F238E27FC236}">
                <a16:creationId xmlns:a16="http://schemas.microsoft.com/office/drawing/2014/main" id="{C84EFB80-D64B-4B4B-BF73-A29F370482E5}"/>
              </a:ext>
            </a:extLst>
          </p:cNvPr>
          <p:cNvSpPr>
            <a:spLocks xmlns:a="http://schemas.openxmlformats.org/drawingml/2006/main" noGrp="1"/>
          </p:cNvSpPr>
          <p:nvPr/>
        </p:nvSpPr>
        <p:spPr>
          <a:xfrm xmlns:a="http://schemas.openxmlformats.org/drawingml/2006/main">
            <a:off x="1085850" y="220027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302"/>
          </a:bodyPr>
          <a:lstStyle xmlns:a="http://schemas.openxmlformats.org/drawingml/2006/main"/>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Prediction</a:t>
            </a:r>
          </a:p>
        </p:txBody>
      </p:sp>
      <p:sp>
        <p:nvSpPr>
          <p:cNvPr id="10" name="">
            <a:extLst xmlns:a="http://schemas.openxmlformats.org/drawingml/2006/main">
              <a:ext uri="{FF2B5EF4-FFF2-40B4-BE49-F238E27FC236}">
                <a16:creationId xmlns:a16="http://schemas.microsoft.com/office/drawing/2014/main" id="{3B65A62B-C820-4F95-8925-1AEE599B5D7B}"/>
              </a:ext>
            </a:extLst>
          </p:cNvPr>
          <p:cNvSpPr>
            <a:spLocks xmlns:a="http://schemas.openxmlformats.org/drawingml/2006/main" noGrp="1"/>
          </p:cNvSpPr>
          <p:nvPr/>
        </p:nvSpPr>
        <p:spPr>
          <a:xfrm xmlns:a="http://schemas.openxmlformats.org/drawingml/2006/main">
            <a:off x="1085850" y="247650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i="0">
                <a:solidFill>
                  <a:srgbClr val="202024"/>
                </a:solidFill>
                <a:latin typeface="Arial"/>
                <a:ea typeface="Arial"/>
                <a:cs typeface="Arial"/>
              </a:defRPr>
            </a:pPr>
            <a:r>
              <a:rPr sz="1200" b="0" i="0">
                <a:solidFill>
                  <a:srgbClr val="202024"/>
                </a:solidFill>
                <a:latin typeface="Arial"/>
                <a:ea typeface="Arial"/>
                <a:cs typeface="Arial"/>
              </a:rPr>
              <a:t>Likely stay or churn</a:t>
            </a:r>
          </a:p>
        </p:txBody>
      </p:sp>
      <p:sp>
        <p:nvSpPr>
          <p:cNvPr id="11" name="">
            <a:extLst xmlns:a="http://schemas.openxmlformats.org/drawingml/2006/main">
              <a:ext uri="{FF2B5EF4-FFF2-40B4-BE49-F238E27FC236}">
                <a16:creationId xmlns:a16="http://schemas.microsoft.com/office/drawing/2014/main" id="{CE2DCB24-B8AA-4548-B21B-B0036F59478D}"/>
              </a:ext>
            </a:extLst>
          </p:cNvPr>
          <p:cNvSpPr>
            <a:spLocks xmlns:a="http://schemas.openxmlformats.org/drawingml/2006/main" noGrp="1"/>
          </p:cNvSpPr>
          <p:nvPr/>
        </p:nvSpPr>
        <p:spPr>
          <a:xfrm xmlns:a="http://schemas.openxmlformats.org/drawingml/2006/main">
            <a:off x="3181350" y="247650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12" name="">
            <a:extLst xmlns:a="http://schemas.openxmlformats.org/drawingml/2006/main">
              <a:ext uri="{FF2B5EF4-FFF2-40B4-BE49-F238E27FC236}">
                <a16:creationId xmlns:a16="http://schemas.microsoft.com/office/drawing/2014/main" id="{0A35F312-97BC-44D2-855B-F83758E67182}"/>
              </a:ext>
            </a:extLst>
          </p:cNvPr>
          <p:cNvSpPr>
            <a:spLocks xmlns:a="http://schemas.openxmlformats.org/drawingml/2006/main" noGrp="1"/>
          </p:cNvSpPr>
          <p:nvPr/>
        </p:nvSpPr>
        <p:spPr>
          <a:xfrm xmlns:a="http://schemas.openxmlformats.org/drawingml/2006/main">
            <a:off x="3371850" y="2057400"/>
            <a:ext cx="25527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13" name="">
            <a:extLst xmlns:a="http://schemas.openxmlformats.org/drawingml/2006/main">
              <a:ext uri="{FF2B5EF4-FFF2-40B4-BE49-F238E27FC236}">
                <a16:creationId xmlns:a16="http://schemas.microsoft.com/office/drawing/2014/main" id="{3C67E39E-5534-4808-8C66-27F53549BAAD}"/>
              </a:ext>
            </a:extLst>
          </p:cNvPr>
          <p:cNvSpPr>
            <a:spLocks xmlns:a="http://schemas.openxmlformats.org/drawingml/2006/main" noGrp="1"/>
          </p:cNvSpPr>
          <p:nvPr/>
        </p:nvSpPr>
        <p:spPr>
          <a:xfrm xmlns:a="http://schemas.openxmlformats.org/drawingml/2006/main">
            <a:off x="3505200" y="2238375"/>
            <a:ext cx="266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35722D31-F1D0-4D36-8D44-BE8AB1C1C2FF}"/>
              </a:ext>
            </a:extLst>
          </p:cNvPr>
          <p:cNvSpPr>
            <a:spLocks xmlns:a="http://schemas.openxmlformats.org/drawingml/2006/main" noGrp="1"/>
          </p:cNvSpPr>
          <p:nvPr/>
        </p:nvSpPr>
        <p:spPr>
          <a:xfrm xmlns:a="http://schemas.openxmlformats.org/drawingml/2006/main">
            <a:off x="3829050" y="220027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302"/>
          </a:bodyPr>
          <a:lstStyle xmlns:a="http://schemas.openxmlformats.org/drawingml/2006/main"/>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Account review</a:t>
            </a:r>
          </a:p>
        </p:txBody>
      </p:sp>
      <p:sp>
        <p:nvSpPr>
          <p:cNvPr id="15" name="">
            <a:extLst xmlns:a="http://schemas.openxmlformats.org/drawingml/2006/main">
              <a:ext uri="{FF2B5EF4-FFF2-40B4-BE49-F238E27FC236}">
                <a16:creationId xmlns:a16="http://schemas.microsoft.com/office/drawing/2014/main" id="{3D5C7EEB-58E2-44C0-8ED6-C022F454B397}"/>
              </a:ext>
            </a:extLst>
          </p:cNvPr>
          <p:cNvSpPr>
            <a:spLocks xmlns:a="http://schemas.openxmlformats.org/drawingml/2006/main" noGrp="1"/>
          </p:cNvSpPr>
          <p:nvPr/>
        </p:nvSpPr>
        <p:spPr>
          <a:xfrm xmlns:a="http://schemas.openxmlformats.org/drawingml/2006/main">
            <a:off x="3829050" y="247650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i="0">
                <a:solidFill>
                  <a:srgbClr val="202024"/>
                </a:solidFill>
                <a:latin typeface="Arial"/>
                <a:ea typeface="Arial"/>
                <a:cs typeface="Arial"/>
              </a:defRPr>
            </a:pPr>
            <a:r>
              <a:rPr sz="1200" b="0" i="0">
                <a:solidFill>
                  <a:srgbClr val="202024"/>
                </a:solidFill>
                <a:latin typeface="Arial"/>
                <a:ea typeface="Arial"/>
                <a:cs typeface="Arial"/>
              </a:rPr>
              <a:t>Check customer context</a:t>
            </a:r>
          </a:p>
        </p:txBody>
      </p:sp>
      <p:sp>
        <p:nvSpPr>
          <p:cNvPr id="16" name="">
            <a:extLst xmlns:a="http://schemas.openxmlformats.org/drawingml/2006/main">
              <a:ext uri="{FF2B5EF4-FFF2-40B4-BE49-F238E27FC236}">
                <a16:creationId xmlns:a16="http://schemas.microsoft.com/office/drawing/2014/main" id="{A5C96792-B736-4937-926E-A70A07E7CC22}"/>
              </a:ext>
            </a:extLst>
          </p:cNvPr>
          <p:cNvSpPr>
            <a:spLocks xmlns:a="http://schemas.openxmlformats.org/drawingml/2006/main" noGrp="1"/>
          </p:cNvSpPr>
          <p:nvPr/>
        </p:nvSpPr>
        <p:spPr>
          <a:xfrm xmlns:a="http://schemas.openxmlformats.org/drawingml/2006/main">
            <a:off x="5924550" y="247650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17" name="">
            <a:extLst xmlns:a="http://schemas.openxmlformats.org/drawingml/2006/main">
              <a:ext uri="{FF2B5EF4-FFF2-40B4-BE49-F238E27FC236}">
                <a16:creationId xmlns:a16="http://schemas.microsoft.com/office/drawing/2014/main" id="{F0939FCA-D877-4ED5-9708-1985FA1939E6}"/>
              </a:ext>
            </a:extLst>
          </p:cNvPr>
          <p:cNvSpPr>
            <a:spLocks xmlns:a="http://schemas.openxmlformats.org/drawingml/2006/main" noGrp="1"/>
          </p:cNvSpPr>
          <p:nvPr/>
        </p:nvSpPr>
        <p:spPr>
          <a:xfrm xmlns:a="http://schemas.openxmlformats.org/drawingml/2006/main">
            <a:off x="6115050" y="2057400"/>
            <a:ext cx="25527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18" name="">
            <a:extLst xmlns:a="http://schemas.openxmlformats.org/drawingml/2006/main">
              <a:ext uri="{FF2B5EF4-FFF2-40B4-BE49-F238E27FC236}">
                <a16:creationId xmlns:a16="http://schemas.microsoft.com/office/drawing/2014/main" id="{230CD596-DC93-4C2F-9981-5DACC2D8EBB4}"/>
              </a:ext>
            </a:extLst>
          </p:cNvPr>
          <p:cNvSpPr>
            <a:spLocks xmlns:a="http://schemas.openxmlformats.org/drawingml/2006/main" noGrp="1"/>
          </p:cNvSpPr>
          <p:nvPr/>
        </p:nvSpPr>
        <p:spPr>
          <a:xfrm xmlns:a="http://schemas.openxmlformats.org/drawingml/2006/main">
            <a:off x="6248400" y="2238375"/>
            <a:ext cx="266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3</a:t>
            </a:r>
          </a:p>
        </p:txBody>
      </p:sp>
      <p:sp>
        <p:nvSpPr>
          <p:cNvPr id="19" name="">
            <a:extLst xmlns:a="http://schemas.openxmlformats.org/drawingml/2006/main">
              <a:ext uri="{FF2B5EF4-FFF2-40B4-BE49-F238E27FC236}">
                <a16:creationId xmlns:a16="http://schemas.microsoft.com/office/drawing/2014/main" id="{FBB170FC-0489-44AA-BAD1-3051D3A443EB}"/>
              </a:ext>
            </a:extLst>
          </p:cNvPr>
          <p:cNvSpPr>
            <a:spLocks xmlns:a="http://schemas.openxmlformats.org/drawingml/2006/main" noGrp="1"/>
          </p:cNvSpPr>
          <p:nvPr/>
        </p:nvSpPr>
        <p:spPr>
          <a:xfrm xmlns:a="http://schemas.openxmlformats.org/drawingml/2006/main">
            <a:off x="6572250" y="220027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302"/>
          </a:bodyPr>
          <a:lstStyle xmlns:a="http://schemas.openxmlformats.org/drawingml/2006/main"/>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Response</a:t>
            </a:r>
          </a:p>
        </p:txBody>
      </p:sp>
      <p:sp>
        <p:nvSpPr>
          <p:cNvPr id="20" name="">
            <a:extLst xmlns:a="http://schemas.openxmlformats.org/drawingml/2006/main">
              <a:ext uri="{FF2B5EF4-FFF2-40B4-BE49-F238E27FC236}">
                <a16:creationId xmlns:a16="http://schemas.microsoft.com/office/drawing/2014/main" id="{976C841F-3571-4608-B5FA-A09D4EC7879F}"/>
              </a:ext>
            </a:extLst>
          </p:cNvPr>
          <p:cNvSpPr>
            <a:spLocks xmlns:a="http://schemas.openxmlformats.org/drawingml/2006/main" noGrp="1"/>
          </p:cNvSpPr>
          <p:nvPr/>
        </p:nvSpPr>
        <p:spPr>
          <a:xfrm xmlns:a="http://schemas.openxmlformats.org/drawingml/2006/main">
            <a:off x="6572250" y="247650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3333"/>
          </a:bodyPr>
          <a:lstStyle xmlns:a="http://schemas.openxmlformats.org/drawingml/2006/main"/>
          <a:p xmlns:a="http://schemas.openxmlformats.org/drawingml/2006/main">
            <a:pPr algn="l">
              <a:lnSpc>
                <a:spcPct val="100000"/>
              </a:lnSpc>
              <a:buNone/>
              <a:defRPr sz="1200" b="0" i="0">
                <a:solidFill>
                  <a:srgbClr val="202024"/>
                </a:solidFill>
                <a:latin typeface="Arial"/>
                <a:ea typeface="Arial"/>
                <a:cs typeface="Arial"/>
              </a:defRPr>
            </a:pPr>
            <a:r>
              <a:rPr sz="1200" b="0" i="0">
                <a:solidFill>
                  <a:srgbClr val="202024"/>
                </a:solidFill>
                <a:latin typeface="Arial"/>
                <a:ea typeface="Arial"/>
                <a:cs typeface="Arial"/>
              </a:rPr>
              <a:t>Engagement, service recovery or offer</a:t>
            </a:r>
          </a:p>
        </p:txBody>
      </p:sp>
      <p:sp>
        <p:nvSpPr>
          <p:cNvPr id="21" name="">
            <a:extLst xmlns:a="http://schemas.openxmlformats.org/drawingml/2006/main">
              <a:ext uri="{FF2B5EF4-FFF2-40B4-BE49-F238E27FC236}">
                <a16:creationId xmlns:a16="http://schemas.microsoft.com/office/drawing/2014/main" id="{E1D2C2D4-EC81-4218-98F5-BD7F257EC7C6}"/>
              </a:ext>
            </a:extLst>
          </p:cNvPr>
          <p:cNvSpPr>
            <a:spLocks xmlns:a="http://schemas.openxmlformats.org/drawingml/2006/main" noGrp="1"/>
          </p:cNvSpPr>
          <p:nvPr/>
        </p:nvSpPr>
        <p:spPr>
          <a:xfrm xmlns:a="http://schemas.openxmlformats.org/drawingml/2006/main">
            <a:off x="8667750" y="247650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22" name="">
            <a:extLst xmlns:a="http://schemas.openxmlformats.org/drawingml/2006/main">
              <a:ext uri="{FF2B5EF4-FFF2-40B4-BE49-F238E27FC236}">
                <a16:creationId xmlns:a16="http://schemas.microsoft.com/office/drawing/2014/main" id="{40B8DB53-B56C-4089-B49A-A79A4ACE7AE2}"/>
              </a:ext>
            </a:extLst>
          </p:cNvPr>
          <p:cNvSpPr>
            <a:spLocks xmlns:a="http://schemas.openxmlformats.org/drawingml/2006/main" noGrp="1"/>
          </p:cNvSpPr>
          <p:nvPr/>
        </p:nvSpPr>
        <p:spPr>
          <a:xfrm xmlns:a="http://schemas.openxmlformats.org/drawingml/2006/main">
            <a:off x="8858250" y="2057400"/>
            <a:ext cx="25527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23" name="">
            <a:extLst xmlns:a="http://schemas.openxmlformats.org/drawingml/2006/main">
              <a:ext uri="{FF2B5EF4-FFF2-40B4-BE49-F238E27FC236}">
                <a16:creationId xmlns:a16="http://schemas.microsoft.com/office/drawing/2014/main" id="{C0EBDAA6-7895-446F-B4CF-4B69958C0FE0}"/>
              </a:ext>
            </a:extLst>
          </p:cNvPr>
          <p:cNvSpPr>
            <a:spLocks xmlns:a="http://schemas.openxmlformats.org/drawingml/2006/main" noGrp="1"/>
          </p:cNvSpPr>
          <p:nvPr/>
        </p:nvSpPr>
        <p:spPr>
          <a:xfrm xmlns:a="http://schemas.openxmlformats.org/drawingml/2006/main">
            <a:off x="8991600" y="2238375"/>
            <a:ext cx="266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4</a:t>
            </a:r>
          </a:p>
        </p:txBody>
      </p:sp>
      <p:sp>
        <p:nvSpPr>
          <p:cNvPr id="24" name="">
            <a:extLst xmlns:a="http://schemas.openxmlformats.org/drawingml/2006/main">
              <a:ext uri="{FF2B5EF4-FFF2-40B4-BE49-F238E27FC236}">
                <a16:creationId xmlns:a16="http://schemas.microsoft.com/office/drawing/2014/main" id="{32F3BF9C-0B4F-4639-A6A9-CDE38E86E6AF}"/>
              </a:ext>
            </a:extLst>
          </p:cNvPr>
          <p:cNvSpPr>
            <a:spLocks xmlns:a="http://schemas.openxmlformats.org/drawingml/2006/main" noGrp="1"/>
          </p:cNvSpPr>
          <p:nvPr/>
        </p:nvSpPr>
        <p:spPr>
          <a:xfrm xmlns:a="http://schemas.openxmlformats.org/drawingml/2006/main">
            <a:off x="9315450" y="220027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302"/>
          </a:bodyPr>
          <a:lstStyle xmlns:a="http://schemas.openxmlformats.org/drawingml/2006/main"/>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Outcome capture</a:t>
            </a:r>
          </a:p>
        </p:txBody>
      </p:sp>
      <p:sp>
        <p:nvSpPr>
          <p:cNvPr id="25" name="">
            <a:extLst xmlns:a="http://schemas.openxmlformats.org/drawingml/2006/main">
              <a:ext uri="{FF2B5EF4-FFF2-40B4-BE49-F238E27FC236}">
                <a16:creationId xmlns:a16="http://schemas.microsoft.com/office/drawing/2014/main" id="{73AFBC33-0A19-42CD-B5A4-8504731CFCFF}"/>
              </a:ext>
            </a:extLst>
          </p:cNvPr>
          <p:cNvSpPr>
            <a:spLocks xmlns:a="http://schemas.openxmlformats.org/drawingml/2006/main" noGrp="1"/>
          </p:cNvSpPr>
          <p:nvPr/>
        </p:nvSpPr>
        <p:spPr>
          <a:xfrm xmlns:a="http://schemas.openxmlformats.org/drawingml/2006/main">
            <a:off x="9315450" y="247650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i="0">
                <a:solidFill>
                  <a:srgbClr val="202024"/>
                </a:solidFill>
                <a:latin typeface="Arial"/>
                <a:ea typeface="Arial"/>
                <a:cs typeface="Arial"/>
              </a:defRPr>
            </a:pPr>
            <a:r>
              <a:rPr sz="1200" b="0" i="0">
                <a:solidFill>
                  <a:srgbClr val="202024"/>
                </a:solidFill>
                <a:latin typeface="Arial"/>
                <a:ea typeface="Arial"/>
                <a:cs typeface="Arial"/>
              </a:rPr>
              <a:t>Record what happened</a:t>
            </a:r>
          </a:p>
        </p:txBody>
      </p:sp>
      <p:sp>
        <p:nvSpPr>
          <p:cNvPr id="26" name="">
            <a:extLst xmlns:a="http://schemas.openxmlformats.org/drawingml/2006/main">
              <a:ext uri="{FF2B5EF4-FFF2-40B4-BE49-F238E27FC236}">
                <a16:creationId xmlns:a16="http://schemas.microsoft.com/office/drawing/2014/main" id="{A3B29163-E2AC-4EDE-B2D9-17C5EDA8BDBF}"/>
              </a:ext>
            </a:extLst>
          </p:cNvPr>
          <p:cNvSpPr>
            <a:spLocks xmlns:a="http://schemas.openxmlformats.org/drawingml/2006/main" noGrp="1"/>
          </p:cNvSpPr>
          <p:nvPr/>
        </p:nvSpPr>
        <p:spPr>
          <a:xfrm xmlns:a="http://schemas.openxmlformats.org/drawingml/2006/main">
            <a:off x="628650" y="3143250"/>
            <a:ext cx="1495425" cy="285750"/>
          </a:xfrm>
          <a:prstGeom xmlns:a="http://schemas.openxmlformats.org/drawingml/2006/main" prst="rect">
            <a:avLst/>
          </a:prstGeom>
          <a:solidFill xmlns:a="http://schemas.openxmlformats.org/drawingml/2006/main">
            <a:srgbClr val="A67C88"/>
          </a:solidFill>
          <a:ln xmlns:a="http://schemas.openxmlformats.org/drawingml/2006/main" w="0">
            <a:solidFill>
              <a:srgbClr val="A67C88"/>
            </a:solidFill>
            <a:prstDash val="solid"/>
          </a:ln>
        </p:spPr>
      </p:sp>
      <p:sp>
        <p:nvSpPr>
          <p:cNvPr id="27" name="">
            <a:extLst xmlns:a="http://schemas.openxmlformats.org/drawingml/2006/main">
              <a:ext uri="{FF2B5EF4-FFF2-40B4-BE49-F238E27FC236}">
                <a16:creationId xmlns:a16="http://schemas.microsoft.com/office/drawing/2014/main" id="{4A7C2346-F595-49A6-9281-6D726769952C}"/>
              </a:ext>
            </a:extLst>
          </p:cNvPr>
          <p:cNvSpPr>
            <a:spLocks xmlns:a="http://schemas.openxmlformats.org/drawingml/2006/main" noGrp="1"/>
          </p:cNvSpPr>
          <p:nvPr/>
        </p:nvSpPr>
        <p:spPr>
          <a:xfrm xmlns:a="http://schemas.openxmlformats.org/drawingml/2006/main">
            <a:off x="723900" y="3190875"/>
            <a:ext cx="13049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CAPABILITY GAP</a:t>
            </a:r>
          </a:p>
        </p:txBody>
      </p:sp>
      <p:sp>
        <p:nvSpPr>
          <p:cNvPr id="28" name="">
            <a:extLst xmlns:a="http://schemas.openxmlformats.org/drawingml/2006/main">
              <a:ext uri="{FF2B5EF4-FFF2-40B4-BE49-F238E27FC236}">
                <a16:creationId xmlns:a16="http://schemas.microsoft.com/office/drawing/2014/main" id="{2D54F51E-52F1-4331-9E20-C55EFD6DF28B}"/>
              </a:ext>
            </a:extLst>
          </p:cNvPr>
          <p:cNvSpPr>
            <a:spLocks xmlns:a="http://schemas.openxmlformats.org/drawingml/2006/main" noGrp="1"/>
          </p:cNvSpPr>
          <p:nvPr/>
        </p:nvSpPr>
        <p:spPr>
          <a:xfrm xmlns:a="http://schemas.openxmlformats.org/drawingml/2006/main">
            <a:off x="628650" y="3543300"/>
            <a:ext cx="1428750" cy="40005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29" name="">
            <a:extLst xmlns:a="http://schemas.openxmlformats.org/drawingml/2006/main">
              <a:ext uri="{FF2B5EF4-FFF2-40B4-BE49-F238E27FC236}">
                <a16:creationId xmlns:a16="http://schemas.microsoft.com/office/drawing/2014/main" id="{F6F6D039-5DDC-42F7-AEC8-87A5A2F074AF}"/>
              </a:ext>
            </a:extLst>
          </p:cNvPr>
          <p:cNvSpPr>
            <a:spLocks xmlns:a="http://schemas.openxmlformats.org/drawingml/2006/main" noGrp="1"/>
          </p:cNvSpPr>
          <p:nvPr/>
        </p:nvSpPr>
        <p:spPr>
          <a:xfrm xmlns:a="http://schemas.openxmlformats.org/drawingml/2006/main">
            <a:off x="723900" y="3667125"/>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FFFF"/>
                </a:solidFill>
                <a:latin typeface="Arial"/>
                <a:ea typeface="Arial"/>
                <a:cs typeface="Arial"/>
              </a:defRPr>
            </a:pPr>
            <a:r>
              <a:rPr sz="1125" b="1" i="0">
                <a:solidFill>
                  <a:srgbClr val="FFFFFF"/>
                </a:solidFill>
                <a:latin typeface="Arial"/>
                <a:ea typeface="Arial"/>
                <a:cs typeface="Arial"/>
              </a:rPr>
              <a:t>DIMENSION</a:t>
            </a:r>
          </a:p>
        </p:txBody>
      </p:sp>
      <p:sp>
        <p:nvSpPr>
          <p:cNvPr id="30" name="">
            <a:extLst xmlns:a="http://schemas.openxmlformats.org/drawingml/2006/main">
              <a:ext uri="{FF2B5EF4-FFF2-40B4-BE49-F238E27FC236}">
                <a16:creationId xmlns:a16="http://schemas.microsoft.com/office/drawing/2014/main" id="{F8F708AF-4BE4-4F00-B378-51F6E956FBE9}"/>
              </a:ext>
            </a:extLst>
          </p:cNvPr>
          <p:cNvSpPr>
            <a:spLocks xmlns:a="http://schemas.openxmlformats.org/drawingml/2006/main" noGrp="1"/>
          </p:cNvSpPr>
          <p:nvPr/>
        </p:nvSpPr>
        <p:spPr>
          <a:xfrm xmlns:a="http://schemas.openxmlformats.org/drawingml/2006/main">
            <a:off x="2057400" y="3543300"/>
            <a:ext cx="2905125" cy="40005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31" name="">
            <a:extLst xmlns:a="http://schemas.openxmlformats.org/drawingml/2006/main">
              <a:ext uri="{FF2B5EF4-FFF2-40B4-BE49-F238E27FC236}">
                <a16:creationId xmlns:a16="http://schemas.microsoft.com/office/drawing/2014/main" id="{1568F4ED-EC05-48B3-9384-97CC61DA383F}"/>
              </a:ext>
            </a:extLst>
          </p:cNvPr>
          <p:cNvSpPr>
            <a:spLocks xmlns:a="http://schemas.openxmlformats.org/drawingml/2006/main" noGrp="1"/>
          </p:cNvSpPr>
          <p:nvPr/>
        </p:nvSpPr>
        <p:spPr>
          <a:xfrm xmlns:a="http://schemas.openxmlformats.org/drawingml/2006/main">
            <a:off x="2152650" y="3667125"/>
            <a:ext cx="2714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FFFF"/>
                </a:solidFill>
                <a:latin typeface="Arial"/>
                <a:ea typeface="Arial"/>
                <a:cs typeface="Arial"/>
              </a:defRPr>
            </a:pPr>
            <a:r>
              <a:rPr sz="1125" b="1" i="0">
                <a:solidFill>
                  <a:srgbClr val="FFFFFF"/>
                </a:solidFill>
                <a:latin typeface="Arial"/>
                <a:ea typeface="Arial"/>
                <a:cs typeface="Arial"/>
              </a:rPr>
              <a:t>DOCUMENTED STATE</a:t>
            </a:r>
          </a:p>
        </p:txBody>
      </p:sp>
      <p:sp>
        <p:nvSpPr>
          <p:cNvPr id="32" name="">
            <a:extLst xmlns:a="http://schemas.openxmlformats.org/drawingml/2006/main">
              <a:ext uri="{FF2B5EF4-FFF2-40B4-BE49-F238E27FC236}">
                <a16:creationId xmlns:a16="http://schemas.microsoft.com/office/drawing/2014/main" id="{9C975A8E-B28F-4CE9-89FC-5C73F0C0C8C4}"/>
              </a:ext>
            </a:extLst>
          </p:cNvPr>
          <p:cNvSpPr>
            <a:spLocks xmlns:a="http://schemas.openxmlformats.org/drawingml/2006/main" noGrp="1"/>
          </p:cNvSpPr>
          <p:nvPr/>
        </p:nvSpPr>
        <p:spPr>
          <a:xfrm xmlns:a="http://schemas.openxmlformats.org/drawingml/2006/main">
            <a:off x="4962525" y="3543300"/>
            <a:ext cx="2905125" cy="40005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33" name="">
            <a:extLst xmlns:a="http://schemas.openxmlformats.org/drawingml/2006/main">
              <a:ext uri="{FF2B5EF4-FFF2-40B4-BE49-F238E27FC236}">
                <a16:creationId xmlns:a16="http://schemas.microsoft.com/office/drawing/2014/main" id="{E78B05B4-1CCE-431C-BAE0-6DE36BF154EE}"/>
              </a:ext>
            </a:extLst>
          </p:cNvPr>
          <p:cNvSpPr>
            <a:spLocks xmlns:a="http://schemas.openxmlformats.org/drawingml/2006/main" noGrp="1"/>
          </p:cNvSpPr>
          <p:nvPr/>
        </p:nvSpPr>
        <p:spPr>
          <a:xfrm xmlns:a="http://schemas.openxmlformats.org/drawingml/2006/main">
            <a:off x="5057775" y="3667125"/>
            <a:ext cx="2714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FFFF"/>
                </a:solidFill>
                <a:latin typeface="Arial"/>
                <a:ea typeface="Arial"/>
                <a:cs typeface="Arial"/>
              </a:defRPr>
            </a:pPr>
            <a:r>
              <a:rPr sz="1125" b="1" i="0">
                <a:solidFill>
                  <a:srgbClr val="FFFFFF"/>
                </a:solidFill>
                <a:latin typeface="Arial"/>
                <a:ea typeface="Arial"/>
                <a:cs typeface="Arial"/>
              </a:rPr>
              <a:t>WHY IT MATTERS</a:t>
            </a:r>
          </a:p>
        </p:txBody>
      </p:sp>
      <p:sp>
        <p:nvSpPr>
          <p:cNvPr id="34" name="">
            <a:extLst xmlns:a="http://schemas.openxmlformats.org/drawingml/2006/main">
              <a:ext uri="{FF2B5EF4-FFF2-40B4-BE49-F238E27FC236}">
                <a16:creationId xmlns:a16="http://schemas.microsoft.com/office/drawing/2014/main" id="{EB439918-393B-43B3-96CB-1DFDCEFB004A}"/>
              </a:ext>
            </a:extLst>
          </p:cNvPr>
          <p:cNvSpPr>
            <a:spLocks xmlns:a="http://schemas.openxmlformats.org/drawingml/2006/main" noGrp="1"/>
          </p:cNvSpPr>
          <p:nvPr/>
        </p:nvSpPr>
        <p:spPr>
          <a:xfrm xmlns:a="http://schemas.openxmlformats.org/drawingml/2006/main">
            <a:off x="7867650" y="3543300"/>
            <a:ext cx="3695700" cy="40005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35" name="">
            <a:extLst xmlns:a="http://schemas.openxmlformats.org/drawingml/2006/main">
              <a:ext uri="{FF2B5EF4-FFF2-40B4-BE49-F238E27FC236}">
                <a16:creationId xmlns:a16="http://schemas.microsoft.com/office/drawing/2014/main" id="{6556D711-76EB-44FC-89BE-32B51616D474}"/>
              </a:ext>
            </a:extLst>
          </p:cNvPr>
          <p:cNvSpPr>
            <a:spLocks xmlns:a="http://schemas.openxmlformats.org/drawingml/2006/main" noGrp="1"/>
          </p:cNvSpPr>
          <p:nvPr/>
        </p:nvSpPr>
        <p:spPr>
          <a:xfrm xmlns:a="http://schemas.openxmlformats.org/drawingml/2006/main">
            <a:off x="7962900" y="3667125"/>
            <a:ext cx="3505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FFFF"/>
                </a:solidFill>
                <a:latin typeface="Arial"/>
                <a:ea typeface="Arial"/>
                <a:cs typeface="Arial"/>
              </a:defRPr>
            </a:pPr>
            <a:r>
              <a:rPr sz="1125" b="1" i="0">
                <a:solidFill>
                  <a:srgbClr val="FFFFFF"/>
                </a:solidFill>
                <a:latin typeface="Arial"/>
                <a:ea typeface="Arial"/>
                <a:cs typeface="Arial"/>
              </a:rPr>
              <a:t>IMPROVEMENT PATH</a:t>
            </a:r>
          </a:p>
        </p:txBody>
      </p:sp>
      <p:sp>
        <p:nvSpPr>
          <p:cNvPr id="36" name="">
            <a:extLst xmlns:a="http://schemas.openxmlformats.org/drawingml/2006/main">
              <a:ext uri="{FF2B5EF4-FFF2-40B4-BE49-F238E27FC236}">
                <a16:creationId xmlns:a16="http://schemas.microsoft.com/office/drawing/2014/main" id="{569D8C8A-4863-43F6-83F7-94BBC7E2F6E8}"/>
              </a:ext>
            </a:extLst>
          </p:cNvPr>
          <p:cNvSpPr>
            <a:spLocks xmlns:a="http://schemas.openxmlformats.org/drawingml/2006/main" noGrp="1"/>
          </p:cNvSpPr>
          <p:nvPr/>
        </p:nvSpPr>
        <p:spPr>
          <a:xfrm xmlns:a="http://schemas.openxmlformats.org/drawingml/2006/main">
            <a:off x="628650" y="3943350"/>
            <a:ext cx="1428750" cy="5143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37" name="">
            <a:extLst xmlns:a="http://schemas.openxmlformats.org/drawingml/2006/main">
              <a:ext uri="{FF2B5EF4-FFF2-40B4-BE49-F238E27FC236}">
                <a16:creationId xmlns:a16="http://schemas.microsoft.com/office/drawing/2014/main" id="{22B3A9B2-C3D9-4C16-A08D-1B8421F83A90}"/>
              </a:ext>
            </a:extLst>
          </p:cNvPr>
          <p:cNvSpPr>
            <a:spLocks xmlns:a="http://schemas.openxmlformats.org/drawingml/2006/main" noGrp="1"/>
          </p:cNvSpPr>
          <p:nvPr/>
        </p:nvSpPr>
        <p:spPr>
          <a:xfrm xmlns:a="http://schemas.openxmlformats.org/drawingml/2006/main">
            <a:off x="723900" y="4038600"/>
            <a:ext cx="123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202024"/>
                </a:solidFill>
                <a:latin typeface="Arial"/>
                <a:ea typeface="Arial"/>
                <a:cs typeface="Arial"/>
              </a:defRPr>
            </a:pPr>
            <a:r>
              <a:rPr sz="1350" b="1" i="0">
                <a:solidFill>
                  <a:srgbClr val="202024"/>
                </a:solidFill>
                <a:latin typeface="Arial"/>
                <a:ea typeface="Arial"/>
                <a:cs typeface="Arial"/>
              </a:rPr>
              <a:t>Data</a:t>
            </a:r>
          </a:p>
        </p:txBody>
      </p:sp>
      <p:sp>
        <p:nvSpPr>
          <p:cNvPr id="38" name="">
            <a:extLst xmlns:a="http://schemas.openxmlformats.org/drawingml/2006/main">
              <a:ext uri="{FF2B5EF4-FFF2-40B4-BE49-F238E27FC236}">
                <a16:creationId xmlns:a16="http://schemas.microsoft.com/office/drawing/2014/main" id="{7E7273BC-EBFD-40FA-89DF-F4E26658FC66}"/>
              </a:ext>
            </a:extLst>
          </p:cNvPr>
          <p:cNvSpPr>
            <a:spLocks xmlns:a="http://schemas.openxmlformats.org/drawingml/2006/main" noGrp="1"/>
          </p:cNvSpPr>
          <p:nvPr/>
        </p:nvSpPr>
        <p:spPr>
          <a:xfrm xmlns:a="http://schemas.openxmlformats.org/drawingml/2006/main">
            <a:off x="2057400" y="3943350"/>
            <a:ext cx="2905125" cy="5143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39" name="">
            <a:extLst xmlns:a="http://schemas.openxmlformats.org/drawingml/2006/main">
              <a:ext uri="{FF2B5EF4-FFF2-40B4-BE49-F238E27FC236}">
                <a16:creationId xmlns:a16="http://schemas.microsoft.com/office/drawing/2014/main" id="{F5C5B1B7-761C-4C84-9015-9FB90A3D56E8}"/>
              </a:ext>
            </a:extLst>
          </p:cNvPr>
          <p:cNvSpPr>
            <a:spLocks xmlns:a="http://schemas.openxmlformats.org/drawingml/2006/main" noGrp="1"/>
          </p:cNvSpPr>
          <p:nvPr/>
        </p:nvSpPr>
        <p:spPr>
          <a:xfrm xmlns:a="http://schemas.openxmlformats.org/drawingml/2006/main">
            <a:off x="2152650" y="4038600"/>
            <a:ext cx="2714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Small, static dataset; limited attributes</a:t>
            </a:r>
          </a:p>
        </p:txBody>
      </p:sp>
      <p:sp>
        <p:nvSpPr>
          <p:cNvPr id="40" name="">
            <a:extLst xmlns:a="http://schemas.openxmlformats.org/drawingml/2006/main">
              <a:ext uri="{FF2B5EF4-FFF2-40B4-BE49-F238E27FC236}">
                <a16:creationId xmlns:a16="http://schemas.microsoft.com/office/drawing/2014/main" id="{778C3D29-EB70-4DDA-85B7-5FFE8753EA7A}"/>
              </a:ext>
            </a:extLst>
          </p:cNvPr>
          <p:cNvSpPr>
            <a:spLocks xmlns:a="http://schemas.openxmlformats.org/drawingml/2006/main" noGrp="1"/>
          </p:cNvSpPr>
          <p:nvPr/>
        </p:nvSpPr>
        <p:spPr>
          <a:xfrm xmlns:a="http://schemas.openxmlformats.org/drawingml/2006/main">
            <a:off x="4962525" y="3943350"/>
            <a:ext cx="2905125" cy="5143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41" name="">
            <a:extLst xmlns:a="http://schemas.openxmlformats.org/drawingml/2006/main">
              <a:ext uri="{FF2B5EF4-FFF2-40B4-BE49-F238E27FC236}">
                <a16:creationId xmlns:a16="http://schemas.microsoft.com/office/drawing/2014/main" id="{CA656F96-B515-40DD-9502-85EB49107E60}"/>
              </a:ext>
            </a:extLst>
          </p:cNvPr>
          <p:cNvSpPr>
            <a:spLocks xmlns:a="http://schemas.openxmlformats.org/drawingml/2006/main" noGrp="1"/>
          </p:cNvSpPr>
          <p:nvPr/>
        </p:nvSpPr>
        <p:spPr>
          <a:xfrm xmlns:a="http://schemas.openxmlformats.org/drawingml/2006/main">
            <a:off x="5057775" y="4038600"/>
            <a:ext cx="2714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May not generalise to a different customer base</a:t>
            </a:r>
          </a:p>
        </p:txBody>
      </p:sp>
      <p:sp>
        <p:nvSpPr>
          <p:cNvPr id="42" name="">
            <a:extLst xmlns:a="http://schemas.openxmlformats.org/drawingml/2006/main">
              <a:ext uri="{FF2B5EF4-FFF2-40B4-BE49-F238E27FC236}">
                <a16:creationId xmlns:a16="http://schemas.microsoft.com/office/drawing/2014/main" id="{10312935-36C4-4F0E-99B4-8B487FC04DB6}"/>
              </a:ext>
            </a:extLst>
          </p:cNvPr>
          <p:cNvSpPr>
            <a:spLocks xmlns:a="http://schemas.openxmlformats.org/drawingml/2006/main" noGrp="1"/>
          </p:cNvSpPr>
          <p:nvPr/>
        </p:nvSpPr>
        <p:spPr>
          <a:xfrm xmlns:a="http://schemas.openxmlformats.org/drawingml/2006/main">
            <a:off x="7867650" y="3943350"/>
            <a:ext cx="3695700" cy="5143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43" name="">
            <a:extLst xmlns:a="http://schemas.openxmlformats.org/drawingml/2006/main">
              <a:ext uri="{FF2B5EF4-FFF2-40B4-BE49-F238E27FC236}">
                <a16:creationId xmlns:a16="http://schemas.microsoft.com/office/drawing/2014/main" id="{6FB2EAFE-51BE-4D65-A72A-A62A61EAA7DF}"/>
              </a:ext>
            </a:extLst>
          </p:cNvPr>
          <p:cNvSpPr>
            <a:spLocks xmlns:a="http://schemas.openxmlformats.org/drawingml/2006/main" noGrp="1"/>
          </p:cNvSpPr>
          <p:nvPr/>
        </p:nvSpPr>
        <p:spPr>
          <a:xfrm xmlns:a="http://schemas.openxmlformats.org/drawingml/2006/main">
            <a:off x="7962900" y="4038600"/>
            <a:ext cx="350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Refresh data and add complaints or usage patterns</a:t>
            </a:r>
          </a:p>
        </p:txBody>
      </p:sp>
      <p:sp>
        <p:nvSpPr>
          <p:cNvPr id="44" name="">
            <a:extLst xmlns:a="http://schemas.openxmlformats.org/drawingml/2006/main">
              <a:ext uri="{FF2B5EF4-FFF2-40B4-BE49-F238E27FC236}">
                <a16:creationId xmlns:a16="http://schemas.microsoft.com/office/drawing/2014/main" id="{E110D822-9905-4BA8-AB07-E3E772995085}"/>
              </a:ext>
            </a:extLst>
          </p:cNvPr>
          <p:cNvSpPr>
            <a:spLocks xmlns:a="http://schemas.openxmlformats.org/drawingml/2006/main" noGrp="1"/>
          </p:cNvSpPr>
          <p:nvPr/>
        </p:nvSpPr>
        <p:spPr>
          <a:xfrm xmlns:a="http://schemas.openxmlformats.org/drawingml/2006/main">
            <a:off x="628650" y="4457700"/>
            <a:ext cx="14287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45" name="">
            <a:extLst xmlns:a="http://schemas.openxmlformats.org/drawingml/2006/main">
              <a:ext uri="{FF2B5EF4-FFF2-40B4-BE49-F238E27FC236}">
                <a16:creationId xmlns:a16="http://schemas.microsoft.com/office/drawing/2014/main" id="{4A5D6F76-F7C1-4E6A-B92E-EFC339AA6FA2}"/>
              </a:ext>
            </a:extLst>
          </p:cNvPr>
          <p:cNvSpPr>
            <a:spLocks xmlns:a="http://schemas.openxmlformats.org/drawingml/2006/main" noGrp="1"/>
          </p:cNvSpPr>
          <p:nvPr/>
        </p:nvSpPr>
        <p:spPr>
          <a:xfrm xmlns:a="http://schemas.openxmlformats.org/drawingml/2006/main">
            <a:off x="723900" y="4552950"/>
            <a:ext cx="123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202024"/>
                </a:solidFill>
                <a:latin typeface="Arial"/>
                <a:ea typeface="Arial"/>
                <a:cs typeface="Arial"/>
              </a:defRPr>
            </a:pPr>
            <a:r>
              <a:rPr sz="1350" b="1" i="0">
                <a:solidFill>
                  <a:srgbClr val="202024"/>
                </a:solidFill>
                <a:latin typeface="Arial"/>
                <a:ea typeface="Arial"/>
                <a:cs typeface="Arial"/>
              </a:rPr>
              <a:t>Model</a:t>
            </a:r>
          </a:p>
        </p:txBody>
      </p:sp>
      <p:sp>
        <p:nvSpPr>
          <p:cNvPr id="46" name="">
            <a:extLst xmlns:a="http://schemas.openxmlformats.org/drawingml/2006/main">
              <a:ext uri="{FF2B5EF4-FFF2-40B4-BE49-F238E27FC236}">
                <a16:creationId xmlns:a16="http://schemas.microsoft.com/office/drawing/2014/main" id="{BBDD914C-CC47-4F3D-B6C4-BE4C6EE61E40}"/>
              </a:ext>
            </a:extLst>
          </p:cNvPr>
          <p:cNvSpPr>
            <a:spLocks xmlns:a="http://schemas.openxmlformats.org/drawingml/2006/main" noGrp="1"/>
          </p:cNvSpPr>
          <p:nvPr/>
        </p:nvSpPr>
        <p:spPr>
          <a:xfrm xmlns:a="http://schemas.openxmlformats.org/drawingml/2006/main">
            <a:off x="2057400" y="4457700"/>
            <a:ext cx="2905125"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47" name="">
            <a:extLst xmlns:a="http://schemas.openxmlformats.org/drawingml/2006/main">
              <a:ext uri="{FF2B5EF4-FFF2-40B4-BE49-F238E27FC236}">
                <a16:creationId xmlns:a16="http://schemas.microsoft.com/office/drawing/2014/main" id="{D15F005C-3167-4B04-80C5-12365EA1628E}"/>
              </a:ext>
            </a:extLst>
          </p:cNvPr>
          <p:cNvSpPr>
            <a:spLocks xmlns:a="http://schemas.openxmlformats.org/drawingml/2006/main" noGrp="1"/>
          </p:cNvSpPr>
          <p:nvPr/>
        </p:nvSpPr>
        <p:spPr>
          <a:xfrm xmlns:a="http://schemas.openxmlformats.org/drawingml/2006/main">
            <a:off x="2152650" y="4552950"/>
            <a:ext cx="2714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Logistic Regression; Label Encoding</a:t>
            </a:r>
          </a:p>
        </p:txBody>
      </p:sp>
      <p:sp>
        <p:nvSpPr>
          <p:cNvPr id="48" name="">
            <a:extLst xmlns:a="http://schemas.openxmlformats.org/drawingml/2006/main">
              <a:ext uri="{FF2B5EF4-FFF2-40B4-BE49-F238E27FC236}">
                <a16:creationId xmlns:a16="http://schemas.microsoft.com/office/drawing/2014/main" id="{8620CA0B-FAA4-48F0-884C-339B8A293CC6}"/>
              </a:ext>
            </a:extLst>
          </p:cNvPr>
          <p:cNvSpPr>
            <a:spLocks xmlns:a="http://schemas.openxmlformats.org/drawingml/2006/main" noGrp="1"/>
          </p:cNvSpPr>
          <p:nvPr/>
        </p:nvSpPr>
        <p:spPr>
          <a:xfrm xmlns:a="http://schemas.openxmlformats.org/drawingml/2006/main">
            <a:off x="4962525" y="4457700"/>
            <a:ext cx="2905125"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49" name="">
            <a:extLst xmlns:a="http://schemas.openxmlformats.org/drawingml/2006/main">
              <a:ext uri="{FF2B5EF4-FFF2-40B4-BE49-F238E27FC236}">
                <a16:creationId xmlns:a16="http://schemas.microsoft.com/office/drawing/2014/main" id="{73E4D354-B06F-495B-8BA6-E6F296AE4A29}"/>
              </a:ext>
            </a:extLst>
          </p:cNvPr>
          <p:cNvSpPr>
            <a:spLocks xmlns:a="http://schemas.openxmlformats.org/drawingml/2006/main" noGrp="1"/>
          </p:cNvSpPr>
          <p:nvPr/>
        </p:nvSpPr>
        <p:spPr>
          <a:xfrm xmlns:a="http://schemas.openxmlformats.org/drawingml/2006/main">
            <a:off x="5057775" y="4552950"/>
            <a:ext cx="2714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One baseline cannot establish the best approach</a:t>
            </a:r>
          </a:p>
        </p:txBody>
      </p:sp>
      <p:sp>
        <p:nvSpPr>
          <p:cNvPr id="50" name="">
            <a:extLst xmlns:a="http://schemas.openxmlformats.org/drawingml/2006/main">
              <a:ext uri="{FF2B5EF4-FFF2-40B4-BE49-F238E27FC236}">
                <a16:creationId xmlns:a16="http://schemas.microsoft.com/office/drawing/2014/main" id="{949E7088-5D56-4E8B-AE46-3167DBF9194C}"/>
              </a:ext>
            </a:extLst>
          </p:cNvPr>
          <p:cNvSpPr>
            <a:spLocks xmlns:a="http://schemas.openxmlformats.org/drawingml/2006/main" noGrp="1"/>
          </p:cNvSpPr>
          <p:nvPr/>
        </p:nvSpPr>
        <p:spPr>
          <a:xfrm xmlns:a="http://schemas.openxmlformats.org/drawingml/2006/main">
            <a:off x="7867650" y="4457700"/>
            <a:ext cx="36957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51" name="">
            <a:extLst xmlns:a="http://schemas.openxmlformats.org/drawingml/2006/main">
              <a:ext uri="{FF2B5EF4-FFF2-40B4-BE49-F238E27FC236}">
                <a16:creationId xmlns:a16="http://schemas.microsoft.com/office/drawing/2014/main" id="{832AA005-8839-4F8A-9C6B-329D408BF0C6}"/>
              </a:ext>
            </a:extLst>
          </p:cNvPr>
          <p:cNvSpPr>
            <a:spLocks xmlns:a="http://schemas.openxmlformats.org/drawingml/2006/main" noGrp="1"/>
          </p:cNvSpPr>
          <p:nvPr/>
        </p:nvSpPr>
        <p:spPr>
          <a:xfrm xmlns:a="http://schemas.openxmlformats.org/drawingml/2006/main">
            <a:off x="7962900" y="4552950"/>
            <a:ext cx="350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Compare other classifiers; use One-Hot Encoding where appropriate</a:t>
            </a:r>
          </a:p>
        </p:txBody>
      </p:sp>
      <p:sp>
        <p:nvSpPr>
          <p:cNvPr id="52" name="">
            <a:extLst xmlns:a="http://schemas.openxmlformats.org/drawingml/2006/main">
              <a:ext uri="{FF2B5EF4-FFF2-40B4-BE49-F238E27FC236}">
                <a16:creationId xmlns:a16="http://schemas.microsoft.com/office/drawing/2014/main" id="{623DADA7-5101-4FFA-887E-CEF627AA65F3}"/>
              </a:ext>
            </a:extLst>
          </p:cNvPr>
          <p:cNvSpPr>
            <a:spLocks xmlns:a="http://schemas.openxmlformats.org/drawingml/2006/main" noGrp="1"/>
          </p:cNvSpPr>
          <p:nvPr/>
        </p:nvSpPr>
        <p:spPr>
          <a:xfrm xmlns:a="http://schemas.openxmlformats.org/drawingml/2006/main">
            <a:off x="628650" y="4972050"/>
            <a:ext cx="1428750" cy="5143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53" name="">
            <a:extLst xmlns:a="http://schemas.openxmlformats.org/drawingml/2006/main">
              <a:ext uri="{FF2B5EF4-FFF2-40B4-BE49-F238E27FC236}">
                <a16:creationId xmlns:a16="http://schemas.microsoft.com/office/drawing/2014/main" id="{4F6EB282-8B8B-4377-AD7F-C28CEB1993A8}"/>
              </a:ext>
            </a:extLst>
          </p:cNvPr>
          <p:cNvSpPr>
            <a:spLocks xmlns:a="http://schemas.openxmlformats.org/drawingml/2006/main" noGrp="1"/>
          </p:cNvSpPr>
          <p:nvPr/>
        </p:nvSpPr>
        <p:spPr>
          <a:xfrm xmlns:a="http://schemas.openxmlformats.org/drawingml/2006/main">
            <a:off x="723900" y="5067300"/>
            <a:ext cx="123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202024"/>
                </a:solidFill>
                <a:latin typeface="Arial"/>
                <a:ea typeface="Arial"/>
                <a:cs typeface="Arial"/>
              </a:defRPr>
            </a:pPr>
            <a:r>
              <a:rPr sz="1350" b="1" i="0">
                <a:solidFill>
                  <a:srgbClr val="202024"/>
                </a:solidFill>
                <a:latin typeface="Arial"/>
                <a:ea typeface="Arial"/>
                <a:cs typeface="Arial"/>
              </a:rPr>
              <a:t>Validation</a:t>
            </a:r>
          </a:p>
        </p:txBody>
      </p:sp>
      <p:sp>
        <p:nvSpPr>
          <p:cNvPr id="54" name="">
            <a:extLst xmlns:a="http://schemas.openxmlformats.org/drawingml/2006/main">
              <a:ext uri="{FF2B5EF4-FFF2-40B4-BE49-F238E27FC236}">
                <a16:creationId xmlns:a16="http://schemas.microsoft.com/office/drawing/2014/main" id="{7262D7EA-48CE-4744-A147-D6E3197051DF}"/>
              </a:ext>
            </a:extLst>
          </p:cNvPr>
          <p:cNvSpPr>
            <a:spLocks xmlns:a="http://schemas.openxmlformats.org/drawingml/2006/main" noGrp="1"/>
          </p:cNvSpPr>
          <p:nvPr/>
        </p:nvSpPr>
        <p:spPr>
          <a:xfrm xmlns:a="http://schemas.openxmlformats.org/drawingml/2006/main">
            <a:off x="2057400" y="4972050"/>
            <a:ext cx="2905125" cy="5143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55" name="">
            <a:extLst xmlns:a="http://schemas.openxmlformats.org/drawingml/2006/main">
              <a:ext uri="{FF2B5EF4-FFF2-40B4-BE49-F238E27FC236}">
                <a16:creationId xmlns:a16="http://schemas.microsoft.com/office/drawing/2014/main" id="{3FDE53F8-02A4-4635-9CE6-CAD2C5AB57D8}"/>
              </a:ext>
            </a:extLst>
          </p:cNvPr>
          <p:cNvSpPr>
            <a:spLocks xmlns:a="http://schemas.openxmlformats.org/drawingml/2006/main" noGrp="1"/>
          </p:cNvSpPr>
          <p:nvPr/>
        </p:nvSpPr>
        <p:spPr>
          <a:xfrm xmlns:a="http://schemas.openxmlformats.org/drawingml/2006/main">
            <a:off x="2152650" y="5067300"/>
            <a:ext cx="2714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80:20 hold-out evaluation</a:t>
            </a:r>
          </a:p>
        </p:txBody>
      </p:sp>
      <p:sp>
        <p:nvSpPr>
          <p:cNvPr id="56" name="">
            <a:extLst xmlns:a="http://schemas.openxmlformats.org/drawingml/2006/main">
              <a:ext uri="{FF2B5EF4-FFF2-40B4-BE49-F238E27FC236}">
                <a16:creationId xmlns:a16="http://schemas.microsoft.com/office/drawing/2014/main" id="{CC9C3DB5-45F8-4C41-ADC6-A1022C52D2D0}"/>
              </a:ext>
            </a:extLst>
          </p:cNvPr>
          <p:cNvSpPr>
            <a:spLocks xmlns:a="http://schemas.openxmlformats.org/drawingml/2006/main" noGrp="1"/>
          </p:cNvSpPr>
          <p:nvPr/>
        </p:nvSpPr>
        <p:spPr>
          <a:xfrm xmlns:a="http://schemas.openxmlformats.org/drawingml/2006/main">
            <a:off x="4962525" y="4972050"/>
            <a:ext cx="2905125" cy="5143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57" name="">
            <a:extLst xmlns:a="http://schemas.openxmlformats.org/drawingml/2006/main">
              <a:ext uri="{FF2B5EF4-FFF2-40B4-BE49-F238E27FC236}">
                <a16:creationId xmlns:a16="http://schemas.microsoft.com/office/drawing/2014/main" id="{9631A362-BDCB-47BE-BB65-CA4FA2C949B8}"/>
              </a:ext>
            </a:extLst>
          </p:cNvPr>
          <p:cNvSpPr>
            <a:spLocks xmlns:a="http://schemas.openxmlformats.org/drawingml/2006/main" noGrp="1"/>
          </p:cNvSpPr>
          <p:nvPr/>
        </p:nvSpPr>
        <p:spPr>
          <a:xfrm xmlns:a="http://schemas.openxmlformats.org/drawingml/2006/main">
            <a:off x="5057775" y="5067300"/>
            <a:ext cx="2714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One split provides limited evidence of stability</a:t>
            </a:r>
          </a:p>
        </p:txBody>
      </p:sp>
      <p:sp>
        <p:nvSpPr>
          <p:cNvPr id="58" name="">
            <a:extLst xmlns:a="http://schemas.openxmlformats.org/drawingml/2006/main">
              <a:ext uri="{FF2B5EF4-FFF2-40B4-BE49-F238E27FC236}">
                <a16:creationId xmlns:a16="http://schemas.microsoft.com/office/drawing/2014/main" id="{A540FFB7-8ADE-4D73-90CD-B506885D30DF}"/>
              </a:ext>
            </a:extLst>
          </p:cNvPr>
          <p:cNvSpPr>
            <a:spLocks xmlns:a="http://schemas.openxmlformats.org/drawingml/2006/main" noGrp="1"/>
          </p:cNvSpPr>
          <p:nvPr/>
        </p:nvSpPr>
        <p:spPr>
          <a:xfrm xmlns:a="http://schemas.openxmlformats.org/drawingml/2006/main">
            <a:off x="7867650" y="4972050"/>
            <a:ext cx="3695700" cy="5143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59" name="">
            <a:extLst xmlns:a="http://schemas.openxmlformats.org/drawingml/2006/main">
              <a:ext uri="{FF2B5EF4-FFF2-40B4-BE49-F238E27FC236}">
                <a16:creationId xmlns:a16="http://schemas.microsoft.com/office/drawing/2014/main" id="{D44EE4C9-F674-4370-9BD0-05B5D003E72F}"/>
              </a:ext>
            </a:extLst>
          </p:cNvPr>
          <p:cNvSpPr>
            <a:spLocks xmlns:a="http://schemas.openxmlformats.org/drawingml/2006/main" noGrp="1"/>
          </p:cNvSpPr>
          <p:nvPr/>
        </p:nvSpPr>
        <p:spPr>
          <a:xfrm xmlns:a="http://schemas.openxmlformats.org/drawingml/2006/main">
            <a:off x="7962900" y="5067300"/>
            <a:ext cx="350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Add cross-validation and hyperparameter tuning</a:t>
            </a:r>
          </a:p>
        </p:txBody>
      </p:sp>
      <p:sp>
        <p:nvSpPr>
          <p:cNvPr id="60" name="">
            <a:extLst xmlns:a="http://schemas.openxmlformats.org/drawingml/2006/main">
              <a:ext uri="{FF2B5EF4-FFF2-40B4-BE49-F238E27FC236}">
                <a16:creationId xmlns:a16="http://schemas.microsoft.com/office/drawing/2014/main" id="{142FF8FC-6567-4971-B7D3-A155F48C9AA6}"/>
              </a:ext>
            </a:extLst>
          </p:cNvPr>
          <p:cNvSpPr>
            <a:spLocks xmlns:a="http://schemas.openxmlformats.org/drawingml/2006/main" noGrp="1"/>
          </p:cNvSpPr>
          <p:nvPr/>
        </p:nvSpPr>
        <p:spPr>
          <a:xfrm xmlns:a="http://schemas.openxmlformats.org/drawingml/2006/main">
            <a:off x="628650" y="5486400"/>
            <a:ext cx="14287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61" name="">
            <a:extLst xmlns:a="http://schemas.openxmlformats.org/drawingml/2006/main">
              <a:ext uri="{FF2B5EF4-FFF2-40B4-BE49-F238E27FC236}">
                <a16:creationId xmlns:a16="http://schemas.microsoft.com/office/drawing/2014/main" id="{D57C3893-9C12-4E7C-A1B2-10AD0C02565A}"/>
              </a:ext>
            </a:extLst>
          </p:cNvPr>
          <p:cNvSpPr>
            <a:spLocks xmlns:a="http://schemas.openxmlformats.org/drawingml/2006/main" noGrp="1"/>
          </p:cNvSpPr>
          <p:nvPr/>
        </p:nvSpPr>
        <p:spPr>
          <a:xfrm xmlns:a="http://schemas.openxmlformats.org/drawingml/2006/main">
            <a:off x="723900" y="5581650"/>
            <a:ext cx="123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202024"/>
                </a:solidFill>
                <a:latin typeface="Arial"/>
                <a:ea typeface="Arial"/>
                <a:cs typeface="Arial"/>
              </a:defRPr>
            </a:pPr>
            <a:r>
              <a:rPr sz="1350" b="1" i="0">
                <a:solidFill>
                  <a:srgbClr val="202024"/>
                </a:solidFill>
                <a:latin typeface="Arial"/>
                <a:ea typeface="Arial"/>
                <a:cs typeface="Arial"/>
              </a:rPr>
              <a:t>Delivery</a:t>
            </a:r>
          </a:p>
        </p:txBody>
      </p:sp>
      <p:sp>
        <p:nvSpPr>
          <p:cNvPr id="62" name="">
            <a:extLst xmlns:a="http://schemas.openxmlformats.org/drawingml/2006/main">
              <a:ext uri="{FF2B5EF4-FFF2-40B4-BE49-F238E27FC236}">
                <a16:creationId xmlns:a16="http://schemas.microsoft.com/office/drawing/2014/main" id="{83590F89-7B39-47B8-9A77-C42AAE2EDFCD}"/>
              </a:ext>
            </a:extLst>
          </p:cNvPr>
          <p:cNvSpPr>
            <a:spLocks xmlns:a="http://schemas.openxmlformats.org/drawingml/2006/main" noGrp="1"/>
          </p:cNvSpPr>
          <p:nvPr/>
        </p:nvSpPr>
        <p:spPr>
          <a:xfrm xmlns:a="http://schemas.openxmlformats.org/drawingml/2006/main">
            <a:off x="2057400" y="5486400"/>
            <a:ext cx="2905125"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63" name="">
            <a:extLst xmlns:a="http://schemas.openxmlformats.org/drawingml/2006/main">
              <a:ext uri="{FF2B5EF4-FFF2-40B4-BE49-F238E27FC236}">
                <a16:creationId xmlns:a16="http://schemas.microsoft.com/office/drawing/2014/main" id="{B128D699-B585-43D6-B6D0-3AAFEE5A0B60}"/>
              </a:ext>
            </a:extLst>
          </p:cNvPr>
          <p:cNvSpPr>
            <a:spLocks xmlns:a="http://schemas.openxmlformats.org/drawingml/2006/main" noGrp="1"/>
          </p:cNvSpPr>
          <p:nvPr/>
        </p:nvSpPr>
        <p:spPr>
          <a:xfrm xmlns:a="http://schemas.openxmlformats.org/drawingml/2006/main">
            <a:off x="2152650" y="5581650"/>
            <a:ext cx="2714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Offline data; no live CRM connection</a:t>
            </a:r>
          </a:p>
        </p:txBody>
      </p:sp>
      <p:sp>
        <p:nvSpPr>
          <p:cNvPr id="64" name="">
            <a:extLst xmlns:a="http://schemas.openxmlformats.org/drawingml/2006/main">
              <a:ext uri="{FF2B5EF4-FFF2-40B4-BE49-F238E27FC236}">
                <a16:creationId xmlns:a16="http://schemas.microsoft.com/office/drawing/2014/main" id="{9B523024-97DD-483E-8C76-7A74D6EA56CE}"/>
              </a:ext>
            </a:extLst>
          </p:cNvPr>
          <p:cNvSpPr>
            <a:spLocks xmlns:a="http://schemas.openxmlformats.org/drawingml/2006/main" noGrp="1"/>
          </p:cNvSpPr>
          <p:nvPr/>
        </p:nvSpPr>
        <p:spPr>
          <a:xfrm xmlns:a="http://schemas.openxmlformats.org/drawingml/2006/main">
            <a:off x="4962525" y="5486400"/>
            <a:ext cx="2905125"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65" name="">
            <a:extLst xmlns:a="http://schemas.openxmlformats.org/drawingml/2006/main">
              <a:ext uri="{FF2B5EF4-FFF2-40B4-BE49-F238E27FC236}">
                <a16:creationId xmlns:a16="http://schemas.microsoft.com/office/drawing/2014/main" id="{6DBB6B1C-0EF7-4DDF-9A09-7B2B38EDDDCB}"/>
              </a:ext>
            </a:extLst>
          </p:cNvPr>
          <p:cNvSpPr>
            <a:spLocks xmlns:a="http://schemas.openxmlformats.org/drawingml/2006/main" noGrp="1"/>
          </p:cNvSpPr>
          <p:nvPr/>
        </p:nvSpPr>
        <p:spPr>
          <a:xfrm xmlns:a="http://schemas.openxmlformats.org/drawingml/2006/main">
            <a:off x="5057775" y="5581650"/>
            <a:ext cx="2714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Predictions remain separate from daily operations</a:t>
            </a:r>
          </a:p>
        </p:txBody>
      </p:sp>
      <p:sp>
        <p:nvSpPr>
          <p:cNvPr id="66" name="">
            <a:extLst xmlns:a="http://schemas.openxmlformats.org/drawingml/2006/main">
              <a:ext uri="{FF2B5EF4-FFF2-40B4-BE49-F238E27FC236}">
                <a16:creationId xmlns:a16="http://schemas.microsoft.com/office/drawing/2014/main" id="{9413CC3F-67CA-4CEC-B5AB-9653CDE7D88A}"/>
              </a:ext>
            </a:extLst>
          </p:cNvPr>
          <p:cNvSpPr>
            <a:spLocks xmlns:a="http://schemas.openxmlformats.org/drawingml/2006/main" noGrp="1"/>
          </p:cNvSpPr>
          <p:nvPr/>
        </p:nvSpPr>
        <p:spPr>
          <a:xfrm xmlns:a="http://schemas.openxmlformats.org/drawingml/2006/main">
            <a:off x="7867650" y="5486400"/>
            <a:ext cx="36957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67" name="">
            <a:extLst xmlns:a="http://schemas.openxmlformats.org/drawingml/2006/main">
              <a:ext uri="{FF2B5EF4-FFF2-40B4-BE49-F238E27FC236}">
                <a16:creationId xmlns:a16="http://schemas.microsoft.com/office/drawing/2014/main" id="{D8E886D8-5F1F-41F0-91DA-C7BE82A316C5}"/>
              </a:ext>
            </a:extLst>
          </p:cNvPr>
          <p:cNvSpPr>
            <a:spLocks xmlns:a="http://schemas.openxmlformats.org/drawingml/2006/main" noGrp="1"/>
          </p:cNvSpPr>
          <p:nvPr/>
        </p:nvSpPr>
        <p:spPr>
          <a:xfrm xmlns:a="http://schemas.openxmlformats.org/drawingml/2006/main">
            <a:off x="7962900" y="5581650"/>
            <a:ext cx="350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Package an application, then integrate refreshed data</a:t>
            </a:r>
          </a:p>
        </p:txBody>
      </p:sp>
      <p:sp>
        <p:nvSpPr>
          <p:cNvPr id="68" name="">
            <a:extLst xmlns:a="http://schemas.openxmlformats.org/drawingml/2006/main">
              <a:ext uri="{FF2B5EF4-FFF2-40B4-BE49-F238E27FC236}">
                <a16:creationId xmlns:a16="http://schemas.microsoft.com/office/drawing/2014/main" id="{B6184460-2581-4196-AD74-B129F744748E}"/>
              </a:ext>
            </a:extLst>
          </p:cNvPr>
          <p:cNvSpPr>
            <a:spLocks xmlns:a="http://schemas.openxmlformats.org/drawingml/2006/main" noGrp="1"/>
          </p:cNvSpPr>
          <p:nvPr/>
        </p:nvSpPr>
        <p:spPr>
          <a:xfrm xmlns:a="http://schemas.openxmlformats.org/drawingml/2006/main">
            <a:off x="628650" y="6115050"/>
            <a:ext cx="10934700" cy="247650"/>
          </a:xfrm>
          <a:prstGeom xmlns:a="http://schemas.openxmlformats.org/drawingml/2006/main" prst="rect">
            <a:avLst/>
          </a:prstGeom>
          <a:solidFill xmlns:a="http://schemas.openxmlformats.org/drawingml/2006/main">
            <a:srgbClr val="202024"/>
          </a:solidFill>
          <a:ln xmlns:a="http://schemas.openxmlformats.org/drawingml/2006/main" w="0">
            <a:solidFill>
              <a:srgbClr val="202024"/>
            </a:solidFill>
            <a:prstDash val="solid"/>
          </a:ln>
        </p:spPr>
      </p:sp>
      <p:sp>
        <p:nvSpPr>
          <p:cNvPr id="69" name="">
            <a:extLst xmlns:a="http://schemas.openxmlformats.org/drawingml/2006/main">
              <a:ext uri="{FF2B5EF4-FFF2-40B4-BE49-F238E27FC236}">
                <a16:creationId xmlns:a16="http://schemas.microsoft.com/office/drawing/2014/main" id="{CABBBD06-F957-4123-9B8B-9D636BD46DD9}"/>
              </a:ext>
            </a:extLst>
          </p:cNvPr>
          <p:cNvSpPr>
            <a:spLocks xmlns:a="http://schemas.openxmlformats.org/drawingml/2006/main" noGrp="1"/>
          </p:cNvSpPr>
          <p:nvPr/>
        </p:nvSpPr>
        <p:spPr>
          <a:xfrm xmlns:a="http://schemas.openxmlformats.org/drawingml/2006/main">
            <a:off x="762000" y="6162675"/>
            <a:ext cx="10668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3333"/>
          </a:bodyPr>
          <a:lstStyle xmlns:a="http://schemas.openxmlformats.org/drawingml/2006/main"/>
          <a:p xmlns:a="http://schemas.openxmlformats.org/drawingml/2006/main">
            <a:pPr algn="ctr">
              <a:lnSpc>
                <a:spcPct val="100000"/>
              </a:lnSpc>
              <a:buNone/>
              <a:defRPr sz="1200" b="1" i="0">
                <a:solidFill>
                  <a:srgbClr val="FFFFFF"/>
                </a:solidFill>
                <a:latin typeface="Arial"/>
                <a:ea typeface="Arial"/>
                <a:cs typeface="Arial"/>
              </a:defRPr>
            </a:pPr>
            <a:r>
              <a:rPr sz="1200" b="1" i="0">
                <a:solidFill>
                  <a:srgbClr val="FFFFFF"/>
                </a:solidFill>
                <a:latin typeface="Arial"/>
                <a:ea typeface="Arial"/>
                <a:cs typeface="Arial"/>
              </a:rPr>
              <a:t>Conclusion: the synopsis documents a reusable churn prediction approach; dependable business impact remains to be established.</a:t>
            </a:r>
          </a:p>
        </p:txBody>
      </p:sp>
      <p:sp>
        <p:nvSpPr>
          <p:cNvPr id="70" name="">
            <a:extLst xmlns:a="http://schemas.openxmlformats.org/drawingml/2006/main">
              <a:ext uri="{FF2B5EF4-FFF2-40B4-BE49-F238E27FC236}">
                <a16:creationId xmlns:a16="http://schemas.microsoft.com/office/drawing/2014/main" id="{0B7F507A-8BA5-4BB4-A96E-FB80436DBAEA}"/>
              </a:ext>
            </a:extLst>
          </p:cNvPr>
          <p:cNvSpPr>
            <a:spLocks xmlns:a="http://schemas.openxmlformats.org/drawingml/2006/main" noGrp="1"/>
          </p:cNvSpPr>
          <p:nvPr/>
        </p:nvSpPr>
        <p:spPr>
          <a:xfrm xmlns:a="http://schemas.openxmlformats.org/drawingml/2006/main">
            <a:off x="628650" y="6438900"/>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71" name="">
            <a:extLst xmlns:a="http://schemas.openxmlformats.org/drawingml/2006/main">
              <a:ext uri="{FF2B5EF4-FFF2-40B4-BE49-F238E27FC236}">
                <a16:creationId xmlns:a16="http://schemas.microsoft.com/office/drawing/2014/main" id="{D6E842FF-F891-4762-BDE3-900E59251EF2}"/>
              </a:ext>
            </a:extLst>
          </p:cNvPr>
          <p:cNvSpPr>
            <a:spLocks xmlns:a="http://schemas.openxmlformats.org/drawingml/2006/main" noGrp="1"/>
          </p:cNvSpPr>
          <p:nvPr/>
        </p:nvSpPr>
        <p:spPr>
          <a:xfrm xmlns:a="http://schemas.openxmlformats.org/drawingml/2006/main">
            <a:off x="628650" y="6524625"/>
            <a:ext cx="10934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0" i="1">
                <a:solidFill>
                  <a:srgbClr val="202024"/>
                </a:solidFill>
                <a:latin typeface="Arial"/>
                <a:ea typeface="Arial"/>
                <a:cs typeface="Arial"/>
              </a:defRPr>
            </a:pPr>
            <a:r>
              <a:rPr sz="825" b="0" i="1">
                <a:solidFill>
                  <a:srgbClr val="202024"/>
                </a:solidFill>
                <a:latin typeface="Arial"/>
                <a:ea typeface="Arial"/>
                <a:cs typeface="Arial"/>
              </a:rPr>
              <a:t>Source: Master synopsis, sections H-J</a:t>
            </a:r>
          </a:p>
        </p:txBody>
      </p:sp>
    </p:spTree>
    <p:extLst>
      <p:ext uri="{BB962C8B-B14F-4D97-AF65-F5344CB8AC3E}">
        <p14:creationId xmlns:p14="http://schemas.microsoft.com/office/powerpoint/2010/main" val="1641888332"/>
      </p:ext>
    </p:extLst>
  </p:cSld>
</p:sld>
</file>

<file path=ppt/slides/slide6.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0393FADE-06D3-4BD3-83A5-33F56B7361A5}"/>
              </a:ext>
            </a:extLst>
          </p:cNvPr>
          <p:cNvSpPr>
            <a:spLocks xmlns:a="http://schemas.openxmlformats.org/drawingml/2006/main" noGrp="1"/>
          </p:cNvSpPr>
          <p:nvPr/>
        </p:nvSpPr>
        <p:spPr>
          <a:xfrm xmlns:a="http://schemas.openxmlformats.org/drawingml/2006/main">
            <a:off x="628650" y="33337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APPENDIX</a:t>
            </a:r>
          </a:p>
        </p:txBody>
      </p:sp>
      <p:sp>
        <p:nvSpPr>
          <p:cNvPr id="2" name="">
            <a:extLst xmlns:a="http://schemas.openxmlformats.org/drawingml/2006/main">
              <a:ext uri="{FF2B5EF4-FFF2-40B4-BE49-F238E27FC236}">
                <a16:creationId xmlns:a16="http://schemas.microsoft.com/office/drawing/2014/main" id="{E955E5DF-E1A6-438A-9294-F5388FCEDE53}"/>
              </a:ext>
            </a:extLst>
          </p:cNvPr>
          <p:cNvSpPr>
            <a:spLocks xmlns:a="http://schemas.openxmlformats.org/drawingml/2006/main" noGrp="1"/>
          </p:cNvSpPr>
          <p:nvPr/>
        </p:nvSpPr>
        <p:spPr>
          <a:xfrm xmlns:a="http://schemas.openxmlformats.org/drawingml/2006/main">
            <a:off x="628650" y="638175"/>
            <a:ext cx="10934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700" b="1" i="0">
                <a:solidFill>
                  <a:srgbClr val="202024"/>
                </a:solidFill>
                <a:latin typeface="Arial"/>
                <a:ea typeface="Arial"/>
                <a:cs typeface="Arial"/>
              </a:defRPr>
            </a:pPr>
            <a:r>
              <a:rPr sz="2700" b="1" i="0">
                <a:solidFill>
                  <a:srgbClr val="202024"/>
                </a:solidFill>
                <a:latin typeface="Arial"/>
                <a:ea typeface="Arial"/>
                <a:cs typeface="Arial"/>
              </a:rPr>
              <a:t>Technical environment and methodology reference</a:t>
            </a:r>
          </a:p>
        </p:txBody>
      </p:sp>
      <p:sp>
        <p:nvSpPr>
          <p:cNvPr id="3" name="">
            <a:extLst xmlns:a="http://schemas.openxmlformats.org/drawingml/2006/main">
              <a:ext uri="{FF2B5EF4-FFF2-40B4-BE49-F238E27FC236}">
                <a16:creationId xmlns:a16="http://schemas.microsoft.com/office/drawing/2014/main" id="{C22501EE-4BF5-4C04-9CE8-EDBF9EF4DCA9}"/>
              </a:ext>
            </a:extLst>
          </p:cNvPr>
          <p:cNvSpPr>
            <a:spLocks xmlns:a="http://schemas.openxmlformats.org/drawingml/2006/main" noGrp="1"/>
          </p:cNvSpPr>
          <p:nvPr/>
        </p:nvSpPr>
        <p:spPr>
          <a:xfrm xmlns:a="http://schemas.openxmlformats.org/drawingml/2006/main">
            <a:off x="628650" y="1514475"/>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 name="">
            <a:extLst xmlns:a="http://schemas.openxmlformats.org/drawingml/2006/main">
              <a:ext uri="{FF2B5EF4-FFF2-40B4-BE49-F238E27FC236}">
                <a16:creationId xmlns:a16="http://schemas.microsoft.com/office/drawing/2014/main" id="{9D7E86EE-1888-4260-B6B5-64A2E605FCF1}"/>
              </a:ext>
            </a:extLst>
          </p:cNvPr>
          <p:cNvSpPr>
            <a:spLocks xmlns:a="http://schemas.openxmlformats.org/drawingml/2006/main" noGrp="1"/>
          </p:cNvSpPr>
          <p:nvPr/>
        </p:nvSpPr>
        <p:spPr>
          <a:xfrm xmlns:a="http://schemas.openxmlformats.org/drawingml/2006/main">
            <a:off x="11144250" y="342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52BD38D0-47C4-42F6-8B47-EEE45629F3FE}"/>
              </a:ext>
            </a:extLst>
          </p:cNvPr>
          <p:cNvSpPr>
            <a:spLocks xmlns:a="http://schemas.openxmlformats.org/drawingml/2006/main" noGrp="1"/>
          </p:cNvSpPr>
          <p:nvPr/>
        </p:nvSpPr>
        <p:spPr>
          <a:xfrm xmlns:a="http://schemas.openxmlformats.org/drawingml/2006/main">
            <a:off x="628650" y="1657350"/>
            <a:ext cx="1133475" cy="28575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6" name="">
            <a:extLst xmlns:a="http://schemas.openxmlformats.org/drawingml/2006/main">
              <a:ext uri="{FF2B5EF4-FFF2-40B4-BE49-F238E27FC236}">
                <a16:creationId xmlns:a16="http://schemas.microsoft.com/office/drawing/2014/main" id="{77B25356-9289-4CA1-88DD-3D51ACC3CC2F}"/>
              </a:ext>
            </a:extLst>
          </p:cNvPr>
          <p:cNvSpPr>
            <a:spLocks xmlns:a="http://schemas.openxmlformats.org/drawingml/2006/main" noGrp="1"/>
          </p:cNvSpPr>
          <p:nvPr/>
        </p:nvSpPr>
        <p:spPr>
          <a:xfrm xmlns:a="http://schemas.openxmlformats.org/drawingml/2006/main">
            <a:off x="723900" y="1704975"/>
            <a:ext cx="9429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FFFF"/>
                </a:solidFill>
                <a:latin typeface="Arial"/>
                <a:ea typeface="Arial"/>
                <a:cs typeface="Arial"/>
              </a:defRPr>
            </a:pPr>
            <a:r>
              <a:rPr sz="1125" b="1" i="0">
                <a:solidFill>
                  <a:srgbClr val="FFFFFF"/>
                </a:solidFill>
                <a:latin typeface="Arial"/>
                <a:ea typeface="Arial"/>
                <a:cs typeface="Arial"/>
              </a:rPr>
              <a:t>TECH STACK</a:t>
            </a:r>
          </a:p>
        </p:txBody>
      </p:sp>
      <p:sp>
        <p:nvSpPr>
          <p:cNvPr id="7" name="">
            <a:extLst xmlns:a="http://schemas.openxmlformats.org/drawingml/2006/main">
              <a:ext uri="{FF2B5EF4-FFF2-40B4-BE49-F238E27FC236}">
                <a16:creationId xmlns:a16="http://schemas.microsoft.com/office/drawing/2014/main" id="{AEBBCE30-83CA-491C-A97D-B661BB12D04A}"/>
              </a:ext>
            </a:extLst>
          </p:cNvPr>
          <p:cNvSpPr>
            <a:spLocks xmlns:a="http://schemas.openxmlformats.org/drawingml/2006/main" noGrp="1"/>
          </p:cNvSpPr>
          <p:nvPr/>
        </p:nvSpPr>
        <p:spPr>
          <a:xfrm xmlns:a="http://schemas.openxmlformats.org/drawingml/2006/main">
            <a:off x="628650" y="20764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l">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Python 3.10</a:t>
            </a:r>
          </a:p>
        </p:txBody>
      </p:sp>
      <p:sp>
        <p:nvSpPr>
          <p:cNvPr id="8" name="">
            <a:extLst xmlns:a="http://schemas.openxmlformats.org/drawingml/2006/main">
              <a:ext uri="{FF2B5EF4-FFF2-40B4-BE49-F238E27FC236}">
                <a16:creationId xmlns:a16="http://schemas.microsoft.com/office/drawing/2014/main" id="{0D313914-8C04-43F0-A215-B9D7D83FAB50}"/>
              </a:ext>
            </a:extLst>
          </p:cNvPr>
          <p:cNvSpPr>
            <a:spLocks xmlns:a="http://schemas.openxmlformats.org/drawingml/2006/main" noGrp="1"/>
          </p:cNvSpPr>
          <p:nvPr/>
        </p:nvSpPr>
        <p:spPr>
          <a:xfrm xmlns:a="http://schemas.openxmlformats.org/drawingml/2006/main">
            <a:off x="2533650" y="20764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Programming language</a:t>
            </a:r>
          </a:p>
        </p:txBody>
      </p:sp>
      <p:sp>
        <p:nvSpPr>
          <p:cNvPr id="9" name="">
            <a:extLst xmlns:a="http://schemas.openxmlformats.org/drawingml/2006/main">
              <a:ext uri="{FF2B5EF4-FFF2-40B4-BE49-F238E27FC236}">
                <a16:creationId xmlns:a16="http://schemas.microsoft.com/office/drawing/2014/main" id="{732ED8CC-5BE6-413D-849C-CC38B7FBA5D9}"/>
              </a:ext>
            </a:extLst>
          </p:cNvPr>
          <p:cNvSpPr>
            <a:spLocks xmlns:a="http://schemas.openxmlformats.org/drawingml/2006/main" noGrp="1"/>
          </p:cNvSpPr>
          <p:nvPr/>
        </p:nvSpPr>
        <p:spPr>
          <a:xfrm xmlns:a="http://schemas.openxmlformats.org/drawingml/2006/main">
            <a:off x="628650" y="2466975"/>
            <a:ext cx="45720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10" name="">
            <a:extLst xmlns:a="http://schemas.openxmlformats.org/drawingml/2006/main">
              <a:ext uri="{FF2B5EF4-FFF2-40B4-BE49-F238E27FC236}">
                <a16:creationId xmlns:a16="http://schemas.microsoft.com/office/drawing/2014/main" id="{CAD7CCF7-ECB6-467F-B07F-B816B3BD6429}"/>
              </a:ext>
            </a:extLst>
          </p:cNvPr>
          <p:cNvSpPr>
            <a:spLocks xmlns:a="http://schemas.openxmlformats.org/drawingml/2006/main" noGrp="1"/>
          </p:cNvSpPr>
          <p:nvPr/>
        </p:nvSpPr>
        <p:spPr>
          <a:xfrm xmlns:a="http://schemas.openxmlformats.org/drawingml/2006/main">
            <a:off x="628650" y="260032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l">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NumPy + Pandas</a:t>
            </a:r>
          </a:p>
        </p:txBody>
      </p:sp>
      <p:sp>
        <p:nvSpPr>
          <p:cNvPr id="11" name="">
            <a:extLst xmlns:a="http://schemas.openxmlformats.org/drawingml/2006/main">
              <a:ext uri="{FF2B5EF4-FFF2-40B4-BE49-F238E27FC236}">
                <a16:creationId xmlns:a16="http://schemas.microsoft.com/office/drawing/2014/main" id="{AF24E670-600B-4297-B1D1-0DA52C1D6B36}"/>
              </a:ext>
            </a:extLst>
          </p:cNvPr>
          <p:cNvSpPr>
            <a:spLocks xmlns:a="http://schemas.openxmlformats.org/drawingml/2006/main" noGrp="1"/>
          </p:cNvSpPr>
          <p:nvPr/>
        </p:nvSpPr>
        <p:spPr>
          <a:xfrm xmlns:a="http://schemas.openxmlformats.org/drawingml/2006/main">
            <a:off x="2533650" y="2600325"/>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Data preparation</a:t>
            </a:r>
          </a:p>
        </p:txBody>
      </p:sp>
      <p:sp>
        <p:nvSpPr>
          <p:cNvPr id="12" name="">
            <a:extLst xmlns:a="http://schemas.openxmlformats.org/drawingml/2006/main">
              <a:ext uri="{FF2B5EF4-FFF2-40B4-BE49-F238E27FC236}">
                <a16:creationId xmlns:a16="http://schemas.microsoft.com/office/drawing/2014/main" id="{D9A040EB-855A-45B3-BE94-7FE57D294184}"/>
              </a:ext>
            </a:extLst>
          </p:cNvPr>
          <p:cNvSpPr>
            <a:spLocks xmlns:a="http://schemas.openxmlformats.org/drawingml/2006/main" noGrp="1"/>
          </p:cNvSpPr>
          <p:nvPr/>
        </p:nvSpPr>
        <p:spPr>
          <a:xfrm xmlns:a="http://schemas.openxmlformats.org/drawingml/2006/main">
            <a:off x="628650" y="2990850"/>
            <a:ext cx="45720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13" name="">
            <a:extLst xmlns:a="http://schemas.openxmlformats.org/drawingml/2006/main">
              <a:ext uri="{FF2B5EF4-FFF2-40B4-BE49-F238E27FC236}">
                <a16:creationId xmlns:a16="http://schemas.microsoft.com/office/drawing/2014/main" id="{DFCD9485-2C3C-4A34-9D35-E073964C0955}"/>
              </a:ext>
            </a:extLst>
          </p:cNvPr>
          <p:cNvSpPr>
            <a:spLocks xmlns:a="http://schemas.openxmlformats.org/drawingml/2006/main" noGrp="1"/>
          </p:cNvSpPr>
          <p:nvPr/>
        </p:nvSpPr>
        <p:spPr>
          <a:xfrm xmlns:a="http://schemas.openxmlformats.org/drawingml/2006/main">
            <a:off x="628650" y="312420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l">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Matplotlib + Seaborn</a:t>
            </a:r>
          </a:p>
        </p:txBody>
      </p:sp>
      <p:sp>
        <p:nvSpPr>
          <p:cNvPr id="14" name="">
            <a:extLst xmlns:a="http://schemas.openxmlformats.org/drawingml/2006/main">
              <a:ext uri="{FF2B5EF4-FFF2-40B4-BE49-F238E27FC236}">
                <a16:creationId xmlns:a16="http://schemas.microsoft.com/office/drawing/2014/main" id="{76C16E5E-4DB7-4A51-94C8-FB071BB8199A}"/>
              </a:ext>
            </a:extLst>
          </p:cNvPr>
          <p:cNvSpPr>
            <a:spLocks xmlns:a="http://schemas.openxmlformats.org/drawingml/2006/main" noGrp="1"/>
          </p:cNvSpPr>
          <p:nvPr/>
        </p:nvSpPr>
        <p:spPr>
          <a:xfrm xmlns:a="http://schemas.openxmlformats.org/drawingml/2006/main">
            <a:off x="2533650" y="312420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Exploratory analysis</a:t>
            </a:r>
          </a:p>
        </p:txBody>
      </p:sp>
      <p:sp>
        <p:nvSpPr>
          <p:cNvPr id="15" name="">
            <a:extLst xmlns:a="http://schemas.openxmlformats.org/drawingml/2006/main">
              <a:ext uri="{FF2B5EF4-FFF2-40B4-BE49-F238E27FC236}">
                <a16:creationId xmlns:a16="http://schemas.microsoft.com/office/drawing/2014/main" id="{B8A79F37-D7C9-4B09-B2A3-E6558F424502}"/>
              </a:ext>
            </a:extLst>
          </p:cNvPr>
          <p:cNvSpPr>
            <a:spLocks xmlns:a="http://schemas.openxmlformats.org/drawingml/2006/main" noGrp="1"/>
          </p:cNvSpPr>
          <p:nvPr/>
        </p:nvSpPr>
        <p:spPr>
          <a:xfrm xmlns:a="http://schemas.openxmlformats.org/drawingml/2006/main">
            <a:off x="628650" y="3514725"/>
            <a:ext cx="45720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16" name="">
            <a:extLst xmlns:a="http://schemas.openxmlformats.org/drawingml/2006/main">
              <a:ext uri="{FF2B5EF4-FFF2-40B4-BE49-F238E27FC236}">
                <a16:creationId xmlns:a16="http://schemas.microsoft.com/office/drawing/2014/main" id="{DDB24E11-B0C7-49D6-B5DD-3A59A9C96A48}"/>
              </a:ext>
            </a:extLst>
          </p:cNvPr>
          <p:cNvSpPr>
            <a:spLocks xmlns:a="http://schemas.openxmlformats.org/drawingml/2006/main" noGrp="1"/>
          </p:cNvSpPr>
          <p:nvPr/>
        </p:nvSpPr>
        <p:spPr>
          <a:xfrm xmlns:a="http://schemas.openxmlformats.org/drawingml/2006/main">
            <a:off x="628650" y="364807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l">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Scikit-learn</a:t>
            </a:r>
          </a:p>
        </p:txBody>
      </p:sp>
      <p:sp>
        <p:nvSpPr>
          <p:cNvPr id="17" name="">
            <a:extLst xmlns:a="http://schemas.openxmlformats.org/drawingml/2006/main">
              <a:ext uri="{FF2B5EF4-FFF2-40B4-BE49-F238E27FC236}">
                <a16:creationId xmlns:a16="http://schemas.microsoft.com/office/drawing/2014/main" id="{93562276-B89F-46BB-BA19-EC54E789683E}"/>
              </a:ext>
            </a:extLst>
          </p:cNvPr>
          <p:cNvSpPr>
            <a:spLocks xmlns:a="http://schemas.openxmlformats.org/drawingml/2006/main" noGrp="1"/>
          </p:cNvSpPr>
          <p:nvPr/>
        </p:nvSpPr>
        <p:spPr>
          <a:xfrm xmlns:a="http://schemas.openxmlformats.org/drawingml/2006/main">
            <a:off x="2533650" y="3648075"/>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5781"/>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Preprocessing, modelling and evaluation</a:t>
            </a:r>
          </a:p>
        </p:txBody>
      </p:sp>
      <p:sp>
        <p:nvSpPr>
          <p:cNvPr id="18" name="">
            <a:extLst xmlns:a="http://schemas.openxmlformats.org/drawingml/2006/main">
              <a:ext uri="{FF2B5EF4-FFF2-40B4-BE49-F238E27FC236}">
                <a16:creationId xmlns:a16="http://schemas.microsoft.com/office/drawing/2014/main" id="{9A33472A-9378-459F-9FA3-11F7FDBF1DD9}"/>
              </a:ext>
            </a:extLst>
          </p:cNvPr>
          <p:cNvSpPr>
            <a:spLocks xmlns:a="http://schemas.openxmlformats.org/drawingml/2006/main" noGrp="1"/>
          </p:cNvSpPr>
          <p:nvPr/>
        </p:nvSpPr>
        <p:spPr>
          <a:xfrm xmlns:a="http://schemas.openxmlformats.org/drawingml/2006/main">
            <a:off x="628650" y="4038600"/>
            <a:ext cx="45720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19" name="">
            <a:extLst xmlns:a="http://schemas.openxmlformats.org/drawingml/2006/main">
              <a:ext uri="{FF2B5EF4-FFF2-40B4-BE49-F238E27FC236}">
                <a16:creationId xmlns:a16="http://schemas.microsoft.com/office/drawing/2014/main" id="{2F2F9627-7AD5-4EB1-A299-8468E06DE475}"/>
              </a:ext>
            </a:extLst>
          </p:cNvPr>
          <p:cNvSpPr>
            <a:spLocks xmlns:a="http://schemas.openxmlformats.org/drawingml/2006/main" noGrp="1"/>
          </p:cNvSpPr>
          <p:nvPr/>
        </p:nvSpPr>
        <p:spPr>
          <a:xfrm xmlns:a="http://schemas.openxmlformats.org/drawingml/2006/main">
            <a:off x="628650" y="41719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l">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Pickle</a:t>
            </a:r>
          </a:p>
        </p:txBody>
      </p:sp>
      <p:sp>
        <p:nvSpPr>
          <p:cNvPr id="20" name="">
            <a:extLst xmlns:a="http://schemas.openxmlformats.org/drawingml/2006/main">
              <a:ext uri="{FF2B5EF4-FFF2-40B4-BE49-F238E27FC236}">
                <a16:creationId xmlns:a16="http://schemas.microsoft.com/office/drawing/2014/main" id="{B24A929B-15DA-41EA-A0F9-EB7B0AFA3B51}"/>
              </a:ext>
            </a:extLst>
          </p:cNvPr>
          <p:cNvSpPr>
            <a:spLocks xmlns:a="http://schemas.openxmlformats.org/drawingml/2006/main" noGrp="1"/>
          </p:cNvSpPr>
          <p:nvPr/>
        </p:nvSpPr>
        <p:spPr>
          <a:xfrm xmlns:a="http://schemas.openxmlformats.org/drawingml/2006/main">
            <a:off x="2533650" y="41719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Documented artefact persistence</a:t>
            </a:r>
          </a:p>
        </p:txBody>
      </p:sp>
      <p:sp>
        <p:nvSpPr>
          <p:cNvPr id="21" name="">
            <a:extLst xmlns:a="http://schemas.openxmlformats.org/drawingml/2006/main">
              <a:ext uri="{FF2B5EF4-FFF2-40B4-BE49-F238E27FC236}">
                <a16:creationId xmlns:a16="http://schemas.microsoft.com/office/drawing/2014/main" id="{AF126285-19AD-4F14-B7CA-9D657CD5843D}"/>
              </a:ext>
            </a:extLst>
          </p:cNvPr>
          <p:cNvSpPr>
            <a:spLocks xmlns:a="http://schemas.openxmlformats.org/drawingml/2006/main" noGrp="1"/>
          </p:cNvSpPr>
          <p:nvPr/>
        </p:nvSpPr>
        <p:spPr>
          <a:xfrm xmlns:a="http://schemas.openxmlformats.org/drawingml/2006/main">
            <a:off x="628650" y="4562475"/>
            <a:ext cx="45720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22" name="">
            <a:extLst xmlns:a="http://schemas.openxmlformats.org/drawingml/2006/main">
              <a:ext uri="{FF2B5EF4-FFF2-40B4-BE49-F238E27FC236}">
                <a16:creationId xmlns:a16="http://schemas.microsoft.com/office/drawing/2014/main" id="{C3ACF1E7-3535-44D7-B505-CFB3AB3AC7E3}"/>
              </a:ext>
            </a:extLst>
          </p:cNvPr>
          <p:cNvSpPr>
            <a:spLocks xmlns:a="http://schemas.openxmlformats.org/drawingml/2006/main" noGrp="1"/>
          </p:cNvSpPr>
          <p:nvPr/>
        </p:nvSpPr>
        <p:spPr>
          <a:xfrm xmlns:a="http://schemas.openxmlformats.org/drawingml/2006/main">
            <a:off x="628650" y="48958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ENVIRONMENT</a:t>
            </a:r>
          </a:p>
        </p:txBody>
      </p:sp>
      <p:sp>
        <p:nvSpPr>
          <p:cNvPr id="23" name="">
            <a:extLst xmlns:a="http://schemas.openxmlformats.org/drawingml/2006/main">
              <a:ext uri="{FF2B5EF4-FFF2-40B4-BE49-F238E27FC236}">
                <a16:creationId xmlns:a16="http://schemas.microsoft.com/office/drawing/2014/main" id="{286F0A02-7D38-4011-8BED-283ECDE9629A}"/>
              </a:ext>
            </a:extLst>
          </p:cNvPr>
          <p:cNvSpPr>
            <a:spLocks xmlns:a="http://schemas.openxmlformats.org/drawingml/2006/main" noGrp="1"/>
          </p:cNvSpPr>
          <p:nvPr/>
        </p:nvSpPr>
        <p:spPr>
          <a:xfrm xmlns:a="http://schemas.openxmlformats.org/drawingml/2006/main">
            <a:off x="628650" y="5162550"/>
            <a:ext cx="457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Windows 11; Google Colab / VS Code / Render</a:t>
            </a:r>
          </a:p>
        </p:txBody>
      </p:sp>
      <p:sp>
        <p:nvSpPr>
          <p:cNvPr id="24" name="">
            <a:extLst xmlns:a="http://schemas.openxmlformats.org/drawingml/2006/main">
              <a:ext uri="{FF2B5EF4-FFF2-40B4-BE49-F238E27FC236}">
                <a16:creationId xmlns:a16="http://schemas.microsoft.com/office/drawing/2014/main" id="{7D14EF29-C169-4B7D-AC54-22D765AA70F8}"/>
              </a:ext>
            </a:extLst>
          </p:cNvPr>
          <p:cNvSpPr>
            <a:spLocks xmlns:a="http://schemas.openxmlformats.org/drawingml/2006/main" noGrp="1"/>
          </p:cNvSpPr>
          <p:nvPr/>
        </p:nvSpPr>
        <p:spPr>
          <a:xfrm xmlns:a="http://schemas.openxmlformats.org/drawingml/2006/main">
            <a:off x="628650" y="5476875"/>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286"/>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Intel i3 or higher; 4 GB RAM or higher; 20 GB free disk space</a:t>
            </a:r>
          </a:p>
        </p:txBody>
      </p:sp>
      <p:sp>
        <p:nvSpPr>
          <p:cNvPr id="25" name="">
            <a:extLst xmlns:a="http://schemas.openxmlformats.org/drawingml/2006/main">
              <a:ext uri="{FF2B5EF4-FFF2-40B4-BE49-F238E27FC236}">
                <a16:creationId xmlns:a16="http://schemas.microsoft.com/office/drawing/2014/main" id="{14F5BDAC-F788-4AD4-B72B-8177441BB85F}"/>
              </a:ext>
            </a:extLst>
          </p:cNvPr>
          <p:cNvSpPr>
            <a:spLocks xmlns:a="http://schemas.openxmlformats.org/drawingml/2006/main" noGrp="1"/>
          </p:cNvSpPr>
          <p:nvPr/>
        </p:nvSpPr>
        <p:spPr>
          <a:xfrm xmlns:a="http://schemas.openxmlformats.org/drawingml/2006/main">
            <a:off x="5562600" y="1657350"/>
            <a:ext cx="1857375" cy="285750"/>
          </a:xfrm>
          <a:prstGeom xmlns:a="http://schemas.openxmlformats.org/drawingml/2006/main" prst="rect">
            <a:avLst/>
          </a:prstGeom>
          <a:solidFill xmlns:a="http://schemas.openxmlformats.org/drawingml/2006/main">
            <a:srgbClr val="A67C88"/>
          </a:solidFill>
          <a:ln xmlns:a="http://schemas.openxmlformats.org/drawingml/2006/main" w="0">
            <a:solidFill>
              <a:srgbClr val="A67C88"/>
            </a:solidFill>
            <a:prstDash val="solid"/>
          </a:ln>
        </p:spPr>
      </p:sp>
      <p:sp>
        <p:nvSpPr>
          <p:cNvPr id="26" name="">
            <a:extLst xmlns:a="http://schemas.openxmlformats.org/drawingml/2006/main">
              <a:ext uri="{FF2B5EF4-FFF2-40B4-BE49-F238E27FC236}">
                <a16:creationId xmlns:a16="http://schemas.microsoft.com/office/drawing/2014/main" id="{0838789C-999F-46A5-AC52-578D310E7D86}"/>
              </a:ext>
            </a:extLst>
          </p:cNvPr>
          <p:cNvSpPr>
            <a:spLocks xmlns:a="http://schemas.openxmlformats.org/drawingml/2006/main" noGrp="1"/>
          </p:cNvSpPr>
          <p:nvPr/>
        </p:nvSpPr>
        <p:spPr>
          <a:xfrm xmlns:a="http://schemas.openxmlformats.org/drawingml/2006/main">
            <a:off x="5657850" y="1704975"/>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TESTING AND LIMITS</a:t>
            </a:r>
          </a:p>
        </p:txBody>
      </p:sp>
      <p:sp>
        <p:nvSpPr>
          <p:cNvPr id="27" name="">
            <a:extLst xmlns:a="http://schemas.openxmlformats.org/drawingml/2006/main">
              <a:ext uri="{FF2B5EF4-FFF2-40B4-BE49-F238E27FC236}">
                <a16:creationId xmlns:a16="http://schemas.microsoft.com/office/drawing/2014/main" id="{107C6B01-AD4B-4EBD-9D3E-D7CC1EABE765}"/>
              </a:ext>
            </a:extLst>
          </p:cNvPr>
          <p:cNvSpPr>
            <a:spLocks xmlns:a="http://schemas.openxmlformats.org/drawingml/2006/main" noGrp="1"/>
          </p:cNvSpPr>
          <p:nvPr/>
        </p:nvSpPr>
        <p:spPr>
          <a:xfrm xmlns:a="http://schemas.openxmlformats.org/drawingml/2006/main">
            <a:off x="5562600" y="2076450"/>
            <a:ext cx="6000750" cy="18097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28" name="">
            <a:extLst xmlns:a="http://schemas.openxmlformats.org/drawingml/2006/main">
              <a:ext uri="{FF2B5EF4-FFF2-40B4-BE49-F238E27FC236}">
                <a16:creationId xmlns:a16="http://schemas.microsoft.com/office/drawing/2014/main" id="{F8B07311-F5C0-42A7-9AC6-7D802F34F313}"/>
              </a:ext>
            </a:extLst>
          </p:cNvPr>
          <p:cNvSpPr>
            <a:spLocks xmlns:a="http://schemas.openxmlformats.org/drawingml/2006/main" noGrp="1"/>
          </p:cNvSpPr>
          <p:nvPr/>
        </p:nvSpPr>
        <p:spPr>
          <a:xfrm xmlns:a="http://schemas.openxmlformats.org/drawingml/2006/main">
            <a:off x="5753100" y="2257425"/>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DOCUMENTED TESTING</a:t>
            </a:r>
          </a:p>
        </p:txBody>
      </p:sp>
      <p:sp>
        <p:nvSpPr>
          <p:cNvPr id="29" name="">
            <a:extLst xmlns:a="http://schemas.openxmlformats.org/drawingml/2006/main">
              <a:ext uri="{FF2B5EF4-FFF2-40B4-BE49-F238E27FC236}">
                <a16:creationId xmlns:a16="http://schemas.microsoft.com/office/drawing/2014/main" id="{D49D6300-B4DC-43CF-A1FC-CBDC1056672D}"/>
              </a:ext>
            </a:extLst>
          </p:cNvPr>
          <p:cNvSpPr>
            <a:spLocks xmlns:a="http://schemas.openxmlformats.org/drawingml/2006/main" noGrp="1"/>
          </p:cNvSpPr>
          <p:nvPr/>
        </p:nvSpPr>
        <p:spPr>
          <a:xfrm xmlns:a="http://schemas.openxmlformats.org/drawingml/2006/main">
            <a:off x="5753100" y="2581275"/>
            <a:ext cx="26289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719"/>
          </a:bodyPr>
          <a:lstStyle xmlns:a="http://schemas.openxmlformats.org/drawingml/2006/main"/>
          <a:p xmlns:a="http://schemas.openxmlformats.org/drawingml/2006/main">
            <a:pPr algn="l">
              <a:lnSpc>
                <a:spcPct val="100000"/>
              </a:lnSpc>
              <a:buNone/>
              <a:defRPr sz="1425" b="0" i="0">
                <a:solidFill>
                  <a:srgbClr val="202024"/>
                </a:solidFill>
                <a:latin typeface="Arial"/>
                <a:ea typeface="Arial"/>
                <a:cs typeface="Arial"/>
              </a:defRPr>
            </a:pPr>
            <a:r>
              <a:rPr sz="1425" b="0" i="0">
                <a:solidFill>
                  <a:srgbClr val="202024"/>
                </a:solidFill>
                <a:latin typeface="Arial"/>
                <a:ea typeface="Arial"/>
                <a:cs typeface="Arial"/>
              </a:rPr>
              <a:t>80:20 hold-out evaluation</a:t>
            </a:r>
          </a:p>
          <a:p xmlns:a="http://schemas.openxmlformats.org/drawingml/2006/main">
            <a:pPr algn="l">
              <a:lnSpc>
                <a:spcPct val="100000"/>
              </a:lnSpc>
              <a:buNone/>
              <a:defRPr sz="1425" b="0" i="0">
                <a:solidFill>
                  <a:srgbClr val="202024"/>
                </a:solidFill>
                <a:latin typeface="Arial"/>
                <a:ea typeface="Arial"/>
                <a:cs typeface="Arial"/>
              </a:defRPr>
            </a:pPr>
            <a:r>
              <a:rPr sz="1425" b="0" i="0">
                <a:solidFill>
                  <a:srgbClr val="202024"/>
                </a:solidFill>
                <a:latin typeface="Arial"/>
                <a:ea typeface="Arial"/>
                <a:cs typeface="Arial"/>
              </a:rPr>
              <a:t>Accuracy, confusion matrix and classification report</a:t>
            </a:r>
          </a:p>
          <a:p xmlns:a="http://schemas.openxmlformats.org/drawingml/2006/main">
            <a:pPr algn="l">
              <a:lnSpc>
                <a:spcPct val="100000"/>
              </a:lnSpc>
              <a:buNone/>
              <a:defRPr sz="1425" b="0" i="0">
                <a:solidFill>
                  <a:srgbClr val="202024"/>
                </a:solidFill>
                <a:latin typeface="Arial"/>
                <a:ea typeface="Arial"/>
                <a:cs typeface="Arial"/>
              </a:defRPr>
            </a:pPr>
            <a:r>
              <a:rPr sz="1425" b="0" i="0">
                <a:solidFill>
                  <a:srgbClr val="202024"/>
                </a:solidFill>
                <a:latin typeface="Arial"/>
                <a:ea typeface="Arial"/>
                <a:cs typeface="Arial"/>
              </a:rPr>
              <a:t>Manual prediction with sample customer records</a:t>
            </a:r>
          </a:p>
        </p:txBody>
      </p:sp>
      <p:sp>
        <p:nvSpPr>
          <p:cNvPr id="30" name="">
            <a:extLst xmlns:a="http://schemas.openxmlformats.org/drawingml/2006/main">
              <a:ext uri="{FF2B5EF4-FFF2-40B4-BE49-F238E27FC236}">
                <a16:creationId xmlns:a16="http://schemas.microsoft.com/office/drawing/2014/main" id="{48557D9C-A68E-4CFD-A721-552EE3D4D86C}"/>
              </a:ext>
            </a:extLst>
          </p:cNvPr>
          <p:cNvSpPr>
            <a:spLocks xmlns:a="http://schemas.openxmlformats.org/drawingml/2006/main" noGrp="1"/>
          </p:cNvSpPr>
          <p:nvPr/>
        </p:nvSpPr>
        <p:spPr>
          <a:xfrm xmlns:a="http://schemas.openxmlformats.org/drawingml/2006/main">
            <a:off x="8572500" y="2247900"/>
            <a:ext cx="0" cy="139065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31" name="">
            <a:extLst xmlns:a="http://schemas.openxmlformats.org/drawingml/2006/main">
              <a:ext uri="{FF2B5EF4-FFF2-40B4-BE49-F238E27FC236}">
                <a16:creationId xmlns:a16="http://schemas.microsoft.com/office/drawing/2014/main" id="{1A8C9604-C983-472C-8A8F-CFA3FD760D6F}"/>
              </a:ext>
            </a:extLst>
          </p:cNvPr>
          <p:cNvSpPr>
            <a:spLocks xmlns:a="http://schemas.openxmlformats.org/drawingml/2006/main" noGrp="1"/>
          </p:cNvSpPr>
          <p:nvPr/>
        </p:nvSpPr>
        <p:spPr>
          <a:xfrm xmlns:a="http://schemas.openxmlformats.org/drawingml/2006/main">
            <a:off x="8801100" y="2257425"/>
            <a:ext cx="2533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PROPOSED ROBUSTNESS CHECKS</a:t>
            </a:r>
          </a:p>
        </p:txBody>
      </p:sp>
      <p:sp>
        <p:nvSpPr>
          <p:cNvPr id="32" name="">
            <a:extLst xmlns:a="http://schemas.openxmlformats.org/drawingml/2006/main">
              <a:ext uri="{FF2B5EF4-FFF2-40B4-BE49-F238E27FC236}">
                <a16:creationId xmlns:a16="http://schemas.microsoft.com/office/drawing/2014/main" id="{0F3CAF58-8EE0-45E1-A187-66436BEF73D9}"/>
              </a:ext>
            </a:extLst>
          </p:cNvPr>
          <p:cNvSpPr>
            <a:spLocks xmlns:a="http://schemas.openxmlformats.org/drawingml/2006/main" noGrp="1"/>
          </p:cNvSpPr>
          <p:nvPr/>
        </p:nvSpPr>
        <p:spPr>
          <a:xfrm xmlns:a="http://schemas.openxmlformats.org/drawingml/2006/main">
            <a:off x="8801100" y="2581275"/>
            <a:ext cx="25336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719"/>
          </a:bodyPr>
          <a:lstStyle xmlns:a="http://schemas.openxmlformats.org/drawingml/2006/main"/>
          <a:p xmlns:a="http://schemas.openxmlformats.org/drawingml/2006/main">
            <a:pPr algn="l">
              <a:lnSpc>
                <a:spcPct val="100000"/>
              </a:lnSpc>
              <a:buNone/>
              <a:defRPr sz="1425" b="0" i="0">
                <a:solidFill>
                  <a:srgbClr val="202024"/>
                </a:solidFill>
                <a:latin typeface="Arial"/>
                <a:ea typeface="Arial"/>
                <a:cs typeface="Arial"/>
              </a:defRPr>
            </a:pPr>
            <a:r>
              <a:rPr sz="1425" b="0" i="0">
                <a:solidFill>
                  <a:srgbClr val="202024"/>
                </a:solidFill>
                <a:latin typeface="Arial"/>
                <a:ea typeface="Arial"/>
                <a:cs typeface="Arial"/>
              </a:rPr>
              <a:t>Missing inputs and unseen categories</a:t>
            </a:r>
          </a:p>
          <a:p xmlns:a="http://schemas.openxmlformats.org/drawingml/2006/main">
            <a:pPr algn="l">
              <a:lnSpc>
                <a:spcPct val="100000"/>
              </a:lnSpc>
              <a:buNone/>
              <a:defRPr sz="1425" b="0" i="0">
                <a:solidFill>
                  <a:srgbClr val="202024"/>
                </a:solidFill>
                <a:latin typeface="Arial"/>
                <a:ea typeface="Arial"/>
                <a:cs typeface="Arial"/>
              </a:defRPr>
            </a:pPr>
            <a:r>
              <a:rPr sz="1425" b="0" i="0">
                <a:solidFill>
                  <a:srgbClr val="202024"/>
                </a:solidFill>
                <a:latin typeface="Arial"/>
                <a:ea typeface="Arial"/>
                <a:cs typeface="Arial"/>
              </a:rPr>
              <a:t>Feature order and schema consistency</a:t>
            </a:r>
          </a:p>
          <a:p xmlns:a="http://schemas.openxmlformats.org/drawingml/2006/main">
            <a:pPr algn="l">
              <a:lnSpc>
                <a:spcPct val="100000"/>
              </a:lnSpc>
              <a:buNone/>
              <a:defRPr sz="1425" b="0" i="0">
                <a:solidFill>
                  <a:srgbClr val="202024"/>
                </a:solidFill>
                <a:latin typeface="Arial"/>
                <a:ea typeface="Arial"/>
                <a:cs typeface="Arial"/>
              </a:defRPr>
            </a:pPr>
            <a:r>
              <a:rPr sz="1425" b="0" i="0">
                <a:solidFill>
                  <a:srgbClr val="202024"/>
                </a:solidFill>
                <a:latin typeface="Arial"/>
                <a:ea typeface="Arial"/>
                <a:cs typeface="Arial"/>
              </a:rPr>
              <a:t>Persistence and reload consistency</a:t>
            </a:r>
          </a:p>
        </p:txBody>
      </p:sp>
      <p:sp>
        <p:nvSpPr>
          <p:cNvPr id="33" name="">
            <a:extLst xmlns:a="http://schemas.openxmlformats.org/drawingml/2006/main">
              <a:ext uri="{FF2B5EF4-FFF2-40B4-BE49-F238E27FC236}">
                <a16:creationId xmlns:a16="http://schemas.microsoft.com/office/drawing/2014/main" id="{BE1B8A74-88A9-442F-945F-09F523F5F039}"/>
              </a:ext>
            </a:extLst>
          </p:cNvPr>
          <p:cNvSpPr>
            <a:spLocks xmlns:a="http://schemas.openxmlformats.org/drawingml/2006/main" noGrp="1"/>
          </p:cNvSpPr>
          <p:nvPr/>
        </p:nvSpPr>
        <p:spPr>
          <a:xfrm xmlns:a="http://schemas.openxmlformats.org/drawingml/2006/main">
            <a:off x="5562600" y="4095750"/>
            <a:ext cx="6000750" cy="1104900"/>
          </a:xfrm>
          <a:prstGeom xmlns:a="http://schemas.openxmlformats.org/drawingml/2006/main" prst="rect">
            <a:avLst/>
          </a:prstGeom>
          <a:solidFill xmlns:a="http://schemas.openxmlformats.org/drawingml/2006/main">
            <a:srgbClr val="F1E4E7"/>
          </a:solidFill>
          <a:ln xmlns:a="http://schemas.openxmlformats.org/drawingml/2006/main" w="9525">
            <a:solidFill>
              <a:srgbClr val="E7D4D9"/>
            </a:solidFill>
            <a:prstDash val="solid"/>
          </a:ln>
        </p:spPr>
      </p:sp>
      <p:sp>
        <p:nvSpPr>
          <p:cNvPr id="34" name="">
            <a:extLst xmlns:a="http://schemas.openxmlformats.org/drawingml/2006/main">
              <a:ext uri="{FF2B5EF4-FFF2-40B4-BE49-F238E27FC236}">
                <a16:creationId xmlns:a16="http://schemas.microsoft.com/office/drawing/2014/main" id="{937C527F-A2BB-4BDA-A589-F98BB2B6C3F8}"/>
              </a:ext>
            </a:extLst>
          </p:cNvPr>
          <p:cNvSpPr>
            <a:spLocks xmlns:a="http://schemas.openxmlformats.org/drawingml/2006/main" noGrp="1"/>
          </p:cNvSpPr>
          <p:nvPr/>
        </p:nvSpPr>
        <p:spPr>
          <a:xfrm xmlns:a="http://schemas.openxmlformats.org/drawingml/2006/main">
            <a:off x="5753100" y="4276725"/>
            <a:ext cx="266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METHODOLOGICAL BOUNDARIES</a:t>
            </a:r>
          </a:p>
        </p:txBody>
      </p:sp>
      <p:sp>
        <p:nvSpPr>
          <p:cNvPr id="35" name="">
            <a:extLst xmlns:a="http://schemas.openxmlformats.org/drawingml/2006/main">
              <a:ext uri="{FF2B5EF4-FFF2-40B4-BE49-F238E27FC236}">
                <a16:creationId xmlns:a16="http://schemas.microsoft.com/office/drawing/2014/main" id="{6381FB2B-C26C-45F4-A01D-F245A5815750}"/>
              </a:ext>
            </a:extLst>
          </p:cNvPr>
          <p:cNvSpPr>
            <a:spLocks xmlns:a="http://schemas.openxmlformats.org/drawingml/2006/main" noGrp="1"/>
          </p:cNvSpPr>
          <p:nvPr/>
        </p:nvSpPr>
        <p:spPr>
          <a:xfrm xmlns:a="http://schemas.openxmlformats.org/drawingml/2006/main">
            <a:off x="5753100" y="4572000"/>
            <a:ext cx="542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The synopsis does not specify a churn horizon or exact Customer ID treatment. Predictions indicate association, not causation or certainty.</a:t>
            </a:r>
          </a:p>
        </p:txBody>
      </p:sp>
      <p:sp>
        <p:nvSpPr>
          <p:cNvPr id="36" name="">
            <a:extLst xmlns:a="http://schemas.openxmlformats.org/drawingml/2006/main">
              <a:ext uri="{FF2B5EF4-FFF2-40B4-BE49-F238E27FC236}">
                <a16:creationId xmlns:a16="http://schemas.microsoft.com/office/drawing/2014/main" id="{5D242B87-6FF9-4225-8BC2-E4DDBBE70430}"/>
              </a:ext>
            </a:extLst>
          </p:cNvPr>
          <p:cNvSpPr>
            <a:spLocks xmlns:a="http://schemas.openxmlformats.org/drawingml/2006/main" noGrp="1"/>
          </p:cNvSpPr>
          <p:nvPr/>
        </p:nvSpPr>
        <p:spPr>
          <a:xfrm xmlns:a="http://schemas.openxmlformats.org/drawingml/2006/main">
            <a:off x="5562600" y="5410200"/>
            <a:ext cx="6000750"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37" name="">
            <a:extLst xmlns:a="http://schemas.openxmlformats.org/drawingml/2006/main">
              <a:ext uri="{FF2B5EF4-FFF2-40B4-BE49-F238E27FC236}">
                <a16:creationId xmlns:a16="http://schemas.microsoft.com/office/drawing/2014/main" id="{C796AFB3-218C-4248-BF76-0C429BF571CF}"/>
              </a:ext>
            </a:extLst>
          </p:cNvPr>
          <p:cNvSpPr>
            <a:spLocks xmlns:a="http://schemas.openxmlformats.org/drawingml/2006/main" noGrp="1"/>
          </p:cNvSpPr>
          <p:nvPr/>
        </p:nvSpPr>
        <p:spPr>
          <a:xfrm xmlns:a="http://schemas.openxmlformats.org/drawingml/2006/main">
            <a:off x="5753100" y="5562600"/>
            <a:ext cx="95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SOURCES</a:t>
            </a:r>
          </a:p>
        </p:txBody>
      </p:sp>
      <p:sp>
        <p:nvSpPr>
          <p:cNvPr id="38" name="">
            <a:extLst xmlns:a="http://schemas.openxmlformats.org/drawingml/2006/main">
              <a:ext uri="{FF2B5EF4-FFF2-40B4-BE49-F238E27FC236}">
                <a16:creationId xmlns:a16="http://schemas.microsoft.com/office/drawing/2014/main" id="{628A20A2-FDE9-48D4-AE52-7A4FA44941B5}"/>
              </a:ext>
            </a:extLst>
          </p:cNvPr>
          <p:cNvSpPr>
            <a:spLocks xmlns:a="http://schemas.openxmlformats.org/drawingml/2006/main" noGrp="1"/>
          </p:cNvSpPr>
          <p:nvPr/>
        </p:nvSpPr>
        <p:spPr>
          <a:xfrm xmlns:a="http://schemas.openxmlformats.org/drawingml/2006/main">
            <a:off x="6800850" y="5524500"/>
            <a:ext cx="452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889"/>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Master synopsis; Scikit-learn, Pandas, NumPy, Matplotlib and Seaborn documentation; Kaggle reference; Sebastian Raschka, Python Machine Learning</a:t>
            </a:r>
          </a:p>
        </p:txBody>
      </p:sp>
      <p:sp>
        <p:nvSpPr>
          <p:cNvPr id="39" name="">
            <a:extLst xmlns:a="http://schemas.openxmlformats.org/drawingml/2006/main">
              <a:ext uri="{FF2B5EF4-FFF2-40B4-BE49-F238E27FC236}">
                <a16:creationId xmlns:a16="http://schemas.microsoft.com/office/drawing/2014/main" id="{FBCE8404-489E-465B-8579-BE396E837B81}"/>
              </a:ext>
            </a:extLst>
          </p:cNvPr>
          <p:cNvSpPr>
            <a:spLocks xmlns:a="http://schemas.openxmlformats.org/drawingml/2006/main" noGrp="1"/>
          </p:cNvSpPr>
          <p:nvPr/>
        </p:nvSpPr>
        <p:spPr>
          <a:xfrm xmlns:a="http://schemas.openxmlformats.org/drawingml/2006/main">
            <a:off x="628650" y="6438900"/>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0" name="">
            <a:extLst xmlns:a="http://schemas.openxmlformats.org/drawingml/2006/main">
              <a:ext uri="{FF2B5EF4-FFF2-40B4-BE49-F238E27FC236}">
                <a16:creationId xmlns:a16="http://schemas.microsoft.com/office/drawing/2014/main" id="{DCAAE266-91D6-4FA8-9897-441153B1D4D3}"/>
              </a:ext>
            </a:extLst>
          </p:cNvPr>
          <p:cNvSpPr>
            <a:spLocks xmlns:a="http://schemas.openxmlformats.org/drawingml/2006/main" noGrp="1"/>
          </p:cNvSpPr>
          <p:nvPr/>
        </p:nvSpPr>
        <p:spPr>
          <a:xfrm xmlns:a="http://schemas.openxmlformats.org/drawingml/2006/main">
            <a:off x="628650" y="6524625"/>
            <a:ext cx="10934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0" i="1">
                <a:solidFill>
                  <a:srgbClr val="202024"/>
                </a:solidFill>
                <a:latin typeface="Arial"/>
                <a:ea typeface="Arial"/>
                <a:cs typeface="Arial"/>
              </a:defRPr>
            </a:pPr>
            <a:r>
              <a:rPr sz="825" b="0" i="1">
                <a:solidFill>
                  <a:srgbClr val="202024"/>
                </a:solidFill>
                <a:latin typeface="Arial"/>
                <a:ea typeface="Arial"/>
                <a:cs typeface="Arial"/>
              </a:rPr>
              <a:t>Appendix source: Master synopsis, sections F-G and K</a:t>
            </a:r>
          </a:p>
        </p:txBody>
      </p:sp>
    </p:spTree>
    <p:extLst>
      <p:ext uri="{BB962C8B-B14F-4D97-AF65-F5344CB8AC3E}">
        <p14:creationId xmlns:p14="http://schemas.microsoft.com/office/powerpoint/2010/main" val="876306016"/>
      </p:ext>
    </p:extLst>
  </p:cSld>
</p:sld>
</file>

<file path=ppt/slides/slide7.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9C1ECD9-0DAE-4A2A-B115-E5773DF4083C}"/>
              </a:ext>
            </a:extLst>
          </p:cNvPr>
          <p:cNvSpPr>
            <a:spLocks xmlns:a="http://schemas.openxmlformats.org/drawingml/2006/main" noGrp="1"/>
          </p:cNvSpPr>
          <p:nvPr/>
        </p:nvSpPr>
        <p:spPr>
          <a:xfrm xmlns:a="http://schemas.openxmlformats.org/drawingml/2006/main">
            <a:off x="1333500" y="2781300"/>
            <a:ext cx="9525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4575" b="1" i="0">
                <a:solidFill>
                  <a:srgbClr val="202024"/>
                </a:solidFill>
                <a:latin typeface="Arial"/>
                <a:ea typeface="Arial"/>
                <a:cs typeface="Arial"/>
              </a:defRPr>
            </a:pPr>
            <a:r>
              <a:rPr sz="4575" b="1" i="0">
                <a:solidFill>
                  <a:srgbClr val="202024"/>
                </a:solidFill>
                <a:latin typeface="Arial"/>
                <a:ea typeface="Arial"/>
                <a:cs typeface="Arial"/>
              </a:rPr>
              <a:t>Thank you</a:t>
            </a:r>
          </a:p>
        </p:txBody>
      </p:sp>
    </p:spTree>
    <p:extLst>
      <p:ext uri="{BB962C8B-B14F-4D97-AF65-F5344CB8AC3E}">
        <p14:creationId xmlns:p14="http://schemas.microsoft.com/office/powerpoint/2010/main" val="985857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2026-09-14T18:17:44.1610000Z</dcterms:created>
  <dcterms:modified xsi:type="dcterms:W3CDTF">2026-09-14T18:17:44.1610000Z</dcterms:modified>
</coreProperties>
</file>