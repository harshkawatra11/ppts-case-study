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1e7af88f0a4b11" /><Relationship Type="http://schemas.openxmlformats.org/officeDocument/2006/relationships/extended-properties" Target="/docProps/app.xml" Id="R7e62a402086c49ab" /><Relationship Type="http://schemas.openxmlformats.org/officeDocument/2006/relationships/officeDocument" Target="/ppt/presentation.xml" Id="R0d70ea23f32245da" /></Relationships>
</file>

<file path=ppt/presentation.xml><?xml version="1.0" encoding="utf-8"?>
<p:presentation xmlns:p="http://schemas.openxmlformats.org/presentationml/2006/main">
  <p:sldMasterIdLst>
    <p:sldMasterId xmlns:r="http://schemas.openxmlformats.org/officeDocument/2006/relationships" id="2147483648" r:id="R332beb0f182041b1"/>
  </p:sldMasterIdLst>
  <p:notesMasterIdLst>
    <p:notesMasterId xmlns:r="http://schemas.openxmlformats.org/officeDocument/2006/relationships" r:id="Rd1556cf974334cd1"/>
  </p:notesMasterIdLst>
  <p:sldIdLst>
    <p:sldId xmlns:r="http://schemas.openxmlformats.org/officeDocument/2006/relationships" id="256" r:id="Rb5f7f7ccd2e2421c"/>
    <p:sldId xmlns:r="http://schemas.openxmlformats.org/officeDocument/2006/relationships" id="257" r:id="R0d50cdcb05634af2"/>
    <p:sldId xmlns:r="http://schemas.openxmlformats.org/officeDocument/2006/relationships" id="258" r:id="R91ef0df483c64797"/>
    <p:sldId xmlns:r="http://schemas.openxmlformats.org/officeDocument/2006/relationships" id="259" r:id="R0ad8995a715b4a4a"/>
    <p:sldId xmlns:r="http://schemas.openxmlformats.org/officeDocument/2006/relationships" id="260" r:id="R8e6a52fe464b4e37"/>
    <p:sldId xmlns:r="http://schemas.openxmlformats.org/officeDocument/2006/relationships" id="261" r:id="R63904cb92dbd48f4"/>
    <p:sldId xmlns:r="http://schemas.openxmlformats.org/officeDocument/2006/relationships" id="262" r:id="R586a6c7a13144a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785b1859ea4f46" /><Relationship Type="http://schemas.openxmlformats.org/officeDocument/2006/relationships/slideMaster" Target="/ppt/slideMasters/slideMaster1.xml" Id="R332beb0f182041b1" /><Relationship Type="http://schemas.openxmlformats.org/officeDocument/2006/relationships/notesMaster" Target="/ppt/notesMasters/notesMaster1.xml" Id="Rd1556cf974334cd1" /><Relationship Type="http://schemas.openxmlformats.org/officeDocument/2006/relationships/presProps" Target="/ppt/presProps.xml" Id="R428c103092a14cd6" /><Relationship Type="http://schemas.openxmlformats.org/officeDocument/2006/relationships/tableStyles" Target="/ppt/tableStyles.xml" Id="R9096a62a2a3d4597" /><Relationship Type="http://schemas.openxmlformats.org/officeDocument/2006/relationships/slide" Target="/ppt/slides/slide1.xml" Id="Rb5f7f7ccd2e2421c" /><Relationship Type="http://schemas.openxmlformats.org/officeDocument/2006/relationships/slide" Target="/ppt/slides/slide2.xml" Id="R0d50cdcb05634af2" /><Relationship Type="http://schemas.openxmlformats.org/officeDocument/2006/relationships/slide" Target="/ppt/slides/slide3.xml" Id="R91ef0df483c64797" /><Relationship Type="http://schemas.openxmlformats.org/officeDocument/2006/relationships/slide" Target="/ppt/slides/slide4.xml" Id="R0ad8995a715b4a4a" /><Relationship Type="http://schemas.openxmlformats.org/officeDocument/2006/relationships/slide" Target="/ppt/slides/slide5.xml" Id="R8e6a52fe464b4e37" /><Relationship Type="http://schemas.openxmlformats.org/officeDocument/2006/relationships/slide" Target="/ppt/slides/slide6.xml" Id="R63904cb92dbd48f4" /><Relationship Type="http://schemas.openxmlformats.org/officeDocument/2006/relationships/slide" Target="/ppt/slides/slide7.xml" Id="R586a6c7a13144a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6630c0c59048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4c3f1c0f6c480a" /><Relationship Type="http://schemas.openxmlformats.org/officeDocument/2006/relationships/notesMaster" Target="/ppt/notesMasters/notesMaster1.xml" Id="R72800daa940b44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c2f95a82a842fb" /><Relationship Type="http://schemas.openxmlformats.org/officeDocument/2006/relationships/notesMaster" Target="/ppt/notesMasters/notesMaster1.xml" Id="R99f023e6545448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9b0e9e3af041a5" /><Relationship Type="http://schemas.openxmlformats.org/officeDocument/2006/relationships/notesMaster" Target="/ppt/notesMasters/notesMaster1.xml" Id="Rd078737631e94a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af46a9d7f24c05" /><Relationship Type="http://schemas.openxmlformats.org/officeDocument/2006/relationships/notesMaster" Target="/ppt/notesMasters/notesMaster1.xml" Id="R125bab2cddeb4c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2070358f5f41c8" /><Relationship Type="http://schemas.openxmlformats.org/officeDocument/2006/relationships/notesMaster" Target="/ppt/notesMasters/notesMaster1.xml" Id="Re791766e2cac44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f279936f124317" /><Relationship Type="http://schemas.openxmlformats.org/officeDocument/2006/relationships/notesMaster" Target="/ppt/notesMasters/notesMaster1.xml" Id="R5941b13012f344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97e9f0a4c34fda" /><Relationship Type="http://schemas.openxmlformats.org/officeDocument/2006/relationships/notesMaster" Target="/ppt/notesMasters/notesMaster1.xml" Id="R11c51660c5e04d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machine learning approach to customer churn prediction. The synopsis is the factual source for the project title, student details and academic context. The presentation explains the documented system design and does not use the conflicting numerical results found in the supplied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timing. A company that learns about churn after cancellation has little room to respond. ChurnSense aims to create an earlier signal from historical customer information. The actions shown on the right are illustrative business responses and are not functions claimed for the current Python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upper lane as the training process. The lower lane shows how saved artefacts allow reuse for a new customer record. The synopsis describes saving the model and scaler. Consistent feature order and categorical mappings are requirements for reliable inference and should not be mistaken for verified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combines the transformed customer features and maps the result to a binary class. The confusion matrix is conceptual because the synopsis does not report cell counts. Stress that a missed churner and an unnecessary alert have different consequences, so accuracy alone cannot describe model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band shows how a prediction could enter a business process. It is illustrative. The lower matrix converts the synopsis limitations into a sequence of practical improvements. Model benchmarking includes Decision Tree, Random Forest, SVM and XGBoost. The project should establish dependable validation before live operational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viva questions about tools, evaluation and project boundaries. Kaggle appears in the synopsis bibliography; the presentation does not claim that the supplied CSV provenance was independently verified. The synopsis does not identify a specific edition of Sebastian Raschka's 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1516ee431543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664af5c7594504" /><Relationship Type="http://schemas.openxmlformats.org/officeDocument/2006/relationships/slideLayout" Target="/ppt/slideLayouts/slideLayout1.xml" Id="Rab8849fdf1384c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8849fdf1384c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1094adc6884e12" /><Relationship Type="http://schemas.openxmlformats.org/officeDocument/2006/relationships/notesSlide" Target="/ppt/notesSlides/notesSlide1.xml" Id="R4123065b4f4747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69e1924dad45f4" /><Relationship Type="http://schemas.openxmlformats.org/officeDocument/2006/relationships/notesSlide" Target="/ppt/notesSlides/notesSlide2.xml" Id="R1c1fdcfe2ef948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3b1efc737e412e" /><Relationship Type="http://schemas.openxmlformats.org/officeDocument/2006/relationships/notesSlide" Target="/ppt/notesSlides/notesSlide3.xml" Id="R3c8c39e59cf649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b77928af9c4e4f" /><Relationship Type="http://schemas.openxmlformats.org/officeDocument/2006/relationships/notesSlide" Target="/ppt/notesSlides/notesSlide4.xml" Id="Ra7e6afa3c5e84e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1192dc8ba4433f" /><Relationship Type="http://schemas.openxmlformats.org/officeDocument/2006/relationships/notesSlide" Target="/ppt/notesSlides/notesSlide5.xml" Id="Ree6ddd778e794f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3c2e5562fa4a99" /><Relationship Type="http://schemas.openxmlformats.org/officeDocument/2006/relationships/notesSlide" Target="/ppt/notesSlides/notesSlide6.xml" Id="R353c07dda03347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dd9f90910e405e" /><Relationship Type="http://schemas.openxmlformats.org/officeDocument/2006/relationships/notesSlide" Target="/ppt/notesSlides/notesSlide7.xml" Id="Rc76a0c59c44246d4" /></Relationships>
</file>

<file path=ppt/slides/slide1.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CACB2A2-C68D-4C1B-B80F-CB3383BDBF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46F5BF59-809F-4D02-BDF6-0DA70CC1B682}"/>
              </a:ext>
            </a:extLst>
          </p:cNvPr>
          <p:cNvSpPr>
            <a:spLocks xmlns:a="http://schemas.openxmlformats.org/drawingml/2006/main" noGrp="1"/>
          </p:cNvSpPr>
          <p:nvPr/>
        </p:nvSpPr>
        <p:spPr>
          <a:xfrm xmlns:a="http://schemas.openxmlformats.org/drawingml/2006/main">
            <a:off x="68580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CUSTOMER RETENTION ANALYTICS</a:t>
            </a:r>
          </a:p>
        </p:txBody>
      </p:sp>
      <p:sp>
        <p:nvSpPr>
          <p:cNvPr id="3" name="">
            <a:extLst xmlns:a="http://schemas.openxmlformats.org/drawingml/2006/main">
              <a:ext uri="{FF2B5EF4-FFF2-40B4-BE49-F238E27FC236}">
                <a16:creationId xmlns:a16="http://schemas.microsoft.com/office/drawing/2014/main" id="{06B638AB-D872-4BA0-8A68-C60FEC6CE509}"/>
              </a:ext>
            </a:extLst>
          </p:cNvPr>
          <p:cNvSpPr>
            <a:spLocks xmlns:a="http://schemas.openxmlformats.org/drawingml/2006/main" noGrp="1"/>
          </p:cNvSpPr>
          <p:nvPr/>
        </p:nvSpPr>
        <p:spPr>
          <a:xfrm xmlns:a="http://schemas.openxmlformats.org/drawingml/2006/main">
            <a:off x="685800" y="133350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Customer</a:t>
            </a:r>
          </a:p>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ChurnSense</a:t>
            </a:r>
          </a:p>
        </p:txBody>
      </p:sp>
      <p:sp>
        <p:nvSpPr>
          <p:cNvPr id="4" name="">
            <a:extLst xmlns:a="http://schemas.openxmlformats.org/drawingml/2006/main">
              <a:ext uri="{FF2B5EF4-FFF2-40B4-BE49-F238E27FC236}">
                <a16:creationId xmlns:a16="http://schemas.microsoft.com/office/drawing/2014/main" id="{A7D37A61-E41B-4332-B181-8E237E9D54E7}"/>
              </a:ext>
            </a:extLst>
          </p:cNvPr>
          <p:cNvSpPr>
            <a:spLocks xmlns:a="http://schemas.openxmlformats.org/drawingml/2006/main" noGrp="1"/>
          </p:cNvSpPr>
          <p:nvPr/>
        </p:nvSpPr>
        <p:spPr>
          <a:xfrm xmlns:a="http://schemas.openxmlformats.org/drawingml/2006/main">
            <a:off x="723900" y="30765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AI System Using Machine Learning</a:t>
            </a:r>
          </a:p>
        </p:txBody>
      </p:sp>
      <p:sp>
        <p:nvSpPr>
          <p:cNvPr id="5" name="">
            <a:extLst xmlns:a="http://schemas.openxmlformats.org/drawingml/2006/main">
              <a:ext uri="{FF2B5EF4-FFF2-40B4-BE49-F238E27FC236}">
                <a16:creationId xmlns:a16="http://schemas.microsoft.com/office/drawing/2014/main" id="{B00C9467-B9F9-48F8-BEBF-57325FBA2A7D}"/>
              </a:ext>
            </a:extLst>
          </p:cNvPr>
          <p:cNvSpPr>
            <a:spLocks xmlns:a="http://schemas.openxmlformats.org/drawingml/2006/main" noGrp="1"/>
          </p:cNvSpPr>
          <p:nvPr/>
        </p:nvSpPr>
        <p:spPr>
          <a:xfrm xmlns:a="http://schemas.openxmlformats.org/drawingml/2006/main">
            <a:off x="723900" y="3743325"/>
            <a:ext cx="107442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1D6CBFAA-8B11-425E-922B-89D99EF431EB}"/>
              </a:ext>
            </a:extLst>
          </p:cNvPr>
          <p:cNvSpPr>
            <a:spLocks xmlns:a="http://schemas.openxmlformats.org/drawingml/2006/main" noGrp="1"/>
          </p:cNvSpPr>
          <p:nvPr/>
        </p:nvSpPr>
        <p:spPr>
          <a:xfrm xmlns:a="http://schemas.openxmlformats.org/drawingml/2006/main">
            <a:off x="723900" y="4000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1">
                <a:solidFill>
                  <a:srgbClr val="202024"/>
                </a:solidFill>
                <a:latin typeface="Arial"/>
                <a:ea typeface="Arial"/>
                <a:cs typeface="Arial"/>
              </a:defRPr>
            </a:pPr>
            <a:r>
              <a:rPr sz="1875" b="0" i="1">
                <a:solidFill>
                  <a:srgbClr val="202024"/>
                </a:solidFill>
                <a:latin typeface="Arial"/>
                <a:ea typeface="Arial"/>
                <a:cs typeface="Arial"/>
              </a:rPr>
              <a:t>Historical customer information as an early churn signal</a:t>
            </a:r>
          </a:p>
        </p:txBody>
      </p:sp>
      <p:sp>
        <p:nvSpPr>
          <p:cNvPr id="7" name="">
            <a:extLst xmlns:a="http://schemas.openxmlformats.org/drawingml/2006/main">
              <a:ext uri="{FF2B5EF4-FFF2-40B4-BE49-F238E27FC236}">
                <a16:creationId xmlns:a16="http://schemas.microsoft.com/office/drawing/2014/main" id="{A3CE012C-137D-4C3E-AEF8-EB2933124FB3}"/>
              </a:ext>
            </a:extLst>
          </p:cNvPr>
          <p:cNvSpPr>
            <a:spLocks xmlns:a="http://schemas.openxmlformats.org/drawingml/2006/main" noGrp="1"/>
          </p:cNvSpPr>
          <p:nvPr/>
        </p:nvSpPr>
        <p:spPr>
          <a:xfrm xmlns:a="http://schemas.openxmlformats.org/drawingml/2006/main">
            <a:off x="8629650" y="1190625"/>
            <a:ext cx="2190750" cy="219075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87F7407C-06AC-4DB9-9669-57553C2EDD6D}"/>
              </a:ext>
            </a:extLst>
          </p:cNvPr>
          <p:cNvSpPr>
            <a:spLocks xmlns:a="http://schemas.openxmlformats.org/drawingml/2006/main" noGrp="1"/>
          </p:cNvSpPr>
          <p:nvPr/>
        </p:nvSpPr>
        <p:spPr>
          <a:xfrm xmlns:a="http://schemas.openxmlformats.org/drawingml/2006/main">
            <a:off x="8915400" y="1504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861E141B-3688-4322-B9A0-6E589E58574E}"/>
              </a:ext>
            </a:extLst>
          </p:cNvPr>
          <p:cNvSpPr>
            <a:spLocks xmlns:a="http://schemas.openxmlformats.org/drawingml/2006/main" noGrp="1"/>
          </p:cNvSpPr>
          <p:nvPr/>
        </p:nvSpPr>
        <p:spPr>
          <a:xfrm xmlns:a="http://schemas.openxmlformats.org/drawingml/2006/main">
            <a:off x="9086850" y="202882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0" name="">
            <a:extLst xmlns:a="http://schemas.openxmlformats.org/drawingml/2006/main">
              <a:ext uri="{FF2B5EF4-FFF2-40B4-BE49-F238E27FC236}">
                <a16:creationId xmlns:a16="http://schemas.microsoft.com/office/drawing/2014/main" id="{F7AF40BB-9E57-42EA-8FBD-2C5C98990D3F}"/>
              </a:ext>
            </a:extLst>
          </p:cNvPr>
          <p:cNvSpPr>
            <a:spLocks xmlns:a="http://schemas.openxmlformats.org/drawingml/2006/main" noGrp="1"/>
          </p:cNvSpPr>
          <p:nvPr/>
        </p:nvSpPr>
        <p:spPr>
          <a:xfrm xmlns:a="http://schemas.openxmlformats.org/drawingml/2006/main">
            <a:off x="8915400" y="22860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MODEL</a:t>
            </a:r>
          </a:p>
        </p:txBody>
      </p:sp>
      <p:sp>
        <p:nvSpPr>
          <p:cNvPr id="11" name="">
            <a:extLst xmlns:a="http://schemas.openxmlformats.org/drawingml/2006/main">
              <a:ext uri="{FF2B5EF4-FFF2-40B4-BE49-F238E27FC236}">
                <a16:creationId xmlns:a16="http://schemas.microsoft.com/office/drawing/2014/main" id="{6599C38A-DFC2-4671-9D77-A87FE737B325}"/>
              </a:ext>
            </a:extLst>
          </p:cNvPr>
          <p:cNvSpPr>
            <a:spLocks xmlns:a="http://schemas.openxmlformats.org/drawingml/2006/main" noGrp="1"/>
          </p:cNvSpPr>
          <p:nvPr/>
        </p:nvSpPr>
        <p:spPr>
          <a:xfrm xmlns:a="http://schemas.openxmlformats.org/drawingml/2006/main">
            <a:off x="9086850" y="280987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2" name="">
            <a:extLst xmlns:a="http://schemas.openxmlformats.org/drawingml/2006/main">
              <a:ext uri="{FF2B5EF4-FFF2-40B4-BE49-F238E27FC236}">
                <a16:creationId xmlns:a16="http://schemas.microsoft.com/office/drawing/2014/main" id="{476C75C1-994F-4029-8EE8-710C456ADCF8}"/>
              </a:ext>
            </a:extLst>
          </p:cNvPr>
          <p:cNvSpPr>
            <a:spLocks xmlns:a="http://schemas.openxmlformats.org/drawingml/2006/main" noGrp="1"/>
          </p:cNvSpPr>
          <p:nvPr/>
        </p:nvSpPr>
        <p:spPr>
          <a:xfrm xmlns:a="http://schemas.openxmlformats.org/drawingml/2006/main">
            <a:off x="8915400" y="3057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DECISION</a:t>
            </a:r>
          </a:p>
        </p:txBody>
      </p:sp>
      <p:sp>
        <p:nvSpPr>
          <p:cNvPr id="13" name="">
            <a:extLst xmlns:a="http://schemas.openxmlformats.org/drawingml/2006/main">
              <a:ext uri="{FF2B5EF4-FFF2-40B4-BE49-F238E27FC236}">
                <a16:creationId xmlns:a16="http://schemas.microsoft.com/office/drawing/2014/main" id="{A3EA730C-43D6-4D2D-B2A5-4FEA1A2E4645}"/>
              </a:ext>
            </a:extLst>
          </p:cNvPr>
          <p:cNvSpPr>
            <a:spLocks xmlns:a="http://schemas.openxmlformats.org/drawingml/2006/main" noGrp="1"/>
          </p:cNvSpPr>
          <p:nvPr/>
        </p:nvSpPr>
        <p:spPr>
          <a:xfrm xmlns:a="http://schemas.openxmlformats.org/drawingml/2006/main">
            <a:off x="723900" y="5143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Gursimran Kaur</a:t>
            </a:r>
          </a:p>
        </p:txBody>
      </p:sp>
      <p:sp>
        <p:nvSpPr>
          <p:cNvPr id="14" name="">
            <a:extLst xmlns:a="http://schemas.openxmlformats.org/drawingml/2006/main">
              <a:ext uri="{FF2B5EF4-FFF2-40B4-BE49-F238E27FC236}">
                <a16:creationId xmlns:a16="http://schemas.microsoft.com/office/drawing/2014/main" id="{55F74CE3-4E6B-4E02-9A13-C87B35E2FA11}"/>
              </a:ext>
            </a:extLst>
          </p:cNvPr>
          <p:cNvSpPr>
            <a:spLocks xmlns:a="http://schemas.openxmlformats.org/drawingml/2006/main" noGrp="1"/>
          </p:cNvSpPr>
          <p:nvPr/>
        </p:nvSpPr>
        <p:spPr>
          <a:xfrm xmlns:a="http://schemas.openxmlformats.org/drawingml/2006/main">
            <a:off x="723900" y="54483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Roll No. 02490202024  |  BCA 5A</a:t>
            </a:r>
          </a:p>
        </p:txBody>
      </p:sp>
      <p:sp>
        <p:nvSpPr>
          <p:cNvPr id="15" name="">
            <a:extLst xmlns:a="http://schemas.openxmlformats.org/drawingml/2006/main">
              <a:ext uri="{FF2B5EF4-FFF2-40B4-BE49-F238E27FC236}">
                <a16:creationId xmlns:a16="http://schemas.microsoft.com/office/drawing/2014/main" id="{5F22CCDF-CC71-4AAE-8755-B9F2530DD4ED}"/>
              </a:ext>
            </a:extLst>
          </p:cNvPr>
          <p:cNvSpPr>
            <a:spLocks xmlns:a="http://schemas.openxmlformats.org/drawingml/2006/main" noGrp="1"/>
          </p:cNvSpPr>
          <p:nvPr/>
        </p:nvSpPr>
        <p:spPr>
          <a:xfrm xmlns:a="http://schemas.openxmlformats.org/drawingml/2006/main">
            <a:off x="723900" y="5743575"/>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Software Training Report, BCA Vth Semester</a:t>
            </a:r>
          </a:p>
        </p:txBody>
      </p:sp>
      <p:sp>
        <p:nvSpPr>
          <p:cNvPr id="16" name="">
            <a:extLst xmlns:a="http://schemas.openxmlformats.org/drawingml/2006/main">
              <a:ext uri="{FF2B5EF4-FFF2-40B4-BE49-F238E27FC236}">
                <a16:creationId xmlns:a16="http://schemas.microsoft.com/office/drawing/2014/main" id="{6C1566DB-16DC-4BC8-A123-C0B4A021A0B0}"/>
              </a:ext>
            </a:extLst>
          </p:cNvPr>
          <p:cNvSpPr>
            <a:spLocks xmlns:a="http://schemas.openxmlformats.org/drawingml/2006/main" noGrp="1"/>
          </p:cNvSpPr>
          <p:nvPr/>
        </p:nvSpPr>
        <p:spPr>
          <a:xfrm xmlns:a="http://schemas.openxmlformats.org/drawingml/2006/main">
            <a:off x="723900" y="60674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Sri Guru Teg Bahadur Institute of Management and Information Technology</a:t>
            </a:r>
          </a:p>
        </p:txBody>
      </p:sp>
      <p:sp>
        <p:nvSpPr>
          <p:cNvPr id="17" name="">
            <a:extLst xmlns:a="http://schemas.openxmlformats.org/drawingml/2006/main">
              <a:ext uri="{FF2B5EF4-FFF2-40B4-BE49-F238E27FC236}">
                <a16:creationId xmlns:a16="http://schemas.microsoft.com/office/drawing/2014/main" id="{794DD694-BED6-44B6-8CAE-672BD4BD01F0}"/>
              </a:ext>
            </a:extLst>
          </p:cNvPr>
          <p:cNvSpPr>
            <a:spLocks xmlns:a="http://schemas.openxmlformats.org/drawingml/2006/main" noGrp="1"/>
          </p:cNvSpPr>
          <p:nvPr/>
        </p:nvSpPr>
        <p:spPr>
          <a:xfrm xmlns:a="http://schemas.openxmlformats.org/drawingml/2006/main">
            <a:off x="8382000" y="5286375"/>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Coordinator: Ms. Nehu Gumber</a:t>
            </a:r>
          </a:p>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HOD (BCA): Dr. Raj Kumar</a:t>
            </a:r>
          </a:p>
        </p:txBody>
      </p:sp>
    </p:spTree>
    <p:extLst>
      <p:ext uri="{BB962C8B-B14F-4D97-AF65-F5344CB8AC3E}">
        <p14:creationId xmlns:p14="http://schemas.microsoft.com/office/powerpoint/2010/main" val="856608085"/>
      </p:ext>
    </p:extLst>
  </p:cSld>
</p:sld>
</file>

<file path=ppt/slides/slide2.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A1FF0C2A-51C2-4E83-8BBE-7762E7736671}"/>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E5C8D30A-43C7-4D1C-AEF2-1A1B532B2491}"/>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Earlier churn signals can create time for customer review</a:t>
            </a:r>
          </a:p>
        </p:txBody>
      </p:sp>
      <p:sp>
        <p:nvSpPr>
          <p:cNvPr id="3" name="">
            <a:extLst xmlns:a="http://schemas.openxmlformats.org/drawingml/2006/main">
              <a:ext uri="{FF2B5EF4-FFF2-40B4-BE49-F238E27FC236}">
                <a16:creationId xmlns:a16="http://schemas.microsoft.com/office/drawing/2014/main" id="{15DD6DA2-5167-4DA4-AE30-439AA5D9CDE0}"/>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5C988B4A-169D-4FE6-8089-04A9821347FF}"/>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AA3C9EF-D094-4970-8505-BE470B67EDCF}"/>
              </a:ext>
            </a:extLst>
          </p:cNvPr>
          <p:cNvSpPr>
            <a:spLocks xmlns:a="http://schemas.openxmlformats.org/drawingml/2006/main" noGrp="1"/>
          </p:cNvSpPr>
          <p:nvPr/>
        </p:nvSpPr>
        <p:spPr>
          <a:xfrm xmlns:a="http://schemas.openxmlformats.org/drawingml/2006/main">
            <a:off x="628650" y="1657350"/>
            <a:ext cx="14859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8C96E5D3-FFE9-416D-A2FA-5AF75024F1FD}"/>
              </a:ext>
            </a:extLst>
          </p:cNvPr>
          <p:cNvSpPr>
            <a:spLocks xmlns:a="http://schemas.openxmlformats.org/drawingml/2006/main" noGrp="1"/>
          </p:cNvSpPr>
          <p:nvPr/>
        </p:nvSpPr>
        <p:spPr>
          <a:xfrm xmlns:a="http://schemas.openxmlformats.org/drawingml/2006/main">
            <a:off x="723900" y="17049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797"/>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DECISION WINDOW</a:t>
            </a:r>
          </a:p>
        </p:txBody>
      </p:sp>
      <p:sp>
        <p:nvSpPr>
          <p:cNvPr id="7" name="">
            <a:extLst xmlns:a="http://schemas.openxmlformats.org/drawingml/2006/main">
              <a:ext uri="{FF2B5EF4-FFF2-40B4-BE49-F238E27FC236}">
                <a16:creationId xmlns:a16="http://schemas.microsoft.com/office/drawing/2014/main" id="{A1BFA624-9937-4EBE-AD9E-764FA13DA735}"/>
              </a:ext>
            </a:extLst>
          </p:cNvPr>
          <p:cNvSpPr>
            <a:spLocks xmlns:a="http://schemas.openxmlformats.org/drawingml/2006/main" noGrp="1"/>
          </p:cNvSpPr>
          <p:nvPr/>
        </p:nvSpPr>
        <p:spPr>
          <a:xfrm xmlns:a="http://schemas.openxmlformats.org/drawingml/2006/main">
            <a:off x="6286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B0D6D103-D8D5-4858-A4E3-ADB5F1D3C2F1}"/>
              </a:ext>
            </a:extLst>
          </p:cNvPr>
          <p:cNvSpPr>
            <a:spLocks xmlns:a="http://schemas.openxmlformats.org/drawingml/2006/main" noGrp="1"/>
          </p:cNvSpPr>
          <p:nvPr/>
        </p:nvSpPr>
        <p:spPr>
          <a:xfrm xmlns:a="http://schemas.openxmlformats.org/drawingml/2006/main">
            <a:off x="7620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762E1EA1-C9D3-46C7-BB57-47CA1EAE8B5E}"/>
              </a:ext>
            </a:extLst>
          </p:cNvPr>
          <p:cNvSpPr>
            <a:spLocks xmlns:a="http://schemas.openxmlformats.org/drawingml/2006/main" noGrp="1"/>
          </p:cNvSpPr>
          <p:nvPr/>
        </p:nvSpPr>
        <p:spPr>
          <a:xfrm xmlns:a="http://schemas.openxmlformats.org/drawingml/2006/main">
            <a:off x="11239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889"/>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Historical information</a:t>
            </a:r>
          </a:p>
        </p:txBody>
      </p:sp>
      <p:sp>
        <p:nvSpPr>
          <p:cNvPr id="10" name="">
            <a:extLst xmlns:a="http://schemas.openxmlformats.org/drawingml/2006/main">
              <a:ext uri="{FF2B5EF4-FFF2-40B4-BE49-F238E27FC236}">
                <a16:creationId xmlns:a16="http://schemas.microsoft.com/office/drawing/2014/main" id="{81572C5D-F22C-4776-83BB-F14EB415FA26}"/>
              </a:ext>
            </a:extLst>
          </p:cNvPr>
          <p:cNvSpPr>
            <a:spLocks xmlns:a="http://schemas.openxmlformats.org/drawingml/2006/main" noGrp="1"/>
          </p:cNvSpPr>
          <p:nvPr/>
        </p:nvSpPr>
        <p:spPr>
          <a:xfrm xmlns:a="http://schemas.openxmlformats.org/drawingml/2006/main">
            <a:off x="7810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Customer profile, relationship, billing and service records</a:t>
            </a:r>
          </a:p>
        </p:txBody>
      </p:sp>
      <p:sp>
        <p:nvSpPr>
          <p:cNvPr id="11" name="">
            <a:extLst xmlns:a="http://schemas.openxmlformats.org/drawingml/2006/main">
              <a:ext uri="{FF2B5EF4-FFF2-40B4-BE49-F238E27FC236}">
                <a16:creationId xmlns:a16="http://schemas.microsoft.com/office/drawing/2014/main" id="{6B468BCC-B700-427D-B8C4-83E25B6FDBC0}"/>
              </a:ext>
            </a:extLst>
          </p:cNvPr>
          <p:cNvSpPr>
            <a:spLocks xmlns:a="http://schemas.openxmlformats.org/drawingml/2006/main" noGrp="1"/>
          </p:cNvSpPr>
          <p:nvPr/>
        </p:nvSpPr>
        <p:spPr>
          <a:xfrm xmlns:a="http://schemas.openxmlformats.org/drawingml/2006/main">
            <a:off x="3371850" y="2095500"/>
            <a:ext cx="2571750" cy="9906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12" name="">
            <a:extLst xmlns:a="http://schemas.openxmlformats.org/drawingml/2006/main">
              <a:ext uri="{FF2B5EF4-FFF2-40B4-BE49-F238E27FC236}">
                <a16:creationId xmlns:a16="http://schemas.microsoft.com/office/drawing/2014/main" id="{7BD31C15-F5C2-4310-9AB1-7A298E462A97}"/>
              </a:ext>
            </a:extLst>
          </p:cNvPr>
          <p:cNvSpPr>
            <a:spLocks xmlns:a="http://schemas.openxmlformats.org/drawingml/2006/main" noGrp="1"/>
          </p:cNvSpPr>
          <p:nvPr/>
        </p:nvSpPr>
        <p:spPr>
          <a:xfrm xmlns:a="http://schemas.openxmlformats.org/drawingml/2006/main">
            <a:off x="35052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7D35F615-9555-481A-B9FB-9A82C784D52A}"/>
              </a:ext>
            </a:extLst>
          </p:cNvPr>
          <p:cNvSpPr>
            <a:spLocks xmlns:a="http://schemas.openxmlformats.org/drawingml/2006/main" noGrp="1"/>
          </p:cNvSpPr>
          <p:nvPr/>
        </p:nvSpPr>
        <p:spPr>
          <a:xfrm xmlns:a="http://schemas.openxmlformats.org/drawingml/2006/main">
            <a:off x="38671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Risk prediction</a:t>
            </a:r>
          </a:p>
        </p:txBody>
      </p:sp>
      <p:sp>
        <p:nvSpPr>
          <p:cNvPr id="14" name="">
            <a:extLst xmlns:a="http://schemas.openxmlformats.org/drawingml/2006/main">
              <a:ext uri="{FF2B5EF4-FFF2-40B4-BE49-F238E27FC236}">
                <a16:creationId xmlns:a16="http://schemas.microsoft.com/office/drawing/2014/main" id="{ED0458E5-0A40-4FB6-8C27-82FC436C5234}"/>
              </a:ext>
            </a:extLst>
          </p:cNvPr>
          <p:cNvSpPr>
            <a:spLocks xmlns:a="http://schemas.openxmlformats.org/drawingml/2006/main" noGrp="1"/>
          </p:cNvSpPr>
          <p:nvPr/>
        </p:nvSpPr>
        <p:spPr>
          <a:xfrm xmlns:a="http://schemas.openxmlformats.org/drawingml/2006/main">
            <a:off x="35242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classifier assigns a likely stay or churn label</a:t>
            </a:r>
          </a:p>
        </p:txBody>
      </p:sp>
      <p:sp>
        <p:nvSpPr>
          <p:cNvPr id="15" name="">
            <a:extLst xmlns:a="http://schemas.openxmlformats.org/drawingml/2006/main">
              <a:ext uri="{FF2B5EF4-FFF2-40B4-BE49-F238E27FC236}">
                <a16:creationId xmlns:a16="http://schemas.microsoft.com/office/drawing/2014/main" id="{3A97C2AF-D993-4C4A-AE7B-0D907554B007}"/>
              </a:ext>
            </a:extLst>
          </p:cNvPr>
          <p:cNvSpPr>
            <a:spLocks xmlns:a="http://schemas.openxmlformats.org/drawingml/2006/main" noGrp="1"/>
          </p:cNvSpPr>
          <p:nvPr/>
        </p:nvSpPr>
        <p:spPr>
          <a:xfrm xmlns:a="http://schemas.openxmlformats.org/drawingml/2006/main">
            <a:off x="61150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004BED9B-40CA-47D3-9C8B-6411F131AF0E}"/>
              </a:ext>
            </a:extLst>
          </p:cNvPr>
          <p:cNvSpPr>
            <a:spLocks xmlns:a="http://schemas.openxmlformats.org/drawingml/2006/main" noGrp="1"/>
          </p:cNvSpPr>
          <p:nvPr/>
        </p:nvSpPr>
        <p:spPr>
          <a:xfrm xmlns:a="http://schemas.openxmlformats.org/drawingml/2006/main">
            <a:off x="62484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461142BA-AFFF-4F9E-9376-9E750C2B9039}"/>
              </a:ext>
            </a:extLst>
          </p:cNvPr>
          <p:cNvSpPr>
            <a:spLocks xmlns:a="http://schemas.openxmlformats.org/drawingml/2006/main" noGrp="1"/>
          </p:cNvSpPr>
          <p:nvPr/>
        </p:nvSpPr>
        <p:spPr>
          <a:xfrm xmlns:a="http://schemas.openxmlformats.org/drawingml/2006/main">
            <a:off x="66103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review</a:t>
            </a:r>
          </a:p>
        </p:txBody>
      </p:sp>
      <p:sp>
        <p:nvSpPr>
          <p:cNvPr id="18" name="">
            <a:extLst xmlns:a="http://schemas.openxmlformats.org/drawingml/2006/main">
              <a:ext uri="{FF2B5EF4-FFF2-40B4-BE49-F238E27FC236}">
                <a16:creationId xmlns:a16="http://schemas.microsoft.com/office/drawing/2014/main" id="{27866916-5764-4A71-B6F6-140991103B9A}"/>
              </a:ext>
            </a:extLst>
          </p:cNvPr>
          <p:cNvSpPr>
            <a:spLocks xmlns:a="http://schemas.openxmlformats.org/drawingml/2006/main" noGrp="1"/>
          </p:cNvSpPr>
          <p:nvPr/>
        </p:nvSpPr>
        <p:spPr>
          <a:xfrm xmlns:a="http://schemas.openxmlformats.org/drawingml/2006/main">
            <a:off x="62674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A business team can examine the account context</a:t>
            </a:r>
          </a:p>
        </p:txBody>
      </p:sp>
      <p:sp>
        <p:nvSpPr>
          <p:cNvPr id="19" name="">
            <a:extLst xmlns:a="http://schemas.openxmlformats.org/drawingml/2006/main">
              <a:ext uri="{FF2B5EF4-FFF2-40B4-BE49-F238E27FC236}">
                <a16:creationId xmlns:a16="http://schemas.microsoft.com/office/drawing/2014/main" id="{807F123B-6FDC-4FFD-8AE3-2651113FFD83}"/>
              </a:ext>
            </a:extLst>
          </p:cNvPr>
          <p:cNvSpPr>
            <a:spLocks xmlns:a="http://schemas.openxmlformats.org/drawingml/2006/main" noGrp="1"/>
          </p:cNvSpPr>
          <p:nvPr/>
        </p:nvSpPr>
        <p:spPr>
          <a:xfrm xmlns:a="http://schemas.openxmlformats.org/drawingml/2006/main">
            <a:off x="88582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C2F8787F-E644-47F9-B7AE-123C929A2DDB}"/>
              </a:ext>
            </a:extLst>
          </p:cNvPr>
          <p:cNvSpPr>
            <a:spLocks xmlns:a="http://schemas.openxmlformats.org/drawingml/2006/main" noGrp="1"/>
          </p:cNvSpPr>
          <p:nvPr/>
        </p:nvSpPr>
        <p:spPr>
          <a:xfrm xmlns:a="http://schemas.openxmlformats.org/drawingml/2006/main">
            <a:off x="89916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519D10DA-0C94-46EF-981E-35C276A5F1B0}"/>
              </a:ext>
            </a:extLst>
          </p:cNvPr>
          <p:cNvSpPr>
            <a:spLocks xmlns:a="http://schemas.openxmlformats.org/drawingml/2006/main" noGrp="1"/>
          </p:cNvSpPr>
          <p:nvPr/>
        </p:nvSpPr>
        <p:spPr>
          <a:xfrm xmlns:a="http://schemas.openxmlformats.org/drawingml/2006/main">
            <a:off x="93535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Illustrative action</a:t>
            </a:r>
          </a:p>
        </p:txBody>
      </p:sp>
      <p:sp>
        <p:nvSpPr>
          <p:cNvPr id="22" name="">
            <a:extLst xmlns:a="http://schemas.openxmlformats.org/drawingml/2006/main">
              <a:ext uri="{FF2B5EF4-FFF2-40B4-BE49-F238E27FC236}">
                <a16:creationId xmlns:a16="http://schemas.microsoft.com/office/drawing/2014/main" id="{A3B77F83-9A21-4B2E-8449-ADD3ABCDF3FB}"/>
              </a:ext>
            </a:extLst>
          </p:cNvPr>
          <p:cNvSpPr>
            <a:spLocks xmlns:a="http://schemas.openxmlformats.org/drawingml/2006/main" noGrp="1"/>
          </p:cNvSpPr>
          <p:nvPr/>
        </p:nvSpPr>
        <p:spPr>
          <a:xfrm xmlns:a="http://schemas.openxmlformats.org/drawingml/2006/main">
            <a:off x="90106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Engagement, service recovery or a suitable offer</a:t>
            </a:r>
          </a:p>
        </p:txBody>
      </p:sp>
      <p:sp>
        <p:nvSpPr>
          <p:cNvPr id="23" name="">
            <a:extLst xmlns:a="http://schemas.openxmlformats.org/drawingml/2006/main">
              <a:ext uri="{FF2B5EF4-FFF2-40B4-BE49-F238E27FC236}">
                <a16:creationId xmlns:a16="http://schemas.microsoft.com/office/drawing/2014/main" id="{CE762FB8-4985-41DD-93F8-BF72E598AEFE}"/>
              </a:ext>
            </a:extLst>
          </p:cNvPr>
          <p:cNvSpPr>
            <a:spLocks xmlns:a="http://schemas.openxmlformats.org/drawingml/2006/main" noGrp="1"/>
          </p:cNvSpPr>
          <p:nvPr/>
        </p:nvSpPr>
        <p:spPr>
          <a:xfrm xmlns:a="http://schemas.openxmlformats.org/drawingml/2006/main">
            <a:off x="32004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4" name="">
            <a:extLst xmlns:a="http://schemas.openxmlformats.org/drawingml/2006/main">
              <a:ext uri="{FF2B5EF4-FFF2-40B4-BE49-F238E27FC236}">
                <a16:creationId xmlns:a16="http://schemas.microsoft.com/office/drawing/2014/main" id="{4A1CAB7A-43DC-463A-B35B-152C626DF55C}"/>
              </a:ext>
            </a:extLst>
          </p:cNvPr>
          <p:cNvSpPr>
            <a:spLocks xmlns:a="http://schemas.openxmlformats.org/drawingml/2006/main" noGrp="1"/>
          </p:cNvSpPr>
          <p:nvPr/>
        </p:nvSpPr>
        <p:spPr>
          <a:xfrm xmlns:a="http://schemas.openxmlformats.org/drawingml/2006/main">
            <a:off x="59436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5" name="">
            <a:extLst xmlns:a="http://schemas.openxmlformats.org/drawingml/2006/main">
              <a:ext uri="{FF2B5EF4-FFF2-40B4-BE49-F238E27FC236}">
                <a16:creationId xmlns:a16="http://schemas.microsoft.com/office/drawing/2014/main" id="{06992515-599E-4ACA-A174-47DC255C8865}"/>
              </a:ext>
            </a:extLst>
          </p:cNvPr>
          <p:cNvSpPr>
            <a:spLocks xmlns:a="http://schemas.openxmlformats.org/drawingml/2006/main" noGrp="1"/>
          </p:cNvSpPr>
          <p:nvPr/>
        </p:nvSpPr>
        <p:spPr>
          <a:xfrm xmlns:a="http://schemas.openxmlformats.org/drawingml/2006/main">
            <a:off x="86868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6" name="">
            <a:extLst xmlns:a="http://schemas.openxmlformats.org/drawingml/2006/main">
              <a:ext uri="{FF2B5EF4-FFF2-40B4-BE49-F238E27FC236}">
                <a16:creationId xmlns:a16="http://schemas.microsoft.com/office/drawing/2014/main" id="{70725314-202E-41C3-AA2E-26CB0F80BBA9}"/>
              </a:ext>
            </a:extLst>
          </p:cNvPr>
          <p:cNvSpPr>
            <a:spLocks xmlns:a="http://schemas.openxmlformats.org/drawingml/2006/main" noGrp="1"/>
          </p:cNvSpPr>
          <p:nvPr/>
        </p:nvSpPr>
        <p:spPr>
          <a:xfrm xmlns:a="http://schemas.openxmlformats.org/drawingml/2006/main">
            <a:off x="628650" y="3371850"/>
            <a:ext cx="177165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1B32A0E2-7163-40DE-BAB1-26F7FE7D3909}"/>
              </a:ext>
            </a:extLst>
          </p:cNvPr>
          <p:cNvSpPr>
            <a:spLocks xmlns:a="http://schemas.openxmlformats.org/drawingml/2006/main" noGrp="1"/>
          </p:cNvSpPr>
          <p:nvPr/>
        </p:nvSpPr>
        <p:spPr>
          <a:xfrm xmlns:a="http://schemas.openxmlformats.org/drawingml/2006/main">
            <a:off x="723900" y="3419475"/>
            <a:ext cx="1581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383"/>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AVAILABLE INFORMATION</a:t>
            </a:r>
          </a:p>
        </p:txBody>
      </p:sp>
      <p:sp>
        <p:nvSpPr>
          <p:cNvPr id="28" name="">
            <a:extLst xmlns:a="http://schemas.openxmlformats.org/drawingml/2006/main">
              <a:ext uri="{FF2B5EF4-FFF2-40B4-BE49-F238E27FC236}">
                <a16:creationId xmlns:a16="http://schemas.microsoft.com/office/drawing/2014/main" id="{FDD403B1-263F-4409-87A9-AF649C272B08}"/>
              </a:ext>
            </a:extLst>
          </p:cNvPr>
          <p:cNvSpPr>
            <a:spLocks xmlns:a="http://schemas.openxmlformats.org/drawingml/2006/main" noGrp="1"/>
          </p:cNvSpPr>
          <p:nvPr/>
        </p:nvSpPr>
        <p:spPr>
          <a:xfrm xmlns:a="http://schemas.openxmlformats.org/drawingml/2006/main">
            <a:off x="6286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PROFILE</a:t>
            </a:r>
          </a:p>
        </p:txBody>
      </p:sp>
      <p:sp>
        <p:nvSpPr>
          <p:cNvPr id="29" name="">
            <a:extLst xmlns:a="http://schemas.openxmlformats.org/drawingml/2006/main">
              <a:ext uri="{FF2B5EF4-FFF2-40B4-BE49-F238E27FC236}">
                <a16:creationId xmlns:a16="http://schemas.microsoft.com/office/drawing/2014/main" id="{26A873C4-6F30-45D8-A531-0C892DF8A56C}"/>
              </a:ext>
            </a:extLst>
          </p:cNvPr>
          <p:cNvSpPr>
            <a:spLocks xmlns:a="http://schemas.openxmlformats.org/drawingml/2006/main" noGrp="1"/>
          </p:cNvSpPr>
          <p:nvPr/>
        </p:nvSpPr>
        <p:spPr>
          <a:xfrm xmlns:a="http://schemas.openxmlformats.org/drawingml/2006/main">
            <a:off x="6286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Gender and age</a:t>
            </a:r>
          </a:p>
        </p:txBody>
      </p:sp>
      <p:sp>
        <p:nvSpPr>
          <p:cNvPr id="30" name="">
            <a:extLst xmlns:a="http://schemas.openxmlformats.org/drawingml/2006/main">
              <a:ext uri="{FF2B5EF4-FFF2-40B4-BE49-F238E27FC236}">
                <a16:creationId xmlns:a16="http://schemas.microsoft.com/office/drawing/2014/main" id="{B7994FD9-85D5-4B7D-A5B9-0DB4E70BA311}"/>
              </a:ext>
            </a:extLst>
          </p:cNvPr>
          <p:cNvSpPr>
            <a:spLocks xmlns:a="http://schemas.openxmlformats.org/drawingml/2006/main" noGrp="1"/>
          </p:cNvSpPr>
          <p:nvPr/>
        </p:nvSpPr>
        <p:spPr>
          <a:xfrm xmlns:a="http://schemas.openxmlformats.org/drawingml/2006/main">
            <a:off x="6286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5903ED14-97B6-43BE-B1F4-548C2194BF36}"/>
              </a:ext>
            </a:extLst>
          </p:cNvPr>
          <p:cNvSpPr>
            <a:spLocks xmlns:a="http://schemas.openxmlformats.org/drawingml/2006/main" noGrp="1"/>
          </p:cNvSpPr>
          <p:nvPr/>
        </p:nvSpPr>
        <p:spPr>
          <a:xfrm xmlns:a="http://schemas.openxmlformats.org/drawingml/2006/main">
            <a:off x="33528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RELATIONSHIP</a:t>
            </a:r>
          </a:p>
        </p:txBody>
      </p:sp>
      <p:sp>
        <p:nvSpPr>
          <p:cNvPr id="32" name="">
            <a:extLst xmlns:a="http://schemas.openxmlformats.org/drawingml/2006/main">
              <a:ext uri="{FF2B5EF4-FFF2-40B4-BE49-F238E27FC236}">
                <a16:creationId xmlns:a16="http://schemas.microsoft.com/office/drawing/2014/main" id="{EF8A553B-CDF5-4B3F-BAA1-E689BA32F114}"/>
              </a:ext>
            </a:extLst>
          </p:cNvPr>
          <p:cNvSpPr>
            <a:spLocks xmlns:a="http://schemas.openxmlformats.org/drawingml/2006/main" noGrp="1"/>
          </p:cNvSpPr>
          <p:nvPr/>
        </p:nvSpPr>
        <p:spPr>
          <a:xfrm xmlns:a="http://schemas.openxmlformats.org/drawingml/2006/main">
            <a:off x="33528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Tenure</a:t>
            </a:r>
          </a:p>
        </p:txBody>
      </p:sp>
      <p:sp>
        <p:nvSpPr>
          <p:cNvPr id="33" name="">
            <a:extLst xmlns:a="http://schemas.openxmlformats.org/drawingml/2006/main">
              <a:ext uri="{FF2B5EF4-FFF2-40B4-BE49-F238E27FC236}">
                <a16:creationId xmlns:a16="http://schemas.microsoft.com/office/drawing/2014/main" id="{5F89BCE5-630D-4A26-9A24-52C049C1510B}"/>
              </a:ext>
            </a:extLst>
          </p:cNvPr>
          <p:cNvSpPr>
            <a:spLocks xmlns:a="http://schemas.openxmlformats.org/drawingml/2006/main" noGrp="1"/>
          </p:cNvSpPr>
          <p:nvPr/>
        </p:nvSpPr>
        <p:spPr>
          <a:xfrm xmlns:a="http://schemas.openxmlformats.org/drawingml/2006/main">
            <a:off x="33528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6CB41816-D2DC-4079-ABF2-7AF7F3AB3CE7}"/>
              </a:ext>
            </a:extLst>
          </p:cNvPr>
          <p:cNvSpPr>
            <a:spLocks xmlns:a="http://schemas.openxmlformats.org/drawingml/2006/main" noGrp="1"/>
          </p:cNvSpPr>
          <p:nvPr/>
        </p:nvSpPr>
        <p:spPr>
          <a:xfrm xmlns:a="http://schemas.openxmlformats.org/drawingml/2006/main">
            <a:off x="60769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BILLING</a:t>
            </a:r>
          </a:p>
        </p:txBody>
      </p:sp>
      <p:sp>
        <p:nvSpPr>
          <p:cNvPr id="35" name="">
            <a:extLst xmlns:a="http://schemas.openxmlformats.org/drawingml/2006/main">
              <a:ext uri="{FF2B5EF4-FFF2-40B4-BE49-F238E27FC236}">
                <a16:creationId xmlns:a16="http://schemas.microsoft.com/office/drawing/2014/main" id="{E39FD40D-7F75-4D35-BDA5-0053AE5EF521}"/>
              </a:ext>
            </a:extLst>
          </p:cNvPr>
          <p:cNvSpPr>
            <a:spLocks xmlns:a="http://schemas.openxmlformats.org/drawingml/2006/main" noGrp="1"/>
          </p:cNvSpPr>
          <p:nvPr/>
        </p:nvSpPr>
        <p:spPr>
          <a:xfrm xmlns:a="http://schemas.openxmlformats.org/drawingml/2006/main">
            <a:off x="60769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Monthly and total charges</a:t>
            </a:r>
          </a:p>
        </p:txBody>
      </p:sp>
      <p:sp>
        <p:nvSpPr>
          <p:cNvPr id="36" name="">
            <a:extLst xmlns:a="http://schemas.openxmlformats.org/drawingml/2006/main">
              <a:ext uri="{FF2B5EF4-FFF2-40B4-BE49-F238E27FC236}">
                <a16:creationId xmlns:a16="http://schemas.microsoft.com/office/drawing/2014/main" id="{F4744950-EF29-4843-A6FE-A49C386929F8}"/>
              </a:ext>
            </a:extLst>
          </p:cNvPr>
          <p:cNvSpPr>
            <a:spLocks xmlns:a="http://schemas.openxmlformats.org/drawingml/2006/main" noGrp="1"/>
          </p:cNvSpPr>
          <p:nvPr/>
        </p:nvSpPr>
        <p:spPr>
          <a:xfrm xmlns:a="http://schemas.openxmlformats.org/drawingml/2006/main">
            <a:off x="60769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A882B35D-114C-43E7-B455-FDC9CE3DA58E}"/>
              </a:ext>
            </a:extLst>
          </p:cNvPr>
          <p:cNvSpPr>
            <a:spLocks xmlns:a="http://schemas.openxmlformats.org/drawingml/2006/main" noGrp="1"/>
          </p:cNvSpPr>
          <p:nvPr/>
        </p:nvSpPr>
        <p:spPr>
          <a:xfrm xmlns:a="http://schemas.openxmlformats.org/drawingml/2006/main">
            <a:off x="88011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CONTRACT &amp; SERVICE</a:t>
            </a:r>
          </a:p>
        </p:txBody>
      </p:sp>
      <p:sp>
        <p:nvSpPr>
          <p:cNvPr id="38" name="">
            <a:extLst xmlns:a="http://schemas.openxmlformats.org/drawingml/2006/main">
              <a:ext uri="{FF2B5EF4-FFF2-40B4-BE49-F238E27FC236}">
                <a16:creationId xmlns:a16="http://schemas.microsoft.com/office/drawing/2014/main" id="{AAB2B220-720D-422F-BFC8-A859E7D32985}"/>
              </a:ext>
            </a:extLst>
          </p:cNvPr>
          <p:cNvSpPr>
            <a:spLocks xmlns:a="http://schemas.openxmlformats.org/drawingml/2006/main" noGrp="1"/>
          </p:cNvSpPr>
          <p:nvPr/>
        </p:nvSpPr>
        <p:spPr>
          <a:xfrm xmlns:a="http://schemas.openxmlformats.org/drawingml/2006/main">
            <a:off x="88011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74"/>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Contract type, internet service and related attributes</a:t>
            </a:r>
          </a:p>
        </p:txBody>
      </p:sp>
      <p:sp>
        <p:nvSpPr>
          <p:cNvPr id="39" name="">
            <a:extLst xmlns:a="http://schemas.openxmlformats.org/drawingml/2006/main">
              <a:ext uri="{FF2B5EF4-FFF2-40B4-BE49-F238E27FC236}">
                <a16:creationId xmlns:a16="http://schemas.microsoft.com/office/drawing/2014/main" id="{98CCAA78-FD6E-4F47-98B1-4A6C0E5DCFBE}"/>
              </a:ext>
            </a:extLst>
          </p:cNvPr>
          <p:cNvSpPr>
            <a:spLocks xmlns:a="http://schemas.openxmlformats.org/drawingml/2006/main" noGrp="1"/>
          </p:cNvSpPr>
          <p:nvPr/>
        </p:nvSpPr>
        <p:spPr>
          <a:xfrm xmlns:a="http://schemas.openxmlformats.org/drawingml/2006/main">
            <a:off x="88011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241C52EF-3E3F-4846-A05B-E3D244EDD43C}"/>
              </a:ext>
            </a:extLst>
          </p:cNvPr>
          <p:cNvSpPr>
            <a:spLocks xmlns:a="http://schemas.openxmlformats.org/drawingml/2006/main" noGrp="1"/>
          </p:cNvSpPr>
          <p:nvPr/>
        </p:nvSpPr>
        <p:spPr>
          <a:xfrm xmlns:a="http://schemas.openxmlformats.org/drawingml/2006/main">
            <a:off x="628650" y="4953000"/>
            <a:ext cx="109347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9DFEF3BF-CB27-414C-8778-1F13D265AC52}"/>
              </a:ext>
            </a:extLst>
          </p:cNvPr>
          <p:cNvSpPr>
            <a:spLocks xmlns:a="http://schemas.openxmlformats.org/drawingml/2006/main" noGrp="1"/>
          </p:cNvSpPr>
          <p:nvPr/>
        </p:nvSpPr>
        <p:spPr>
          <a:xfrm xmlns:a="http://schemas.openxmlformats.org/drawingml/2006/main">
            <a:off x="819150" y="51530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BINARY TARGET</a:t>
            </a:r>
          </a:p>
        </p:txBody>
      </p:sp>
      <p:sp>
        <p:nvSpPr>
          <p:cNvPr id="42" name="">
            <a:extLst xmlns:a="http://schemas.openxmlformats.org/drawingml/2006/main">
              <a:ext uri="{FF2B5EF4-FFF2-40B4-BE49-F238E27FC236}">
                <a16:creationId xmlns:a16="http://schemas.microsoft.com/office/drawing/2014/main" id="{507F86B1-5FF5-478D-BA42-A56C31A923E6}"/>
              </a:ext>
            </a:extLst>
          </p:cNvPr>
          <p:cNvSpPr>
            <a:spLocks xmlns:a="http://schemas.openxmlformats.org/drawingml/2006/main" noGrp="1"/>
          </p:cNvSpPr>
          <p:nvPr/>
        </p:nvSpPr>
        <p:spPr>
          <a:xfrm xmlns:a="http://schemas.openxmlformats.org/drawingml/2006/main">
            <a:off x="819150"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0</a:t>
            </a:r>
          </a:p>
        </p:txBody>
      </p:sp>
      <p:sp>
        <p:nvSpPr>
          <p:cNvPr id="43" name="">
            <a:extLst xmlns:a="http://schemas.openxmlformats.org/drawingml/2006/main">
              <a:ext uri="{FF2B5EF4-FFF2-40B4-BE49-F238E27FC236}">
                <a16:creationId xmlns:a16="http://schemas.microsoft.com/office/drawing/2014/main" id="{2F6469F8-4AD7-466D-9873-C88EF5B53AC7}"/>
              </a:ext>
            </a:extLst>
          </p:cNvPr>
          <p:cNvSpPr>
            <a:spLocks xmlns:a="http://schemas.openxmlformats.org/drawingml/2006/main" noGrp="1"/>
          </p:cNvSpPr>
          <p:nvPr/>
        </p:nvSpPr>
        <p:spPr>
          <a:xfrm xmlns:a="http://schemas.openxmlformats.org/drawingml/2006/main">
            <a:off x="1219200" y="54864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stay</a:t>
            </a:r>
          </a:p>
        </p:txBody>
      </p:sp>
      <p:sp>
        <p:nvSpPr>
          <p:cNvPr id="44" name="">
            <a:extLst xmlns:a="http://schemas.openxmlformats.org/drawingml/2006/main">
              <a:ext uri="{FF2B5EF4-FFF2-40B4-BE49-F238E27FC236}">
                <a16:creationId xmlns:a16="http://schemas.microsoft.com/office/drawing/2014/main" id="{53072314-6186-484E-9A26-1367C65B4C4D}"/>
              </a:ext>
            </a:extLst>
          </p:cNvPr>
          <p:cNvSpPr>
            <a:spLocks xmlns:a="http://schemas.openxmlformats.org/drawingml/2006/main" noGrp="1"/>
          </p:cNvSpPr>
          <p:nvPr/>
        </p:nvSpPr>
        <p:spPr>
          <a:xfrm xmlns:a="http://schemas.openxmlformats.org/drawingml/2006/main">
            <a:off x="3095625"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a:t>
            </a:r>
          </a:p>
        </p:txBody>
      </p:sp>
      <p:sp>
        <p:nvSpPr>
          <p:cNvPr id="45" name="">
            <a:extLst xmlns:a="http://schemas.openxmlformats.org/drawingml/2006/main">
              <a:ext uri="{FF2B5EF4-FFF2-40B4-BE49-F238E27FC236}">
                <a16:creationId xmlns:a16="http://schemas.microsoft.com/office/drawing/2014/main" id="{2F0F7D54-FAF6-42CF-9AF2-37185C0DB8A8}"/>
              </a:ext>
            </a:extLst>
          </p:cNvPr>
          <p:cNvSpPr>
            <a:spLocks xmlns:a="http://schemas.openxmlformats.org/drawingml/2006/main" noGrp="1"/>
          </p:cNvSpPr>
          <p:nvPr/>
        </p:nvSpPr>
        <p:spPr>
          <a:xfrm xmlns:a="http://schemas.openxmlformats.org/drawingml/2006/main">
            <a:off x="3495675" y="54864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churn</a:t>
            </a:r>
          </a:p>
        </p:txBody>
      </p:sp>
      <p:sp>
        <p:nvSpPr>
          <p:cNvPr id="46" name="">
            <a:extLst xmlns:a="http://schemas.openxmlformats.org/drawingml/2006/main">
              <a:ext uri="{FF2B5EF4-FFF2-40B4-BE49-F238E27FC236}">
                <a16:creationId xmlns:a16="http://schemas.microsoft.com/office/drawing/2014/main" id="{2B3AC810-A583-4BCA-9AFD-6B403583BDD5}"/>
              </a:ext>
            </a:extLst>
          </p:cNvPr>
          <p:cNvSpPr>
            <a:spLocks xmlns:a="http://schemas.openxmlformats.org/drawingml/2006/main" noGrp="1"/>
          </p:cNvSpPr>
          <p:nvPr/>
        </p:nvSpPr>
        <p:spPr>
          <a:xfrm xmlns:a="http://schemas.openxmlformats.org/drawingml/2006/main">
            <a:off x="565785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79AEFF36-1A55-4378-B193-B914ED2DEA52}"/>
              </a:ext>
            </a:extLst>
          </p:cNvPr>
          <p:cNvSpPr>
            <a:spLocks xmlns:a="http://schemas.openxmlformats.org/drawingml/2006/main" noGrp="1"/>
          </p:cNvSpPr>
          <p:nvPr/>
        </p:nvSpPr>
        <p:spPr>
          <a:xfrm xmlns:a="http://schemas.openxmlformats.org/drawingml/2006/main">
            <a:off x="6000750" y="52197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~1,000</a:t>
            </a:r>
          </a:p>
        </p:txBody>
      </p:sp>
      <p:sp>
        <p:nvSpPr>
          <p:cNvPr id="48" name="">
            <a:extLst xmlns:a="http://schemas.openxmlformats.org/drawingml/2006/main">
              <a:ext uri="{FF2B5EF4-FFF2-40B4-BE49-F238E27FC236}">
                <a16:creationId xmlns:a16="http://schemas.microsoft.com/office/drawing/2014/main" id="{77063510-A9F7-437F-8195-1996703B0868}"/>
              </a:ext>
            </a:extLst>
          </p:cNvPr>
          <p:cNvSpPr>
            <a:spLocks xmlns:a="http://schemas.openxmlformats.org/drawingml/2006/main" noGrp="1"/>
          </p:cNvSpPr>
          <p:nvPr/>
        </p:nvSpPr>
        <p:spPr>
          <a:xfrm xmlns:a="http://schemas.openxmlformats.org/drawingml/2006/main">
            <a:off x="6000750" y="55626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074"/>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static records described in the synopsis</a:t>
            </a:r>
          </a:p>
        </p:txBody>
      </p:sp>
      <p:sp>
        <p:nvSpPr>
          <p:cNvPr id="49" name="">
            <a:extLst xmlns:a="http://schemas.openxmlformats.org/drawingml/2006/main">
              <a:ext uri="{FF2B5EF4-FFF2-40B4-BE49-F238E27FC236}">
                <a16:creationId xmlns:a16="http://schemas.microsoft.com/office/drawing/2014/main" id="{ABFC89D6-99F4-4FEF-8388-802E8FA8D780}"/>
              </a:ext>
            </a:extLst>
          </p:cNvPr>
          <p:cNvSpPr>
            <a:spLocks xmlns:a="http://schemas.openxmlformats.org/drawingml/2006/main" noGrp="1"/>
          </p:cNvSpPr>
          <p:nvPr/>
        </p:nvSpPr>
        <p:spPr>
          <a:xfrm xmlns:a="http://schemas.openxmlformats.org/drawingml/2006/main">
            <a:off x="845820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097C7F0E-030B-47B1-859D-9572196283C3}"/>
              </a:ext>
            </a:extLst>
          </p:cNvPr>
          <p:cNvSpPr>
            <a:spLocks xmlns:a="http://schemas.openxmlformats.org/drawingml/2006/main" noGrp="1"/>
          </p:cNvSpPr>
          <p:nvPr/>
        </p:nvSpPr>
        <p:spPr>
          <a:xfrm xmlns:a="http://schemas.openxmlformats.org/drawingml/2006/main">
            <a:off x="8801100" y="52197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Boundary</a:t>
            </a:r>
          </a:p>
        </p:txBody>
      </p:sp>
      <p:sp>
        <p:nvSpPr>
          <p:cNvPr id="51" name="">
            <a:extLst xmlns:a="http://schemas.openxmlformats.org/drawingml/2006/main">
              <a:ext uri="{FF2B5EF4-FFF2-40B4-BE49-F238E27FC236}">
                <a16:creationId xmlns:a16="http://schemas.microsoft.com/office/drawing/2014/main" id="{6218759B-B55B-43E8-B1AE-320EF4C608A3}"/>
              </a:ext>
            </a:extLst>
          </p:cNvPr>
          <p:cNvSpPr>
            <a:spLocks xmlns:a="http://schemas.openxmlformats.org/drawingml/2006/main" noGrp="1"/>
          </p:cNvSpPr>
          <p:nvPr/>
        </p:nvSpPr>
        <p:spPr>
          <a:xfrm xmlns:a="http://schemas.openxmlformats.org/drawingml/2006/main">
            <a:off x="8801100" y="5505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output supports review. It does not explain why a customer leaves.</a:t>
            </a:r>
          </a:p>
        </p:txBody>
      </p:sp>
      <p:sp>
        <p:nvSpPr>
          <p:cNvPr id="52" name="">
            <a:extLst xmlns:a="http://schemas.openxmlformats.org/drawingml/2006/main">
              <a:ext uri="{FF2B5EF4-FFF2-40B4-BE49-F238E27FC236}">
                <a16:creationId xmlns:a16="http://schemas.microsoft.com/office/drawing/2014/main" id="{5FD260F5-061F-46EC-B01A-D11C1DA9403A}"/>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3B558D68-6143-4BA4-B38F-EBF7B9AA76DE}"/>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A-D, H-I</a:t>
            </a:r>
          </a:p>
        </p:txBody>
      </p:sp>
    </p:spTree>
    <p:extLst>
      <p:ext uri="{BB962C8B-B14F-4D97-AF65-F5344CB8AC3E}">
        <p14:creationId xmlns:p14="http://schemas.microsoft.com/office/powerpoint/2010/main" val="1325252110"/>
      </p:ext>
    </p:extLst>
  </p:cSld>
</p:sld>
</file>

<file path=ppt/slides/slide3.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914140AA-67CC-40A7-9FA0-CE94786F1817}"/>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MACHINE LEARNING WORKFLOW</a:t>
            </a:r>
          </a:p>
        </p:txBody>
      </p:sp>
      <p:sp>
        <p:nvSpPr>
          <p:cNvPr id="2" name="">
            <a:extLst xmlns:a="http://schemas.openxmlformats.org/drawingml/2006/main">
              <a:ext uri="{FF2B5EF4-FFF2-40B4-BE49-F238E27FC236}">
                <a16:creationId xmlns:a16="http://schemas.microsoft.com/office/drawing/2014/main" id="{1AFB0E41-23FA-4526-86C6-20D19EA2F62C}"/>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The documented workflow separates model training from future prediction</a:t>
            </a:r>
          </a:p>
        </p:txBody>
      </p:sp>
      <p:sp>
        <p:nvSpPr>
          <p:cNvPr id="3" name="">
            <a:extLst xmlns:a="http://schemas.openxmlformats.org/drawingml/2006/main">
              <a:ext uri="{FF2B5EF4-FFF2-40B4-BE49-F238E27FC236}">
                <a16:creationId xmlns:a16="http://schemas.microsoft.com/office/drawing/2014/main" id="{0FF392A7-7E95-4815-9446-F9436A5492C7}"/>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34FB1885-8058-46DA-8718-532293EF8A81}"/>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1B7723A-4AD2-45A4-84B3-A14245D800B5}"/>
              </a:ext>
            </a:extLst>
          </p:cNvPr>
          <p:cNvSpPr>
            <a:spLocks xmlns:a="http://schemas.openxmlformats.org/drawingml/2006/main" noGrp="1"/>
          </p:cNvSpPr>
          <p:nvPr/>
        </p:nvSpPr>
        <p:spPr>
          <a:xfrm xmlns:a="http://schemas.openxmlformats.org/drawingml/2006/main">
            <a:off x="628650" y="1647825"/>
            <a:ext cx="12573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3E352157-085A-4019-ACC3-25177ECC6FB5}"/>
              </a:ext>
            </a:extLst>
          </p:cNvPr>
          <p:cNvSpPr>
            <a:spLocks xmlns:a="http://schemas.openxmlformats.org/drawingml/2006/main" noGrp="1"/>
          </p:cNvSpPr>
          <p:nvPr/>
        </p:nvSpPr>
        <p:spPr>
          <a:xfrm xmlns:a="http://schemas.openxmlformats.org/drawingml/2006/main">
            <a:off x="723900" y="16954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03"/>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TRAINING PATH</a:t>
            </a:r>
          </a:p>
        </p:txBody>
      </p:sp>
      <p:sp>
        <p:nvSpPr>
          <p:cNvPr id="7" name="">
            <a:extLst xmlns:a="http://schemas.openxmlformats.org/drawingml/2006/main">
              <a:ext uri="{FF2B5EF4-FFF2-40B4-BE49-F238E27FC236}">
                <a16:creationId xmlns:a16="http://schemas.microsoft.com/office/drawing/2014/main" id="{28757B25-A634-4C44-8422-15315330595B}"/>
              </a:ext>
            </a:extLst>
          </p:cNvPr>
          <p:cNvSpPr>
            <a:spLocks xmlns:a="http://schemas.openxmlformats.org/drawingml/2006/main" noGrp="1"/>
          </p:cNvSpPr>
          <p:nvPr/>
        </p:nvSpPr>
        <p:spPr>
          <a:xfrm xmlns:a="http://schemas.openxmlformats.org/drawingml/2006/main">
            <a:off x="6286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A4C134EE-E2C6-45C0-98C4-D759DBD15006}"/>
              </a:ext>
            </a:extLst>
          </p:cNvPr>
          <p:cNvSpPr>
            <a:spLocks xmlns:a="http://schemas.openxmlformats.org/drawingml/2006/main" noGrp="1"/>
          </p:cNvSpPr>
          <p:nvPr/>
        </p:nvSpPr>
        <p:spPr>
          <a:xfrm xmlns:a="http://schemas.openxmlformats.org/drawingml/2006/main">
            <a:off x="7429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45FF8CCE-7F56-496A-8648-928115C546D4}"/>
              </a:ext>
            </a:extLst>
          </p:cNvPr>
          <p:cNvSpPr>
            <a:spLocks xmlns:a="http://schemas.openxmlformats.org/drawingml/2006/main" noGrp="1"/>
          </p:cNvSpPr>
          <p:nvPr/>
        </p:nvSpPr>
        <p:spPr>
          <a:xfrm xmlns:a="http://schemas.openxmlformats.org/drawingml/2006/main">
            <a:off x="9906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Inspect</a:t>
            </a:r>
          </a:p>
        </p:txBody>
      </p:sp>
      <p:sp>
        <p:nvSpPr>
          <p:cNvPr id="10" name="">
            <a:extLst xmlns:a="http://schemas.openxmlformats.org/drawingml/2006/main">
              <a:ext uri="{FF2B5EF4-FFF2-40B4-BE49-F238E27FC236}">
                <a16:creationId xmlns:a16="http://schemas.microsoft.com/office/drawing/2014/main" id="{BC77CD74-3C1D-49D0-8FCF-A344B91C1806}"/>
              </a:ext>
            </a:extLst>
          </p:cNvPr>
          <p:cNvSpPr>
            <a:spLocks xmlns:a="http://schemas.openxmlformats.org/drawingml/2006/main" noGrp="1"/>
          </p:cNvSpPr>
          <p:nvPr/>
        </p:nvSpPr>
        <p:spPr>
          <a:xfrm xmlns:a="http://schemas.openxmlformats.org/drawingml/2006/main">
            <a:off x="7429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95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shape, info, describe</a:t>
            </a:r>
          </a:p>
        </p:txBody>
      </p:sp>
      <p:sp>
        <p:nvSpPr>
          <p:cNvPr id="11" name="">
            <a:extLst xmlns:a="http://schemas.openxmlformats.org/drawingml/2006/main">
              <a:ext uri="{FF2B5EF4-FFF2-40B4-BE49-F238E27FC236}">
                <a16:creationId xmlns:a16="http://schemas.microsoft.com/office/drawing/2014/main" id="{2AD82FAB-500B-491D-902A-1BDD7EB1FD3D}"/>
              </a:ext>
            </a:extLst>
          </p:cNvPr>
          <p:cNvSpPr>
            <a:spLocks xmlns:a="http://schemas.openxmlformats.org/drawingml/2006/main" noGrp="1"/>
          </p:cNvSpPr>
          <p:nvPr/>
        </p:nvSpPr>
        <p:spPr>
          <a:xfrm xmlns:a="http://schemas.openxmlformats.org/drawingml/2006/main">
            <a:off x="19812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D88285EB-88C4-4198-B67E-85DB7B271855}"/>
              </a:ext>
            </a:extLst>
          </p:cNvPr>
          <p:cNvSpPr>
            <a:spLocks xmlns:a="http://schemas.openxmlformats.org/drawingml/2006/main" noGrp="1"/>
          </p:cNvSpPr>
          <p:nvPr/>
        </p:nvSpPr>
        <p:spPr>
          <a:xfrm xmlns:a="http://schemas.openxmlformats.org/drawingml/2006/main">
            <a:off x="21717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56790416-FA09-4EDB-BA03-1647C799430C}"/>
              </a:ext>
            </a:extLst>
          </p:cNvPr>
          <p:cNvSpPr>
            <a:spLocks xmlns:a="http://schemas.openxmlformats.org/drawingml/2006/main" noGrp="1"/>
          </p:cNvSpPr>
          <p:nvPr/>
        </p:nvSpPr>
        <p:spPr>
          <a:xfrm xmlns:a="http://schemas.openxmlformats.org/drawingml/2006/main">
            <a:off x="22860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B09038C5-8D85-435F-A6A6-6449491EACD1}"/>
              </a:ext>
            </a:extLst>
          </p:cNvPr>
          <p:cNvSpPr>
            <a:spLocks xmlns:a="http://schemas.openxmlformats.org/drawingml/2006/main" noGrp="1"/>
          </p:cNvSpPr>
          <p:nvPr/>
        </p:nvSpPr>
        <p:spPr>
          <a:xfrm xmlns:a="http://schemas.openxmlformats.org/drawingml/2006/main">
            <a:off x="25336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1987F493-2B5F-490F-B8C7-3E413402D76B}"/>
              </a:ext>
            </a:extLst>
          </p:cNvPr>
          <p:cNvSpPr>
            <a:spLocks xmlns:a="http://schemas.openxmlformats.org/drawingml/2006/main" noGrp="1"/>
          </p:cNvSpPr>
          <p:nvPr/>
        </p:nvSpPr>
        <p:spPr>
          <a:xfrm xmlns:a="http://schemas.openxmlformats.org/drawingml/2006/main">
            <a:off x="22860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fill missing values</a:t>
            </a:r>
          </a:p>
        </p:txBody>
      </p:sp>
      <p:sp>
        <p:nvSpPr>
          <p:cNvPr id="16" name="">
            <a:extLst xmlns:a="http://schemas.openxmlformats.org/drawingml/2006/main">
              <a:ext uri="{FF2B5EF4-FFF2-40B4-BE49-F238E27FC236}">
                <a16:creationId xmlns:a16="http://schemas.microsoft.com/office/drawing/2014/main" id="{4AA368D4-C5C7-4922-BB2B-B6CD9F0B9A08}"/>
              </a:ext>
            </a:extLst>
          </p:cNvPr>
          <p:cNvSpPr>
            <a:spLocks xmlns:a="http://schemas.openxmlformats.org/drawingml/2006/main" noGrp="1"/>
          </p:cNvSpPr>
          <p:nvPr/>
        </p:nvSpPr>
        <p:spPr>
          <a:xfrm xmlns:a="http://schemas.openxmlformats.org/drawingml/2006/main">
            <a:off x="35242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997BBB4B-C8F6-491C-8366-D7F737C5C2D7}"/>
              </a:ext>
            </a:extLst>
          </p:cNvPr>
          <p:cNvSpPr>
            <a:spLocks xmlns:a="http://schemas.openxmlformats.org/drawingml/2006/main" noGrp="1"/>
          </p:cNvSpPr>
          <p:nvPr/>
        </p:nvSpPr>
        <p:spPr>
          <a:xfrm xmlns:a="http://schemas.openxmlformats.org/drawingml/2006/main">
            <a:off x="37147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908E905A-5162-4CB6-B85E-EA47BDD10CBF}"/>
              </a:ext>
            </a:extLst>
          </p:cNvPr>
          <p:cNvSpPr>
            <a:spLocks xmlns:a="http://schemas.openxmlformats.org/drawingml/2006/main" noGrp="1"/>
          </p:cNvSpPr>
          <p:nvPr/>
        </p:nvSpPr>
        <p:spPr>
          <a:xfrm xmlns:a="http://schemas.openxmlformats.org/drawingml/2006/main">
            <a:off x="38290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4684998C-3AF7-4854-8F5B-FFCC35F6F111}"/>
              </a:ext>
            </a:extLst>
          </p:cNvPr>
          <p:cNvSpPr>
            <a:spLocks xmlns:a="http://schemas.openxmlformats.org/drawingml/2006/main" noGrp="1"/>
          </p:cNvSpPr>
          <p:nvPr/>
        </p:nvSpPr>
        <p:spPr>
          <a:xfrm xmlns:a="http://schemas.openxmlformats.org/drawingml/2006/main">
            <a:off x="40767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Encode</a:t>
            </a:r>
          </a:p>
        </p:txBody>
      </p:sp>
      <p:sp>
        <p:nvSpPr>
          <p:cNvPr id="20" name="">
            <a:extLst xmlns:a="http://schemas.openxmlformats.org/drawingml/2006/main">
              <a:ext uri="{FF2B5EF4-FFF2-40B4-BE49-F238E27FC236}">
                <a16:creationId xmlns:a16="http://schemas.microsoft.com/office/drawing/2014/main" id="{6E15D61B-1478-40D1-8C5B-9F5A10BBCC09}"/>
              </a:ext>
            </a:extLst>
          </p:cNvPr>
          <p:cNvSpPr>
            <a:spLocks xmlns:a="http://schemas.openxmlformats.org/drawingml/2006/main" noGrp="1"/>
          </p:cNvSpPr>
          <p:nvPr/>
        </p:nvSpPr>
        <p:spPr>
          <a:xfrm xmlns:a="http://schemas.openxmlformats.org/drawingml/2006/main">
            <a:off x="38290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61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convert categories</a:t>
            </a:r>
          </a:p>
        </p:txBody>
      </p:sp>
      <p:sp>
        <p:nvSpPr>
          <p:cNvPr id="21" name="">
            <a:extLst xmlns:a="http://schemas.openxmlformats.org/drawingml/2006/main">
              <a:ext uri="{FF2B5EF4-FFF2-40B4-BE49-F238E27FC236}">
                <a16:creationId xmlns:a16="http://schemas.microsoft.com/office/drawing/2014/main" id="{E982EEC9-16B1-4EA7-BD0F-6C28671C0E7C}"/>
              </a:ext>
            </a:extLst>
          </p:cNvPr>
          <p:cNvSpPr>
            <a:spLocks xmlns:a="http://schemas.openxmlformats.org/drawingml/2006/main" noGrp="1"/>
          </p:cNvSpPr>
          <p:nvPr/>
        </p:nvSpPr>
        <p:spPr>
          <a:xfrm xmlns:a="http://schemas.openxmlformats.org/drawingml/2006/main">
            <a:off x="50673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2ED16CC8-4F83-4EB1-A3F6-BC13BBC6E3E1}"/>
              </a:ext>
            </a:extLst>
          </p:cNvPr>
          <p:cNvSpPr>
            <a:spLocks xmlns:a="http://schemas.openxmlformats.org/drawingml/2006/main" noGrp="1"/>
          </p:cNvSpPr>
          <p:nvPr/>
        </p:nvSpPr>
        <p:spPr>
          <a:xfrm xmlns:a="http://schemas.openxmlformats.org/drawingml/2006/main">
            <a:off x="52578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755B70ED-EC95-4462-BBA6-6AE9D600624D}"/>
              </a:ext>
            </a:extLst>
          </p:cNvPr>
          <p:cNvSpPr>
            <a:spLocks xmlns:a="http://schemas.openxmlformats.org/drawingml/2006/main" noGrp="1"/>
          </p:cNvSpPr>
          <p:nvPr/>
        </p:nvSpPr>
        <p:spPr>
          <a:xfrm xmlns:a="http://schemas.openxmlformats.org/drawingml/2006/main">
            <a:off x="53721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81518C0E-6669-4C30-8A1B-64A82F23C17B}"/>
              </a:ext>
            </a:extLst>
          </p:cNvPr>
          <p:cNvSpPr>
            <a:spLocks xmlns:a="http://schemas.openxmlformats.org/drawingml/2006/main" noGrp="1"/>
          </p:cNvSpPr>
          <p:nvPr/>
        </p:nvSpPr>
        <p:spPr>
          <a:xfrm xmlns:a="http://schemas.openxmlformats.org/drawingml/2006/main">
            <a:off x="56197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Split</a:t>
            </a:r>
          </a:p>
        </p:txBody>
      </p:sp>
      <p:sp>
        <p:nvSpPr>
          <p:cNvPr id="25" name="">
            <a:extLst xmlns:a="http://schemas.openxmlformats.org/drawingml/2006/main">
              <a:ext uri="{FF2B5EF4-FFF2-40B4-BE49-F238E27FC236}">
                <a16:creationId xmlns:a16="http://schemas.microsoft.com/office/drawing/2014/main" id="{466EB30C-33D9-452A-9E0C-28E649EBFD67}"/>
              </a:ext>
            </a:extLst>
          </p:cNvPr>
          <p:cNvSpPr>
            <a:spLocks xmlns:a="http://schemas.openxmlformats.org/drawingml/2006/main" noGrp="1"/>
          </p:cNvSpPr>
          <p:nvPr/>
        </p:nvSpPr>
        <p:spPr>
          <a:xfrm xmlns:a="http://schemas.openxmlformats.org/drawingml/2006/main">
            <a:off x="53721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89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 train, 20% test</a:t>
            </a:r>
          </a:p>
        </p:txBody>
      </p:sp>
      <p:sp>
        <p:nvSpPr>
          <p:cNvPr id="26" name="">
            <a:extLst xmlns:a="http://schemas.openxmlformats.org/drawingml/2006/main">
              <a:ext uri="{FF2B5EF4-FFF2-40B4-BE49-F238E27FC236}">
                <a16:creationId xmlns:a16="http://schemas.microsoft.com/office/drawing/2014/main" id="{0A4E7E37-6627-453A-8DD6-7964508AAA55}"/>
              </a:ext>
            </a:extLst>
          </p:cNvPr>
          <p:cNvSpPr>
            <a:spLocks xmlns:a="http://schemas.openxmlformats.org/drawingml/2006/main" noGrp="1"/>
          </p:cNvSpPr>
          <p:nvPr/>
        </p:nvSpPr>
        <p:spPr>
          <a:xfrm xmlns:a="http://schemas.openxmlformats.org/drawingml/2006/main">
            <a:off x="66103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7" name="">
            <a:extLst xmlns:a="http://schemas.openxmlformats.org/drawingml/2006/main">
              <a:ext uri="{FF2B5EF4-FFF2-40B4-BE49-F238E27FC236}">
                <a16:creationId xmlns:a16="http://schemas.microsoft.com/office/drawing/2014/main" id="{EE108394-89B8-44D4-AAE4-16BC89EE782C}"/>
              </a:ext>
            </a:extLst>
          </p:cNvPr>
          <p:cNvSpPr>
            <a:spLocks xmlns:a="http://schemas.openxmlformats.org/drawingml/2006/main" noGrp="1"/>
          </p:cNvSpPr>
          <p:nvPr/>
        </p:nvSpPr>
        <p:spPr>
          <a:xfrm xmlns:a="http://schemas.openxmlformats.org/drawingml/2006/main">
            <a:off x="68008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A716F8BA-2A5D-4ABE-882D-49BC09B5C36F}"/>
              </a:ext>
            </a:extLst>
          </p:cNvPr>
          <p:cNvSpPr>
            <a:spLocks xmlns:a="http://schemas.openxmlformats.org/drawingml/2006/main" noGrp="1"/>
          </p:cNvSpPr>
          <p:nvPr/>
        </p:nvSpPr>
        <p:spPr>
          <a:xfrm xmlns:a="http://schemas.openxmlformats.org/drawingml/2006/main">
            <a:off x="69151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83C39473-20B4-4CCD-8598-C982A05BE82C}"/>
              </a:ext>
            </a:extLst>
          </p:cNvPr>
          <p:cNvSpPr>
            <a:spLocks xmlns:a="http://schemas.openxmlformats.org/drawingml/2006/main" noGrp="1"/>
          </p:cNvSpPr>
          <p:nvPr/>
        </p:nvSpPr>
        <p:spPr>
          <a:xfrm xmlns:a="http://schemas.openxmlformats.org/drawingml/2006/main">
            <a:off x="71628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Scale</a:t>
            </a:r>
          </a:p>
        </p:txBody>
      </p:sp>
      <p:sp>
        <p:nvSpPr>
          <p:cNvPr id="30" name="">
            <a:extLst xmlns:a="http://schemas.openxmlformats.org/drawingml/2006/main">
              <a:ext uri="{FF2B5EF4-FFF2-40B4-BE49-F238E27FC236}">
                <a16:creationId xmlns:a16="http://schemas.microsoft.com/office/drawing/2014/main" id="{FCF1E477-50E6-40B9-BE9B-A851A13CA260}"/>
              </a:ext>
            </a:extLst>
          </p:cNvPr>
          <p:cNvSpPr>
            <a:spLocks xmlns:a="http://schemas.openxmlformats.org/drawingml/2006/main" noGrp="1"/>
          </p:cNvSpPr>
          <p:nvPr/>
        </p:nvSpPr>
        <p:spPr>
          <a:xfrm xmlns:a="http://schemas.openxmlformats.org/drawingml/2006/main">
            <a:off x="69151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fit on training data</a:t>
            </a:r>
          </a:p>
        </p:txBody>
      </p:sp>
      <p:sp>
        <p:nvSpPr>
          <p:cNvPr id="31" name="">
            <a:extLst xmlns:a="http://schemas.openxmlformats.org/drawingml/2006/main">
              <a:ext uri="{FF2B5EF4-FFF2-40B4-BE49-F238E27FC236}">
                <a16:creationId xmlns:a16="http://schemas.microsoft.com/office/drawing/2014/main" id="{813000B3-6419-400C-BA26-C7808D48EB6B}"/>
              </a:ext>
            </a:extLst>
          </p:cNvPr>
          <p:cNvSpPr>
            <a:spLocks xmlns:a="http://schemas.openxmlformats.org/drawingml/2006/main" noGrp="1"/>
          </p:cNvSpPr>
          <p:nvPr/>
        </p:nvSpPr>
        <p:spPr>
          <a:xfrm xmlns:a="http://schemas.openxmlformats.org/drawingml/2006/main">
            <a:off x="81534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2" name="">
            <a:extLst xmlns:a="http://schemas.openxmlformats.org/drawingml/2006/main">
              <a:ext uri="{FF2B5EF4-FFF2-40B4-BE49-F238E27FC236}">
                <a16:creationId xmlns:a16="http://schemas.microsoft.com/office/drawing/2014/main" id="{2A774E22-3359-45A0-BACD-D7590736B981}"/>
              </a:ext>
            </a:extLst>
          </p:cNvPr>
          <p:cNvSpPr>
            <a:spLocks xmlns:a="http://schemas.openxmlformats.org/drawingml/2006/main" noGrp="1"/>
          </p:cNvSpPr>
          <p:nvPr/>
        </p:nvSpPr>
        <p:spPr>
          <a:xfrm xmlns:a="http://schemas.openxmlformats.org/drawingml/2006/main">
            <a:off x="8343900" y="2076450"/>
            <a:ext cx="1352550" cy="8382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33" name="">
            <a:extLst xmlns:a="http://schemas.openxmlformats.org/drawingml/2006/main">
              <a:ext uri="{FF2B5EF4-FFF2-40B4-BE49-F238E27FC236}">
                <a16:creationId xmlns:a16="http://schemas.microsoft.com/office/drawing/2014/main" id="{FAD1B5F3-2FF7-4629-899A-C0AF07F8AFFC}"/>
              </a:ext>
            </a:extLst>
          </p:cNvPr>
          <p:cNvSpPr>
            <a:spLocks xmlns:a="http://schemas.openxmlformats.org/drawingml/2006/main" noGrp="1"/>
          </p:cNvSpPr>
          <p:nvPr/>
        </p:nvSpPr>
        <p:spPr>
          <a:xfrm xmlns:a="http://schemas.openxmlformats.org/drawingml/2006/main">
            <a:off x="84582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96602226-FB66-4B39-AD88-9EBF7C11672C}"/>
              </a:ext>
            </a:extLst>
          </p:cNvPr>
          <p:cNvSpPr>
            <a:spLocks xmlns:a="http://schemas.openxmlformats.org/drawingml/2006/main" noGrp="1"/>
          </p:cNvSpPr>
          <p:nvPr/>
        </p:nvSpPr>
        <p:spPr>
          <a:xfrm xmlns:a="http://schemas.openxmlformats.org/drawingml/2006/main">
            <a:off x="87058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Train</a:t>
            </a:r>
          </a:p>
        </p:txBody>
      </p:sp>
      <p:sp>
        <p:nvSpPr>
          <p:cNvPr id="35" name="">
            <a:extLst xmlns:a="http://schemas.openxmlformats.org/drawingml/2006/main">
              <a:ext uri="{FF2B5EF4-FFF2-40B4-BE49-F238E27FC236}">
                <a16:creationId xmlns:a16="http://schemas.microsoft.com/office/drawing/2014/main" id="{18C3DE77-84AD-4623-9CD5-81B4A1B3E865}"/>
              </a:ext>
            </a:extLst>
          </p:cNvPr>
          <p:cNvSpPr>
            <a:spLocks xmlns:a="http://schemas.openxmlformats.org/drawingml/2006/main" noGrp="1"/>
          </p:cNvSpPr>
          <p:nvPr/>
        </p:nvSpPr>
        <p:spPr>
          <a:xfrm xmlns:a="http://schemas.openxmlformats.org/drawingml/2006/main">
            <a:off x="84582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a:t>
            </a:r>
          </a:p>
        </p:txBody>
      </p:sp>
      <p:sp>
        <p:nvSpPr>
          <p:cNvPr id="36" name="">
            <a:extLst xmlns:a="http://schemas.openxmlformats.org/drawingml/2006/main">
              <a:ext uri="{FF2B5EF4-FFF2-40B4-BE49-F238E27FC236}">
                <a16:creationId xmlns:a16="http://schemas.microsoft.com/office/drawing/2014/main" id="{C154AE79-DC7A-463E-A0B9-0439786BAD61}"/>
              </a:ext>
            </a:extLst>
          </p:cNvPr>
          <p:cNvSpPr>
            <a:spLocks xmlns:a="http://schemas.openxmlformats.org/drawingml/2006/main" noGrp="1"/>
          </p:cNvSpPr>
          <p:nvPr/>
        </p:nvSpPr>
        <p:spPr>
          <a:xfrm xmlns:a="http://schemas.openxmlformats.org/drawingml/2006/main">
            <a:off x="96964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7" name="">
            <a:extLst xmlns:a="http://schemas.openxmlformats.org/drawingml/2006/main">
              <a:ext uri="{FF2B5EF4-FFF2-40B4-BE49-F238E27FC236}">
                <a16:creationId xmlns:a16="http://schemas.microsoft.com/office/drawing/2014/main" id="{CC5C706D-B8E6-4850-BD21-12341C797D5B}"/>
              </a:ext>
            </a:extLst>
          </p:cNvPr>
          <p:cNvSpPr>
            <a:spLocks xmlns:a="http://schemas.openxmlformats.org/drawingml/2006/main" noGrp="1"/>
          </p:cNvSpPr>
          <p:nvPr/>
        </p:nvSpPr>
        <p:spPr>
          <a:xfrm xmlns:a="http://schemas.openxmlformats.org/drawingml/2006/main">
            <a:off x="98869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8EFFBB3E-4EF6-4395-9A09-2D1CC794FD0B}"/>
              </a:ext>
            </a:extLst>
          </p:cNvPr>
          <p:cNvSpPr>
            <a:spLocks xmlns:a="http://schemas.openxmlformats.org/drawingml/2006/main" noGrp="1"/>
          </p:cNvSpPr>
          <p:nvPr/>
        </p:nvSpPr>
        <p:spPr>
          <a:xfrm xmlns:a="http://schemas.openxmlformats.org/drawingml/2006/main">
            <a:off x="100012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8427A121-2F50-446B-B9B9-4A283357AFF7}"/>
              </a:ext>
            </a:extLst>
          </p:cNvPr>
          <p:cNvSpPr>
            <a:spLocks xmlns:a="http://schemas.openxmlformats.org/drawingml/2006/main" noGrp="1"/>
          </p:cNvSpPr>
          <p:nvPr/>
        </p:nvSpPr>
        <p:spPr>
          <a:xfrm xmlns:a="http://schemas.openxmlformats.org/drawingml/2006/main">
            <a:off x="102489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Evaluate</a:t>
            </a:r>
          </a:p>
        </p:txBody>
      </p:sp>
      <p:sp>
        <p:nvSpPr>
          <p:cNvPr id="40" name="">
            <a:extLst xmlns:a="http://schemas.openxmlformats.org/drawingml/2006/main">
              <a:ext uri="{FF2B5EF4-FFF2-40B4-BE49-F238E27FC236}">
                <a16:creationId xmlns:a16="http://schemas.microsoft.com/office/drawing/2014/main" id="{A5C70622-23F8-4183-844A-4B18D38F81D7}"/>
              </a:ext>
            </a:extLst>
          </p:cNvPr>
          <p:cNvSpPr>
            <a:spLocks xmlns:a="http://schemas.openxmlformats.org/drawingml/2006/main" noGrp="1"/>
          </p:cNvSpPr>
          <p:nvPr/>
        </p:nvSpPr>
        <p:spPr>
          <a:xfrm xmlns:a="http://schemas.openxmlformats.org/drawingml/2006/main">
            <a:off x="100012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metrics on test data</a:t>
            </a:r>
          </a:p>
        </p:txBody>
      </p:sp>
      <p:sp>
        <p:nvSpPr>
          <p:cNvPr id="41" name="">
            <a:extLst xmlns:a="http://schemas.openxmlformats.org/drawingml/2006/main">
              <a:ext uri="{FF2B5EF4-FFF2-40B4-BE49-F238E27FC236}">
                <a16:creationId xmlns:a16="http://schemas.microsoft.com/office/drawing/2014/main" id="{7651F91D-B951-4561-AB39-D71B2D298A28}"/>
              </a:ext>
            </a:extLst>
          </p:cNvPr>
          <p:cNvSpPr>
            <a:spLocks xmlns:a="http://schemas.openxmlformats.org/drawingml/2006/main" noGrp="1"/>
          </p:cNvSpPr>
          <p:nvPr/>
        </p:nvSpPr>
        <p:spPr>
          <a:xfrm xmlns:a="http://schemas.openxmlformats.org/drawingml/2006/main">
            <a:off x="6858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data.info()</a:t>
            </a:r>
          </a:p>
        </p:txBody>
      </p:sp>
      <p:sp>
        <p:nvSpPr>
          <p:cNvPr id="42" name="">
            <a:extLst xmlns:a="http://schemas.openxmlformats.org/drawingml/2006/main">
              <a:ext uri="{FF2B5EF4-FFF2-40B4-BE49-F238E27FC236}">
                <a16:creationId xmlns:a16="http://schemas.microsoft.com/office/drawing/2014/main" id="{F9C25E3A-853B-40C4-B593-15789675CE40}"/>
              </a:ext>
            </a:extLst>
          </p:cNvPr>
          <p:cNvSpPr>
            <a:spLocks xmlns:a="http://schemas.openxmlformats.org/drawingml/2006/main" noGrp="1"/>
          </p:cNvSpPr>
          <p:nvPr/>
        </p:nvSpPr>
        <p:spPr>
          <a:xfrm xmlns:a="http://schemas.openxmlformats.org/drawingml/2006/main">
            <a:off x="22288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fillna()</a:t>
            </a:r>
          </a:p>
        </p:txBody>
      </p:sp>
      <p:sp>
        <p:nvSpPr>
          <p:cNvPr id="43" name="">
            <a:extLst xmlns:a="http://schemas.openxmlformats.org/drawingml/2006/main">
              <a:ext uri="{FF2B5EF4-FFF2-40B4-BE49-F238E27FC236}">
                <a16:creationId xmlns:a16="http://schemas.microsoft.com/office/drawing/2014/main" id="{8B763E5E-355D-457B-85BB-AA2A2B53839A}"/>
              </a:ext>
            </a:extLst>
          </p:cNvPr>
          <p:cNvSpPr>
            <a:spLocks xmlns:a="http://schemas.openxmlformats.org/drawingml/2006/main" noGrp="1"/>
          </p:cNvSpPr>
          <p:nvPr/>
        </p:nvSpPr>
        <p:spPr>
          <a:xfrm xmlns:a="http://schemas.openxmlformats.org/drawingml/2006/main">
            <a:off x="37719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LabelEncoder()</a:t>
            </a:r>
          </a:p>
        </p:txBody>
      </p:sp>
      <p:sp>
        <p:nvSpPr>
          <p:cNvPr id="44" name="">
            <a:extLst xmlns:a="http://schemas.openxmlformats.org/drawingml/2006/main">
              <a:ext uri="{FF2B5EF4-FFF2-40B4-BE49-F238E27FC236}">
                <a16:creationId xmlns:a16="http://schemas.microsoft.com/office/drawing/2014/main" id="{BB6A50A7-E07D-46AD-AE66-260EE499159F}"/>
              </a:ext>
            </a:extLst>
          </p:cNvPr>
          <p:cNvSpPr>
            <a:spLocks xmlns:a="http://schemas.openxmlformats.org/drawingml/2006/main" noGrp="1"/>
          </p:cNvSpPr>
          <p:nvPr/>
        </p:nvSpPr>
        <p:spPr>
          <a:xfrm xmlns:a="http://schemas.openxmlformats.org/drawingml/2006/main">
            <a:off x="53149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train_test_split()</a:t>
            </a:r>
          </a:p>
        </p:txBody>
      </p:sp>
      <p:sp>
        <p:nvSpPr>
          <p:cNvPr id="45" name="">
            <a:extLst xmlns:a="http://schemas.openxmlformats.org/drawingml/2006/main">
              <a:ext uri="{FF2B5EF4-FFF2-40B4-BE49-F238E27FC236}">
                <a16:creationId xmlns:a16="http://schemas.microsoft.com/office/drawing/2014/main" id="{42AC96A7-9802-4CF3-8A22-5B915196A35F}"/>
              </a:ext>
            </a:extLst>
          </p:cNvPr>
          <p:cNvSpPr>
            <a:spLocks xmlns:a="http://schemas.openxmlformats.org/drawingml/2006/main" noGrp="1"/>
          </p:cNvSpPr>
          <p:nvPr/>
        </p:nvSpPr>
        <p:spPr>
          <a:xfrm xmlns:a="http://schemas.openxmlformats.org/drawingml/2006/main">
            <a:off x="68580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StandardScaler()</a:t>
            </a:r>
          </a:p>
        </p:txBody>
      </p:sp>
      <p:sp>
        <p:nvSpPr>
          <p:cNvPr id="46" name="">
            <a:extLst xmlns:a="http://schemas.openxmlformats.org/drawingml/2006/main">
              <a:ext uri="{FF2B5EF4-FFF2-40B4-BE49-F238E27FC236}">
                <a16:creationId xmlns:a16="http://schemas.microsoft.com/office/drawing/2014/main" id="{16EE8667-8241-44FB-9400-28915BFF3372}"/>
              </a:ext>
            </a:extLst>
          </p:cNvPr>
          <p:cNvSpPr>
            <a:spLocks xmlns:a="http://schemas.openxmlformats.org/drawingml/2006/main" noGrp="1"/>
          </p:cNvSpPr>
          <p:nvPr/>
        </p:nvSpPr>
        <p:spPr>
          <a:xfrm xmlns:a="http://schemas.openxmlformats.org/drawingml/2006/main">
            <a:off x="84010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model.fit()</a:t>
            </a:r>
          </a:p>
        </p:txBody>
      </p:sp>
      <p:sp>
        <p:nvSpPr>
          <p:cNvPr id="47" name="">
            <a:extLst xmlns:a="http://schemas.openxmlformats.org/drawingml/2006/main">
              <a:ext uri="{FF2B5EF4-FFF2-40B4-BE49-F238E27FC236}">
                <a16:creationId xmlns:a16="http://schemas.microsoft.com/office/drawing/2014/main" id="{098320EB-5503-401E-89F9-8193BFE237D5}"/>
              </a:ext>
            </a:extLst>
          </p:cNvPr>
          <p:cNvSpPr>
            <a:spLocks xmlns:a="http://schemas.openxmlformats.org/drawingml/2006/main" noGrp="1"/>
          </p:cNvSpPr>
          <p:nvPr/>
        </p:nvSpPr>
        <p:spPr>
          <a:xfrm xmlns:a="http://schemas.openxmlformats.org/drawingml/2006/main">
            <a:off x="9944100" y="30670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classification metrics</a:t>
            </a:r>
          </a:p>
        </p:txBody>
      </p:sp>
      <p:sp>
        <p:nvSpPr>
          <p:cNvPr id="48" name="">
            <a:extLst xmlns:a="http://schemas.openxmlformats.org/drawingml/2006/main">
              <a:ext uri="{FF2B5EF4-FFF2-40B4-BE49-F238E27FC236}">
                <a16:creationId xmlns:a16="http://schemas.microsoft.com/office/drawing/2014/main" id="{5100D800-8CE6-4588-87F6-2319D64AA99E}"/>
              </a:ext>
            </a:extLst>
          </p:cNvPr>
          <p:cNvSpPr>
            <a:spLocks xmlns:a="http://schemas.openxmlformats.org/drawingml/2006/main" noGrp="1"/>
          </p:cNvSpPr>
          <p:nvPr/>
        </p:nvSpPr>
        <p:spPr>
          <a:xfrm xmlns:a="http://schemas.openxmlformats.org/drawingml/2006/main">
            <a:off x="628650" y="3495675"/>
            <a:ext cx="11430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49" name="">
            <a:extLst xmlns:a="http://schemas.openxmlformats.org/drawingml/2006/main">
              <a:ext uri="{FF2B5EF4-FFF2-40B4-BE49-F238E27FC236}">
                <a16:creationId xmlns:a16="http://schemas.microsoft.com/office/drawing/2014/main" id="{11A828A2-54B3-4F6E-8E0A-524B334938EE}"/>
              </a:ext>
            </a:extLst>
          </p:cNvPr>
          <p:cNvSpPr>
            <a:spLocks xmlns:a="http://schemas.openxmlformats.org/drawingml/2006/main" noGrp="1"/>
          </p:cNvSpPr>
          <p:nvPr/>
        </p:nvSpPr>
        <p:spPr>
          <a:xfrm xmlns:a="http://schemas.openxmlformats.org/drawingml/2006/main">
            <a:off x="723900" y="35433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REUSE PATH</a:t>
            </a:r>
          </a:p>
        </p:txBody>
      </p:sp>
      <p:sp>
        <p:nvSpPr>
          <p:cNvPr id="50" name="">
            <a:extLst xmlns:a="http://schemas.openxmlformats.org/drawingml/2006/main">
              <a:ext uri="{FF2B5EF4-FFF2-40B4-BE49-F238E27FC236}">
                <a16:creationId xmlns:a16="http://schemas.microsoft.com/office/drawing/2014/main" id="{87A9FE5E-8F0F-46AD-8C7D-8B0D407EB54D}"/>
              </a:ext>
            </a:extLst>
          </p:cNvPr>
          <p:cNvSpPr>
            <a:spLocks xmlns:a="http://schemas.openxmlformats.org/drawingml/2006/main" noGrp="1"/>
          </p:cNvSpPr>
          <p:nvPr/>
        </p:nvSpPr>
        <p:spPr>
          <a:xfrm xmlns:a="http://schemas.openxmlformats.org/drawingml/2006/main">
            <a:off x="628650" y="3943350"/>
            <a:ext cx="2552700" cy="10668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51" name="">
            <a:extLst xmlns:a="http://schemas.openxmlformats.org/drawingml/2006/main">
              <a:ext uri="{FF2B5EF4-FFF2-40B4-BE49-F238E27FC236}">
                <a16:creationId xmlns:a16="http://schemas.microsoft.com/office/drawing/2014/main" id="{0CD4AF4F-D868-44B7-9CE7-1757789D2F86}"/>
              </a:ext>
            </a:extLst>
          </p:cNvPr>
          <p:cNvSpPr>
            <a:spLocks xmlns:a="http://schemas.openxmlformats.org/drawingml/2006/main" noGrp="1"/>
          </p:cNvSpPr>
          <p:nvPr/>
        </p:nvSpPr>
        <p:spPr>
          <a:xfrm xmlns:a="http://schemas.openxmlformats.org/drawingml/2006/main">
            <a:off x="7810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Persisted artefacts</a:t>
            </a:r>
          </a:p>
        </p:txBody>
      </p:sp>
      <p:sp>
        <p:nvSpPr>
          <p:cNvPr id="52" name="">
            <a:extLst xmlns:a="http://schemas.openxmlformats.org/drawingml/2006/main">
              <a:ext uri="{FF2B5EF4-FFF2-40B4-BE49-F238E27FC236}">
                <a16:creationId xmlns:a16="http://schemas.microsoft.com/office/drawing/2014/main" id="{FC8DCC7A-724B-4F80-80C2-5D25C4113349}"/>
              </a:ext>
            </a:extLst>
          </p:cNvPr>
          <p:cNvSpPr>
            <a:spLocks xmlns:a="http://schemas.openxmlformats.org/drawingml/2006/main" noGrp="1"/>
          </p:cNvSpPr>
          <p:nvPr/>
        </p:nvSpPr>
        <p:spPr>
          <a:xfrm xmlns:a="http://schemas.openxmlformats.org/drawingml/2006/main">
            <a:off x="7810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Saved model and scaler, as documented</a:t>
            </a:r>
          </a:p>
        </p:txBody>
      </p:sp>
      <p:sp>
        <p:nvSpPr>
          <p:cNvPr id="53" name="">
            <a:extLst xmlns:a="http://schemas.openxmlformats.org/drawingml/2006/main">
              <a:ext uri="{FF2B5EF4-FFF2-40B4-BE49-F238E27FC236}">
                <a16:creationId xmlns:a16="http://schemas.microsoft.com/office/drawing/2014/main" id="{5C9B3028-FEAC-4D43-B07D-052AE6BC29A3}"/>
              </a:ext>
            </a:extLst>
          </p:cNvPr>
          <p:cNvSpPr>
            <a:spLocks xmlns:a="http://schemas.openxmlformats.org/drawingml/2006/main" noGrp="1"/>
          </p:cNvSpPr>
          <p:nvPr/>
        </p:nvSpPr>
        <p:spPr>
          <a:xfrm xmlns:a="http://schemas.openxmlformats.org/drawingml/2006/main">
            <a:off x="31813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4" name="">
            <a:extLst xmlns:a="http://schemas.openxmlformats.org/drawingml/2006/main">
              <a:ext uri="{FF2B5EF4-FFF2-40B4-BE49-F238E27FC236}">
                <a16:creationId xmlns:a16="http://schemas.microsoft.com/office/drawing/2014/main" id="{4D8B21B2-B25D-424D-8443-1B2E1FF5B3F3}"/>
              </a:ext>
            </a:extLst>
          </p:cNvPr>
          <p:cNvSpPr>
            <a:spLocks xmlns:a="http://schemas.openxmlformats.org/drawingml/2006/main" noGrp="1"/>
          </p:cNvSpPr>
          <p:nvPr/>
        </p:nvSpPr>
        <p:spPr>
          <a:xfrm xmlns:a="http://schemas.openxmlformats.org/drawingml/2006/main">
            <a:off x="33718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2A3EB62C-D794-4606-8645-662A00B15814}"/>
              </a:ext>
            </a:extLst>
          </p:cNvPr>
          <p:cNvSpPr>
            <a:spLocks xmlns:a="http://schemas.openxmlformats.org/drawingml/2006/main" noGrp="1"/>
          </p:cNvSpPr>
          <p:nvPr/>
        </p:nvSpPr>
        <p:spPr>
          <a:xfrm xmlns:a="http://schemas.openxmlformats.org/drawingml/2006/main">
            <a:off x="35242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New customer record</a:t>
            </a:r>
          </a:p>
        </p:txBody>
      </p:sp>
      <p:sp>
        <p:nvSpPr>
          <p:cNvPr id="56" name="">
            <a:extLst xmlns:a="http://schemas.openxmlformats.org/drawingml/2006/main">
              <a:ext uri="{FF2B5EF4-FFF2-40B4-BE49-F238E27FC236}">
                <a16:creationId xmlns:a16="http://schemas.microsoft.com/office/drawing/2014/main" id="{1FC1C25B-BCB7-427D-AAD1-5D9A1A9AC332}"/>
              </a:ext>
            </a:extLst>
          </p:cNvPr>
          <p:cNvSpPr>
            <a:spLocks xmlns:a="http://schemas.openxmlformats.org/drawingml/2006/main" noGrp="1"/>
          </p:cNvSpPr>
          <p:nvPr/>
        </p:nvSpPr>
        <p:spPr>
          <a:xfrm xmlns:a="http://schemas.openxmlformats.org/drawingml/2006/main">
            <a:off x="35242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Same fields, order and category treatment</a:t>
            </a:r>
          </a:p>
        </p:txBody>
      </p:sp>
      <p:sp>
        <p:nvSpPr>
          <p:cNvPr id="57" name="">
            <a:extLst xmlns:a="http://schemas.openxmlformats.org/drawingml/2006/main">
              <a:ext uri="{FF2B5EF4-FFF2-40B4-BE49-F238E27FC236}">
                <a16:creationId xmlns:a16="http://schemas.microsoft.com/office/drawing/2014/main" id="{736CE924-93D3-4276-A175-F0A461A58EA3}"/>
              </a:ext>
            </a:extLst>
          </p:cNvPr>
          <p:cNvSpPr>
            <a:spLocks xmlns:a="http://schemas.openxmlformats.org/drawingml/2006/main" noGrp="1"/>
          </p:cNvSpPr>
          <p:nvPr/>
        </p:nvSpPr>
        <p:spPr>
          <a:xfrm xmlns:a="http://schemas.openxmlformats.org/drawingml/2006/main">
            <a:off x="59245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8" name="">
            <a:extLst xmlns:a="http://schemas.openxmlformats.org/drawingml/2006/main">
              <a:ext uri="{FF2B5EF4-FFF2-40B4-BE49-F238E27FC236}">
                <a16:creationId xmlns:a16="http://schemas.microsoft.com/office/drawing/2014/main" id="{0AEBCC5B-2023-4028-BCB9-D64398226B99}"/>
              </a:ext>
            </a:extLst>
          </p:cNvPr>
          <p:cNvSpPr>
            <a:spLocks xmlns:a="http://schemas.openxmlformats.org/drawingml/2006/main" noGrp="1"/>
          </p:cNvSpPr>
          <p:nvPr/>
        </p:nvSpPr>
        <p:spPr>
          <a:xfrm xmlns:a="http://schemas.openxmlformats.org/drawingml/2006/main">
            <a:off x="61150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FB12E713-367D-410D-A2BA-192DD2A856E4}"/>
              </a:ext>
            </a:extLst>
          </p:cNvPr>
          <p:cNvSpPr>
            <a:spLocks xmlns:a="http://schemas.openxmlformats.org/drawingml/2006/main" noGrp="1"/>
          </p:cNvSpPr>
          <p:nvPr/>
        </p:nvSpPr>
        <p:spPr>
          <a:xfrm xmlns:a="http://schemas.openxmlformats.org/drawingml/2006/main">
            <a:off x="62674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Transform</a:t>
            </a:r>
          </a:p>
        </p:txBody>
      </p:sp>
      <p:sp>
        <p:nvSpPr>
          <p:cNvPr id="60" name="">
            <a:extLst xmlns:a="http://schemas.openxmlformats.org/drawingml/2006/main">
              <a:ext uri="{FF2B5EF4-FFF2-40B4-BE49-F238E27FC236}">
                <a16:creationId xmlns:a16="http://schemas.microsoft.com/office/drawing/2014/main" id="{40A3670D-26DD-4F15-93FD-D64217B7FA1A}"/>
              </a:ext>
            </a:extLst>
          </p:cNvPr>
          <p:cNvSpPr>
            <a:spLocks xmlns:a="http://schemas.openxmlformats.org/drawingml/2006/main" noGrp="1"/>
          </p:cNvSpPr>
          <p:nvPr/>
        </p:nvSpPr>
        <p:spPr>
          <a:xfrm xmlns:a="http://schemas.openxmlformats.org/drawingml/2006/main">
            <a:off x="62674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Reuse the saved preprocessing logic</a:t>
            </a:r>
          </a:p>
        </p:txBody>
      </p:sp>
      <p:sp>
        <p:nvSpPr>
          <p:cNvPr id="61" name="">
            <a:extLst xmlns:a="http://schemas.openxmlformats.org/drawingml/2006/main">
              <a:ext uri="{FF2B5EF4-FFF2-40B4-BE49-F238E27FC236}">
                <a16:creationId xmlns:a16="http://schemas.microsoft.com/office/drawing/2014/main" id="{E134F6EC-66FC-4A08-B38C-62D6B071089A}"/>
              </a:ext>
            </a:extLst>
          </p:cNvPr>
          <p:cNvSpPr>
            <a:spLocks xmlns:a="http://schemas.openxmlformats.org/drawingml/2006/main" noGrp="1"/>
          </p:cNvSpPr>
          <p:nvPr/>
        </p:nvSpPr>
        <p:spPr>
          <a:xfrm xmlns:a="http://schemas.openxmlformats.org/drawingml/2006/main">
            <a:off x="86677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62" name="">
            <a:extLst xmlns:a="http://schemas.openxmlformats.org/drawingml/2006/main">
              <a:ext uri="{FF2B5EF4-FFF2-40B4-BE49-F238E27FC236}">
                <a16:creationId xmlns:a16="http://schemas.microsoft.com/office/drawing/2014/main" id="{E07644B2-4E98-4DDC-AF08-C7B75F635BAD}"/>
              </a:ext>
            </a:extLst>
          </p:cNvPr>
          <p:cNvSpPr>
            <a:spLocks xmlns:a="http://schemas.openxmlformats.org/drawingml/2006/main" noGrp="1"/>
          </p:cNvSpPr>
          <p:nvPr/>
        </p:nvSpPr>
        <p:spPr>
          <a:xfrm xmlns:a="http://schemas.openxmlformats.org/drawingml/2006/main">
            <a:off x="88582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12B0DED0-BC22-490C-983A-A51939D531AC}"/>
              </a:ext>
            </a:extLst>
          </p:cNvPr>
          <p:cNvSpPr>
            <a:spLocks xmlns:a="http://schemas.openxmlformats.org/drawingml/2006/main" noGrp="1"/>
          </p:cNvSpPr>
          <p:nvPr/>
        </p:nvSpPr>
        <p:spPr>
          <a:xfrm xmlns:a="http://schemas.openxmlformats.org/drawingml/2006/main">
            <a:off x="90106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Predict</a:t>
            </a:r>
          </a:p>
        </p:txBody>
      </p:sp>
      <p:sp>
        <p:nvSpPr>
          <p:cNvPr id="64" name="">
            <a:extLst xmlns:a="http://schemas.openxmlformats.org/drawingml/2006/main">
              <a:ext uri="{FF2B5EF4-FFF2-40B4-BE49-F238E27FC236}">
                <a16:creationId xmlns:a16="http://schemas.microsoft.com/office/drawing/2014/main" id="{75B142CC-59EB-48C2-9EFC-5E2022389C74}"/>
              </a:ext>
            </a:extLst>
          </p:cNvPr>
          <p:cNvSpPr>
            <a:spLocks xmlns:a="http://schemas.openxmlformats.org/drawingml/2006/main" noGrp="1"/>
          </p:cNvSpPr>
          <p:nvPr/>
        </p:nvSpPr>
        <p:spPr>
          <a:xfrm xmlns:a="http://schemas.openxmlformats.org/drawingml/2006/main">
            <a:off x="90106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Return likely stay or churn</a:t>
            </a:r>
          </a:p>
        </p:txBody>
      </p:sp>
      <p:sp>
        <p:nvSpPr>
          <p:cNvPr id="65" name="">
            <a:extLst xmlns:a="http://schemas.openxmlformats.org/drawingml/2006/main">
              <a:ext uri="{FF2B5EF4-FFF2-40B4-BE49-F238E27FC236}">
                <a16:creationId xmlns:a16="http://schemas.microsoft.com/office/drawing/2014/main" id="{57920405-CA29-4321-9D42-564AF28D1194}"/>
              </a:ext>
            </a:extLst>
          </p:cNvPr>
          <p:cNvSpPr>
            <a:spLocks xmlns:a="http://schemas.openxmlformats.org/drawingml/2006/main" noGrp="1"/>
          </p:cNvSpPr>
          <p:nvPr/>
        </p:nvSpPr>
        <p:spPr>
          <a:xfrm xmlns:a="http://schemas.openxmlformats.org/drawingml/2006/main">
            <a:off x="628650" y="5267325"/>
            <a:ext cx="10934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66" name="">
            <a:extLst xmlns:a="http://schemas.openxmlformats.org/drawingml/2006/main">
              <a:ext uri="{FF2B5EF4-FFF2-40B4-BE49-F238E27FC236}">
                <a16:creationId xmlns:a16="http://schemas.microsoft.com/office/drawing/2014/main" id="{A4B03C07-35D6-4722-A649-1DFDDD9296F7}"/>
              </a:ext>
            </a:extLst>
          </p:cNvPr>
          <p:cNvSpPr>
            <a:spLocks xmlns:a="http://schemas.openxmlformats.org/drawingml/2006/main" noGrp="1"/>
          </p:cNvSpPr>
          <p:nvPr/>
        </p:nvSpPr>
        <p:spPr>
          <a:xfrm xmlns:a="http://schemas.openxmlformats.org/drawingml/2006/main">
            <a:off x="819150" y="54483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CONTROL POINTS</a:t>
            </a:r>
          </a:p>
        </p:txBody>
      </p:sp>
      <p:sp>
        <p:nvSpPr>
          <p:cNvPr id="67" name="">
            <a:extLst xmlns:a="http://schemas.openxmlformats.org/drawingml/2006/main">
              <a:ext uri="{FF2B5EF4-FFF2-40B4-BE49-F238E27FC236}">
                <a16:creationId xmlns:a16="http://schemas.microsoft.com/office/drawing/2014/main" id="{AE788FE1-E3BD-493F-808C-A73091C1158B}"/>
              </a:ext>
            </a:extLst>
          </p:cNvPr>
          <p:cNvSpPr>
            <a:spLocks xmlns:a="http://schemas.openxmlformats.org/drawingml/2006/main" noGrp="1"/>
          </p:cNvSpPr>
          <p:nvPr/>
        </p:nvSpPr>
        <p:spPr>
          <a:xfrm xmlns:a="http://schemas.openxmlformats.org/drawingml/2006/main">
            <a:off x="2400300" y="54102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Fit scaling on training data</a:t>
            </a:r>
          </a:p>
        </p:txBody>
      </p:sp>
      <p:sp>
        <p:nvSpPr>
          <p:cNvPr id="68" name="">
            <a:extLst xmlns:a="http://schemas.openxmlformats.org/drawingml/2006/main">
              <a:ext uri="{FF2B5EF4-FFF2-40B4-BE49-F238E27FC236}">
                <a16:creationId xmlns:a16="http://schemas.microsoft.com/office/drawing/2014/main" id="{E3FFB002-56D4-4056-8692-B3A9875D61CB}"/>
              </a:ext>
            </a:extLst>
          </p:cNvPr>
          <p:cNvSpPr>
            <a:spLocks xmlns:a="http://schemas.openxmlformats.org/drawingml/2006/main" noGrp="1"/>
          </p:cNvSpPr>
          <p:nvPr/>
        </p:nvSpPr>
        <p:spPr>
          <a:xfrm xmlns:a="http://schemas.openxmlformats.org/drawingml/2006/main">
            <a:off x="2400300" y="56864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53"/>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Reuse transformations for test and new records</a:t>
            </a:r>
          </a:p>
        </p:txBody>
      </p:sp>
      <p:sp>
        <p:nvSpPr>
          <p:cNvPr id="69" name="">
            <a:extLst xmlns:a="http://schemas.openxmlformats.org/drawingml/2006/main">
              <a:ext uri="{FF2B5EF4-FFF2-40B4-BE49-F238E27FC236}">
                <a16:creationId xmlns:a16="http://schemas.microsoft.com/office/drawing/2014/main" id="{8CBA7F32-2B60-450D-A8EE-544E998B73C7}"/>
              </a:ext>
            </a:extLst>
          </p:cNvPr>
          <p:cNvSpPr>
            <a:spLocks xmlns:a="http://schemas.openxmlformats.org/drawingml/2006/main" noGrp="1"/>
          </p:cNvSpPr>
          <p:nvPr/>
        </p:nvSpPr>
        <p:spPr>
          <a:xfrm xmlns:a="http://schemas.openxmlformats.org/drawingml/2006/main">
            <a:off x="54102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0" name="">
            <a:extLst xmlns:a="http://schemas.openxmlformats.org/drawingml/2006/main">
              <a:ext uri="{FF2B5EF4-FFF2-40B4-BE49-F238E27FC236}">
                <a16:creationId xmlns:a16="http://schemas.microsoft.com/office/drawing/2014/main" id="{B761AACC-F698-4615-A74F-E491386EBE80}"/>
              </a:ext>
            </a:extLst>
          </p:cNvPr>
          <p:cNvSpPr>
            <a:spLocks xmlns:a="http://schemas.openxmlformats.org/drawingml/2006/main" noGrp="1"/>
          </p:cNvSpPr>
          <p:nvPr/>
        </p:nvSpPr>
        <p:spPr>
          <a:xfrm xmlns:a="http://schemas.openxmlformats.org/drawingml/2006/main">
            <a:off x="5715000" y="54102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32"/>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Keep test data independent</a:t>
            </a:r>
          </a:p>
        </p:txBody>
      </p:sp>
      <p:sp>
        <p:nvSpPr>
          <p:cNvPr id="71" name="">
            <a:extLst xmlns:a="http://schemas.openxmlformats.org/drawingml/2006/main">
              <a:ext uri="{FF2B5EF4-FFF2-40B4-BE49-F238E27FC236}">
                <a16:creationId xmlns:a16="http://schemas.microsoft.com/office/drawing/2014/main" id="{BEA40834-B529-4438-913A-893489E2A071}"/>
              </a:ext>
            </a:extLst>
          </p:cNvPr>
          <p:cNvSpPr>
            <a:spLocks xmlns:a="http://schemas.openxmlformats.org/drawingml/2006/main" noGrp="1"/>
          </p:cNvSpPr>
          <p:nvPr/>
        </p:nvSpPr>
        <p:spPr>
          <a:xfrm xmlns:a="http://schemas.openxmlformats.org/drawingml/2006/main">
            <a:off x="5715000" y="56864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397"/>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Prevent evaluation data from influencing learning</a:t>
            </a:r>
          </a:p>
        </p:txBody>
      </p:sp>
      <p:sp>
        <p:nvSpPr>
          <p:cNvPr id="72" name="">
            <a:extLst xmlns:a="http://schemas.openxmlformats.org/drawingml/2006/main">
              <a:ext uri="{FF2B5EF4-FFF2-40B4-BE49-F238E27FC236}">
                <a16:creationId xmlns:a16="http://schemas.microsoft.com/office/drawing/2014/main" id="{3C571445-3DE0-4B2F-B0CE-EC891B0E0B74}"/>
              </a:ext>
            </a:extLst>
          </p:cNvPr>
          <p:cNvSpPr>
            <a:spLocks xmlns:a="http://schemas.openxmlformats.org/drawingml/2006/main" noGrp="1"/>
          </p:cNvSpPr>
          <p:nvPr/>
        </p:nvSpPr>
        <p:spPr>
          <a:xfrm xmlns:a="http://schemas.openxmlformats.org/drawingml/2006/main">
            <a:off x="84201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3" name="">
            <a:extLst xmlns:a="http://schemas.openxmlformats.org/drawingml/2006/main">
              <a:ext uri="{FF2B5EF4-FFF2-40B4-BE49-F238E27FC236}">
                <a16:creationId xmlns:a16="http://schemas.microsoft.com/office/drawing/2014/main" id="{4EF5E651-544D-4C00-BFE3-296E4A9D1EBE}"/>
              </a:ext>
            </a:extLst>
          </p:cNvPr>
          <p:cNvSpPr>
            <a:spLocks xmlns:a="http://schemas.openxmlformats.org/drawingml/2006/main" noGrp="1"/>
          </p:cNvSpPr>
          <p:nvPr/>
        </p:nvSpPr>
        <p:spPr>
          <a:xfrm xmlns:a="http://schemas.openxmlformats.org/drawingml/2006/main">
            <a:off x="8724900" y="54102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13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Preserve the input schema</a:t>
            </a:r>
          </a:p>
        </p:txBody>
      </p:sp>
      <p:sp>
        <p:nvSpPr>
          <p:cNvPr id="74" name="">
            <a:extLst xmlns:a="http://schemas.openxmlformats.org/drawingml/2006/main">
              <a:ext uri="{FF2B5EF4-FFF2-40B4-BE49-F238E27FC236}">
                <a16:creationId xmlns:a16="http://schemas.microsoft.com/office/drawing/2014/main" id="{1F944771-6ED2-4145-A51D-6852896D01F2}"/>
              </a:ext>
            </a:extLst>
          </p:cNvPr>
          <p:cNvSpPr>
            <a:spLocks xmlns:a="http://schemas.openxmlformats.org/drawingml/2006/main" noGrp="1"/>
          </p:cNvSpPr>
          <p:nvPr/>
        </p:nvSpPr>
        <p:spPr>
          <a:xfrm xmlns:a="http://schemas.openxmlformats.org/drawingml/2006/main">
            <a:off x="8724900" y="56864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741"/>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Maintain feature order and categorical mappings</a:t>
            </a:r>
          </a:p>
        </p:txBody>
      </p:sp>
      <p:sp>
        <p:nvSpPr>
          <p:cNvPr id="75" name="">
            <a:extLst xmlns:a="http://schemas.openxmlformats.org/drawingml/2006/main">
              <a:ext uri="{FF2B5EF4-FFF2-40B4-BE49-F238E27FC236}">
                <a16:creationId xmlns:a16="http://schemas.microsoft.com/office/drawing/2014/main" id="{B90ECDED-6D99-4E5A-8C55-80259A9FA76B}"/>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6" name="">
            <a:extLst xmlns:a="http://schemas.openxmlformats.org/drawingml/2006/main">
              <a:ext uri="{FF2B5EF4-FFF2-40B4-BE49-F238E27FC236}">
                <a16:creationId xmlns:a16="http://schemas.microsoft.com/office/drawing/2014/main" id="{0FBA5738-8F60-4091-B93B-00D063BA7ACA}"/>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D-G and J</a:t>
            </a:r>
          </a:p>
        </p:txBody>
      </p:sp>
    </p:spTree>
    <p:extLst>
      <p:ext uri="{BB962C8B-B14F-4D97-AF65-F5344CB8AC3E}">
        <p14:creationId xmlns:p14="http://schemas.microsoft.com/office/powerpoint/2010/main" val="1083080826"/>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F827496C-21B9-4921-99C7-A1B03BD8620B}"/>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MODEL AND EVALUATION</a:t>
            </a:r>
          </a:p>
        </p:txBody>
      </p:sp>
      <p:sp>
        <p:nvSpPr>
          <p:cNvPr id="2" name="">
            <a:extLst xmlns:a="http://schemas.openxmlformats.org/drawingml/2006/main">
              <a:ext uri="{FF2B5EF4-FFF2-40B4-BE49-F238E27FC236}">
                <a16:creationId xmlns:a16="http://schemas.microsoft.com/office/drawing/2014/main" id="{07757F1F-860B-41D0-87B6-ACC1DFA2FBCC}"/>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Logistic Regression produces the class, while error analysis explains its meaning</a:t>
            </a:r>
          </a:p>
        </p:txBody>
      </p:sp>
      <p:sp>
        <p:nvSpPr>
          <p:cNvPr id="3" name="">
            <a:extLst xmlns:a="http://schemas.openxmlformats.org/drawingml/2006/main">
              <a:ext uri="{FF2B5EF4-FFF2-40B4-BE49-F238E27FC236}">
                <a16:creationId xmlns:a16="http://schemas.microsoft.com/office/drawing/2014/main" id="{BB02ABCE-1838-4D39-8E59-B5589EB43DF2}"/>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8274BA48-6118-4AA6-8716-B9278457AABC}"/>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E20B856-57DD-416E-A5A2-EB98E568B3FA}"/>
              </a:ext>
            </a:extLst>
          </p:cNvPr>
          <p:cNvSpPr>
            <a:spLocks xmlns:a="http://schemas.openxmlformats.org/drawingml/2006/main" noGrp="1"/>
          </p:cNvSpPr>
          <p:nvPr/>
        </p:nvSpPr>
        <p:spPr>
          <a:xfrm xmlns:a="http://schemas.openxmlformats.org/drawingml/2006/main">
            <a:off x="628650" y="1657350"/>
            <a:ext cx="10668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65E076BE-810D-42B9-B006-BFB7017BCC68}"/>
              </a:ext>
            </a:extLst>
          </p:cNvPr>
          <p:cNvSpPr>
            <a:spLocks xmlns:a="http://schemas.openxmlformats.org/drawingml/2006/main" noGrp="1"/>
          </p:cNvSpPr>
          <p:nvPr/>
        </p:nvSpPr>
        <p:spPr>
          <a:xfrm xmlns:a="http://schemas.openxmlformats.org/drawingml/2006/main">
            <a:off x="723900" y="1704975"/>
            <a:ext cx="876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83"/>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MODEL LOGIC</a:t>
            </a:r>
          </a:p>
        </p:txBody>
      </p:sp>
      <p:sp>
        <p:nvSpPr>
          <p:cNvPr id="7" name="">
            <a:extLst xmlns:a="http://schemas.openxmlformats.org/drawingml/2006/main">
              <a:ext uri="{FF2B5EF4-FFF2-40B4-BE49-F238E27FC236}">
                <a16:creationId xmlns:a16="http://schemas.microsoft.com/office/drawing/2014/main" id="{870BF0B8-85F2-41D7-8CA4-B0D38DFF59BC}"/>
              </a:ext>
            </a:extLst>
          </p:cNvPr>
          <p:cNvSpPr>
            <a:spLocks xmlns:a="http://schemas.openxmlformats.org/drawingml/2006/main" noGrp="1"/>
          </p:cNvSpPr>
          <p:nvPr/>
        </p:nvSpPr>
        <p:spPr>
          <a:xfrm xmlns:a="http://schemas.openxmlformats.org/drawingml/2006/main">
            <a:off x="628650" y="20574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BB1CB632-BCCF-4366-852E-2F904DD91CD4}"/>
              </a:ext>
            </a:extLst>
          </p:cNvPr>
          <p:cNvSpPr>
            <a:spLocks xmlns:a="http://schemas.openxmlformats.org/drawingml/2006/main" noGrp="1"/>
          </p:cNvSpPr>
          <p:nvPr/>
        </p:nvSpPr>
        <p:spPr>
          <a:xfrm xmlns:a="http://schemas.openxmlformats.org/drawingml/2006/main">
            <a:off x="819150" y="22479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features</a:t>
            </a:r>
          </a:p>
        </p:txBody>
      </p:sp>
      <p:sp>
        <p:nvSpPr>
          <p:cNvPr id="9" name="">
            <a:extLst xmlns:a="http://schemas.openxmlformats.org/drawingml/2006/main">
              <a:ext uri="{FF2B5EF4-FFF2-40B4-BE49-F238E27FC236}">
                <a16:creationId xmlns:a16="http://schemas.microsoft.com/office/drawing/2014/main" id="{402C6EBE-5E75-4502-9BFF-FCA03D6FCA76}"/>
              </a:ext>
            </a:extLst>
          </p:cNvPr>
          <p:cNvSpPr>
            <a:spLocks xmlns:a="http://schemas.openxmlformats.org/drawingml/2006/main" noGrp="1"/>
          </p:cNvSpPr>
          <p:nvPr/>
        </p:nvSpPr>
        <p:spPr>
          <a:xfrm xmlns:a="http://schemas.openxmlformats.org/drawingml/2006/main">
            <a:off x="819150" y="25717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Tenure, charges, contract and service attributes</a:t>
            </a:r>
          </a:p>
        </p:txBody>
      </p:sp>
      <p:sp>
        <p:nvSpPr>
          <p:cNvPr id="10" name="">
            <a:extLst xmlns:a="http://schemas.openxmlformats.org/drawingml/2006/main">
              <a:ext uri="{FF2B5EF4-FFF2-40B4-BE49-F238E27FC236}">
                <a16:creationId xmlns:a16="http://schemas.microsoft.com/office/drawing/2014/main" id="{6A5FEACB-02C0-438C-8111-7F20F285A8B5}"/>
              </a:ext>
            </a:extLst>
          </p:cNvPr>
          <p:cNvSpPr>
            <a:spLocks xmlns:a="http://schemas.openxmlformats.org/drawingml/2006/main" noGrp="1"/>
          </p:cNvSpPr>
          <p:nvPr/>
        </p:nvSpPr>
        <p:spPr>
          <a:xfrm xmlns:a="http://schemas.openxmlformats.org/drawingml/2006/main">
            <a:off x="819150" y="31432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1" name="">
            <a:extLst xmlns:a="http://schemas.openxmlformats.org/drawingml/2006/main">
              <a:ext uri="{FF2B5EF4-FFF2-40B4-BE49-F238E27FC236}">
                <a16:creationId xmlns:a16="http://schemas.microsoft.com/office/drawing/2014/main" id="{F0F0D755-3533-4B25-995F-C46684E0AEEF}"/>
              </a:ext>
            </a:extLst>
          </p:cNvPr>
          <p:cNvSpPr>
            <a:spLocks xmlns:a="http://schemas.openxmlformats.org/drawingml/2006/main" noGrp="1"/>
          </p:cNvSpPr>
          <p:nvPr/>
        </p:nvSpPr>
        <p:spPr>
          <a:xfrm xmlns:a="http://schemas.openxmlformats.org/drawingml/2006/main">
            <a:off x="819150" y="32956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6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Weighted combination</a:t>
            </a:r>
          </a:p>
        </p:txBody>
      </p:sp>
      <p:sp>
        <p:nvSpPr>
          <p:cNvPr id="12" name="">
            <a:extLst xmlns:a="http://schemas.openxmlformats.org/drawingml/2006/main">
              <a:ext uri="{FF2B5EF4-FFF2-40B4-BE49-F238E27FC236}">
                <a16:creationId xmlns:a16="http://schemas.microsoft.com/office/drawing/2014/main" id="{0F417904-F7BC-4B92-A748-BFA5592865A5}"/>
              </a:ext>
            </a:extLst>
          </p:cNvPr>
          <p:cNvSpPr>
            <a:spLocks xmlns:a="http://schemas.openxmlformats.org/drawingml/2006/main" noGrp="1"/>
          </p:cNvSpPr>
          <p:nvPr/>
        </p:nvSpPr>
        <p:spPr>
          <a:xfrm xmlns:a="http://schemas.openxmlformats.org/drawingml/2006/main">
            <a:off x="819150" y="35623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956"/>
          </a:bodyPr>
          <a:lstStyle xmlns:a="http://schemas.openxmlformats.org/drawingml/2006/main"/>
          <a:p xmlns:a="http://schemas.openxmlformats.org/drawingml/2006/main">
            <a:pPr algn="l">
              <a:lnSpc>
                <a:spcPct val="100000"/>
              </a:lnSpc>
              <a:buNone/>
              <a:defRPr sz="1725" b="1" i="0">
                <a:solidFill>
                  <a:srgbClr val="202024"/>
                </a:solidFill>
                <a:latin typeface="Arial"/>
                <a:ea typeface="Arial"/>
                <a:cs typeface="Arial"/>
              </a:defRPr>
            </a:pPr>
            <a:r>
              <a:rPr sz="1725" b="1" i="0">
                <a:solidFill>
                  <a:srgbClr val="202024"/>
                </a:solidFill>
                <a:latin typeface="Arial"/>
                <a:ea typeface="Arial"/>
                <a:cs typeface="Arial"/>
              </a:rPr>
              <a:t>p = 1 / (1 + e^-z)</a:t>
            </a:r>
          </a:p>
        </p:txBody>
      </p:sp>
      <p:sp>
        <p:nvSpPr>
          <p:cNvPr id="13" name="">
            <a:extLst xmlns:a="http://schemas.openxmlformats.org/drawingml/2006/main">
              <a:ext uri="{FF2B5EF4-FFF2-40B4-BE49-F238E27FC236}">
                <a16:creationId xmlns:a16="http://schemas.microsoft.com/office/drawing/2014/main" id="{85A32B54-B570-4FD7-A2FB-FB0B818DEDB9}"/>
              </a:ext>
            </a:extLst>
          </p:cNvPr>
          <p:cNvSpPr>
            <a:spLocks xmlns:a="http://schemas.openxmlformats.org/drawingml/2006/main" noGrp="1"/>
          </p:cNvSpPr>
          <p:nvPr/>
        </p:nvSpPr>
        <p:spPr>
          <a:xfrm xmlns:a="http://schemas.openxmlformats.org/drawingml/2006/main">
            <a:off x="628650" y="4000500"/>
            <a:ext cx="30480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14" name="">
            <a:extLst xmlns:a="http://schemas.openxmlformats.org/drawingml/2006/main">
              <a:ext uri="{FF2B5EF4-FFF2-40B4-BE49-F238E27FC236}">
                <a16:creationId xmlns:a16="http://schemas.microsoft.com/office/drawing/2014/main" id="{CA927CB6-17A6-4322-BDCD-E80344ED242E}"/>
              </a:ext>
            </a:extLst>
          </p:cNvPr>
          <p:cNvSpPr>
            <a:spLocks xmlns:a="http://schemas.openxmlformats.org/drawingml/2006/main" noGrp="1"/>
          </p:cNvSpPr>
          <p:nvPr/>
        </p:nvSpPr>
        <p:spPr>
          <a:xfrm xmlns:a="http://schemas.openxmlformats.org/drawingml/2006/main">
            <a:off x="819150" y="4181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WHY THIS BASELINE</a:t>
            </a:r>
          </a:p>
        </p:txBody>
      </p:sp>
      <p:sp>
        <p:nvSpPr>
          <p:cNvPr id="15" name="">
            <a:extLst xmlns:a="http://schemas.openxmlformats.org/drawingml/2006/main">
              <a:ext uri="{FF2B5EF4-FFF2-40B4-BE49-F238E27FC236}">
                <a16:creationId xmlns:a16="http://schemas.microsoft.com/office/drawing/2014/main" id="{9FAF9537-A5D0-4457-9224-463FEF739EC4}"/>
              </a:ext>
            </a:extLst>
          </p:cNvPr>
          <p:cNvSpPr>
            <a:spLocks xmlns:a="http://schemas.openxmlformats.org/drawingml/2006/main" noGrp="1"/>
          </p:cNvSpPr>
          <p:nvPr/>
        </p:nvSpPr>
        <p:spPr>
          <a:xfrm xmlns:a="http://schemas.openxmlformats.org/drawingml/2006/main">
            <a:off x="819150" y="446722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It fits a binary classification task and remains comparatively interpretable.</a:t>
            </a:r>
          </a:p>
        </p:txBody>
      </p:sp>
      <p:sp>
        <p:nvSpPr>
          <p:cNvPr id="16" name="">
            <a:extLst xmlns:a="http://schemas.openxmlformats.org/drawingml/2006/main">
              <a:ext uri="{FF2B5EF4-FFF2-40B4-BE49-F238E27FC236}">
                <a16:creationId xmlns:a16="http://schemas.microsoft.com/office/drawing/2014/main" id="{0DC418AF-4537-4767-A55E-9C2FE547123A}"/>
              </a:ext>
            </a:extLst>
          </p:cNvPr>
          <p:cNvSpPr>
            <a:spLocks xmlns:a="http://schemas.openxmlformats.org/drawingml/2006/main" noGrp="1"/>
          </p:cNvSpPr>
          <p:nvPr/>
        </p:nvSpPr>
        <p:spPr>
          <a:xfrm xmlns:a="http://schemas.openxmlformats.org/drawingml/2006/main">
            <a:off x="4038600" y="1657350"/>
            <a:ext cx="13335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17" name="">
            <a:extLst xmlns:a="http://schemas.openxmlformats.org/drawingml/2006/main">
              <a:ext uri="{FF2B5EF4-FFF2-40B4-BE49-F238E27FC236}">
                <a16:creationId xmlns:a16="http://schemas.microsoft.com/office/drawing/2014/main" id="{3A714DE7-0D67-4947-8933-7D5E4A590A80}"/>
              </a:ext>
            </a:extLst>
          </p:cNvPr>
          <p:cNvSpPr>
            <a:spLocks xmlns:a="http://schemas.openxmlformats.org/drawingml/2006/main" noGrp="1"/>
          </p:cNvSpPr>
          <p:nvPr/>
        </p:nvSpPr>
        <p:spPr>
          <a:xfrm xmlns:a="http://schemas.openxmlformats.org/drawingml/2006/main">
            <a:off x="4133850" y="17049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ERROR MATRIX</a:t>
            </a:r>
          </a:p>
        </p:txBody>
      </p:sp>
      <p:sp>
        <p:nvSpPr>
          <p:cNvPr id="18" name="">
            <a:extLst xmlns:a="http://schemas.openxmlformats.org/drawingml/2006/main">
              <a:ext uri="{FF2B5EF4-FFF2-40B4-BE49-F238E27FC236}">
                <a16:creationId xmlns:a16="http://schemas.microsoft.com/office/drawing/2014/main" id="{1FE4591A-E414-46E9-A65E-791759AA9605}"/>
              </a:ext>
            </a:extLst>
          </p:cNvPr>
          <p:cNvSpPr>
            <a:spLocks xmlns:a="http://schemas.openxmlformats.org/drawingml/2006/main" noGrp="1"/>
          </p:cNvSpPr>
          <p:nvPr/>
        </p:nvSpPr>
        <p:spPr>
          <a:xfrm xmlns:a="http://schemas.openxmlformats.org/drawingml/2006/main">
            <a:off x="4038600" y="2057400"/>
            <a:ext cx="1657350" cy="7429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AC582634-BF69-43E9-BD44-2E0DA520D60F}"/>
              </a:ext>
            </a:extLst>
          </p:cNvPr>
          <p:cNvSpPr>
            <a:spLocks xmlns:a="http://schemas.openxmlformats.org/drawingml/2006/main" noGrp="1"/>
          </p:cNvSpPr>
          <p:nvPr/>
        </p:nvSpPr>
        <p:spPr>
          <a:xfrm xmlns:a="http://schemas.openxmlformats.org/drawingml/2006/main">
            <a:off x="4152900" y="22955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 predicted</a:t>
            </a:r>
          </a:p>
        </p:txBody>
      </p:sp>
      <p:sp>
        <p:nvSpPr>
          <p:cNvPr id="20" name="">
            <a:extLst xmlns:a="http://schemas.openxmlformats.org/drawingml/2006/main">
              <a:ext uri="{FF2B5EF4-FFF2-40B4-BE49-F238E27FC236}">
                <a16:creationId xmlns:a16="http://schemas.microsoft.com/office/drawing/2014/main" id="{A5569153-52FD-4CF7-A3E2-A8FF68525FE7}"/>
              </a:ext>
            </a:extLst>
          </p:cNvPr>
          <p:cNvSpPr>
            <a:spLocks xmlns:a="http://schemas.openxmlformats.org/drawingml/2006/main" noGrp="1"/>
          </p:cNvSpPr>
          <p:nvPr/>
        </p:nvSpPr>
        <p:spPr>
          <a:xfrm xmlns:a="http://schemas.openxmlformats.org/drawingml/2006/main">
            <a:off x="569595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1" name="">
            <a:extLst xmlns:a="http://schemas.openxmlformats.org/drawingml/2006/main">
              <a:ext uri="{FF2B5EF4-FFF2-40B4-BE49-F238E27FC236}">
                <a16:creationId xmlns:a16="http://schemas.microsoft.com/office/drawing/2014/main" id="{44FDAC0A-1DBC-4D2B-8588-6B9E4C028A98}"/>
              </a:ext>
            </a:extLst>
          </p:cNvPr>
          <p:cNvSpPr>
            <a:spLocks xmlns:a="http://schemas.openxmlformats.org/drawingml/2006/main" noGrp="1"/>
          </p:cNvSpPr>
          <p:nvPr/>
        </p:nvSpPr>
        <p:spPr>
          <a:xfrm xmlns:a="http://schemas.openxmlformats.org/drawingml/2006/main">
            <a:off x="569595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STAY</a:t>
            </a:r>
          </a:p>
        </p:txBody>
      </p:sp>
      <p:sp>
        <p:nvSpPr>
          <p:cNvPr id="22" name="">
            <a:extLst xmlns:a="http://schemas.openxmlformats.org/drawingml/2006/main">
              <a:ext uri="{FF2B5EF4-FFF2-40B4-BE49-F238E27FC236}">
                <a16:creationId xmlns:a16="http://schemas.microsoft.com/office/drawing/2014/main" id="{35494D36-873B-4A5A-9F1D-DC27EE8DB44D}"/>
              </a:ext>
            </a:extLst>
          </p:cNvPr>
          <p:cNvSpPr>
            <a:spLocks xmlns:a="http://schemas.openxmlformats.org/drawingml/2006/main" noGrp="1"/>
          </p:cNvSpPr>
          <p:nvPr/>
        </p:nvSpPr>
        <p:spPr>
          <a:xfrm xmlns:a="http://schemas.openxmlformats.org/drawingml/2006/main">
            <a:off x="735330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78D6EED1-B651-4A5F-A185-5EC9BEBB1712}"/>
              </a:ext>
            </a:extLst>
          </p:cNvPr>
          <p:cNvSpPr>
            <a:spLocks xmlns:a="http://schemas.openxmlformats.org/drawingml/2006/main" noGrp="1"/>
          </p:cNvSpPr>
          <p:nvPr/>
        </p:nvSpPr>
        <p:spPr>
          <a:xfrm xmlns:a="http://schemas.openxmlformats.org/drawingml/2006/main">
            <a:off x="735330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CHURN</a:t>
            </a:r>
          </a:p>
        </p:txBody>
      </p:sp>
      <p:sp>
        <p:nvSpPr>
          <p:cNvPr id="24" name="">
            <a:extLst xmlns:a="http://schemas.openxmlformats.org/drawingml/2006/main">
              <a:ext uri="{FF2B5EF4-FFF2-40B4-BE49-F238E27FC236}">
                <a16:creationId xmlns:a16="http://schemas.microsoft.com/office/drawing/2014/main" id="{48B9A7BB-CAF0-4DEB-87D7-2DE9E133D860}"/>
              </a:ext>
            </a:extLst>
          </p:cNvPr>
          <p:cNvSpPr>
            <a:spLocks xmlns:a="http://schemas.openxmlformats.org/drawingml/2006/main" noGrp="1"/>
          </p:cNvSpPr>
          <p:nvPr/>
        </p:nvSpPr>
        <p:spPr>
          <a:xfrm xmlns:a="http://schemas.openxmlformats.org/drawingml/2006/main">
            <a:off x="4038600" y="280035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3542FCBF-EE04-4821-82DD-443DD2E455E8}"/>
              </a:ext>
            </a:extLst>
          </p:cNvPr>
          <p:cNvSpPr>
            <a:spLocks xmlns:a="http://schemas.openxmlformats.org/drawingml/2006/main" noGrp="1"/>
          </p:cNvSpPr>
          <p:nvPr/>
        </p:nvSpPr>
        <p:spPr>
          <a:xfrm xmlns:a="http://schemas.openxmlformats.org/drawingml/2006/main">
            <a:off x="4038600" y="303847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STAY</a:t>
            </a:r>
          </a:p>
        </p:txBody>
      </p:sp>
      <p:sp>
        <p:nvSpPr>
          <p:cNvPr id="26" name="">
            <a:extLst xmlns:a="http://schemas.openxmlformats.org/drawingml/2006/main">
              <a:ext uri="{FF2B5EF4-FFF2-40B4-BE49-F238E27FC236}">
                <a16:creationId xmlns:a16="http://schemas.microsoft.com/office/drawing/2014/main" id="{2D970F1D-80EC-4BD4-A1B5-5D07C04B6C70}"/>
              </a:ext>
            </a:extLst>
          </p:cNvPr>
          <p:cNvSpPr>
            <a:spLocks xmlns:a="http://schemas.openxmlformats.org/drawingml/2006/main" noGrp="1"/>
          </p:cNvSpPr>
          <p:nvPr/>
        </p:nvSpPr>
        <p:spPr>
          <a:xfrm xmlns:a="http://schemas.openxmlformats.org/drawingml/2006/main">
            <a:off x="5695950" y="280035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27" name="">
            <a:extLst xmlns:a="http://schemas.openxmlformats.org/drawingml/2006/main">
              <a:ext uri="{FF2B5EF4-FFF2-40B4-BE49-F238E27FC236}">
                <a16:creationId xmlns:a16="http://schemas.microsoft.com/office/drawing/2014/main" id="{AE27BB4D-D957-4768-B63B-547122B430BC}"/>
              </a:ext>
            </a:extLst>
          </p:cNvPr>
          <p:cNvSpPr>
            <a:spLocks xmlns:a="http://schemas.openxmlformats.org/drawingml/2006/main" noGrp="1"/>
          </p:cNvSpPr>
          <p:nvPr/>
        </p:nvSpPr>
        <p:spPr>
          <a:xfrm xmlns:a="http://schemas.openxmlformats.org/drawingml/2006/main">
            <a:off x="569595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stay</a:t>
            </a:r>
          </a:p>
        </p:txBody>
      </p:sp>
      <p:sp>
        <p:nvSpPr>
          <p:cNvPr id="28" name="">
            <a:extLst xmlns:a="http://schemas.openxmlformats.org/drawingml/2006/main">
              <a:ext uri="{FF2B5EF4-FFF2-40B4-BE49-F238E27FC236}">
                <a16:creationId xmlns:a16="http://schemas.microsoft.com/office/drawing/2014/main" id="{2E0C93ED-5DF8-48C6-8CCB-BB975B2E40A0}"/>
              </a:ext>
            </a:extLst>
          </p:cNvPr>
          <p:cNvSpPr>
            <a:spLocks xmlns:a="http://schemas.openxmlformats.org/drawingml/2006/main" noGrp="1"/>
          </p:cNvSpPr>
          <p:nvPr/>
        </p:nvSpPr>
        <p:spPr>
          <a:xfrm xmlns:a="http://schemas.openxmlformats.org/drawingml/2006/main">
            <a:off x="569595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No alert needed</a:t>
            </a:r>
          </a:p>
        </p:txBody>
      </p:sp>
      <p:sp>
        <p:nvSpPr>
          <p:cNvPr id="29" name="">
            <a:extLst xmlns:a="http://schemas.openxmlformats.org/drawingml/2006/main">
              <a:ext uri="{FF2B5EF4-FFF2-40B4-BE49-F238E27FC236}">
                <a16:creationId xmlns:a16="http://schemas.microsoft.com/office/drawing/2014/main" id="{208D96EC-358D-400B-994C-D81806BA480D}"/>
              </a:ext>
            </a:extLst>
          </p:cNvPr>
          <p:cNvSpPr>
            <a:spLocks xmlns:a="http://schemas.openxmlformats.org/drawingml/2006/main" noGrp="1"/>
          </p:cNvSpPr>
          <p:nvPr/>
        </p:nvSpPr>
        <p:spPr>
          <a:xfrm xmlns:a="http://schemas.openxmlformats.org/drawingml/2006/main">
            <a:off x="7353300" y="2800350"/>
            <a:ext cx="1657350" cy="742950"/>
          </a:xfrm>
          <a:prstGeom xmlns:a="http://schemas.openxmlformats.org/drawingml/2006/main" prst="rect">
            <a:avLst/>
          </a:prstGeom>
          <a:solidFill xmlns:a="http://schemas.openxmlformats.org/drawingml/2006/main">
            <a:srgbClr val="F5EEE5"/>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25962E58-5EEA-40AC-ABD8-2A0E96B8D91D}"/>
              </a:ext>
            </a:extLst>
          </p:cNvPr>
          <p:cNvSpPr>
            <a:spLocks xmlns:a="http://schemas.openxmlformats.org/drawingml/2006/main" noGrp="1"/>
          </p:cNvSpPr>
          <p:nvPr/>
        </p:nvSpPr>
        <p:spPr>
          <a:xfrm xmlns:a="http://schemas.openxmlformats.org/drawingml/2006/main">
            <a:off x="735330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False alert</a:t>
            </a:r>
          </a:p>
        </p:txBody>
      </p:sp>
      <p:sp>
        <p:nvSpPr>
          <p:cNvPr id="31" name="">
            <a:extLst xmlns:a="http://schemas.openxmlformats.org/drawingml/2006/main">
              <a:ext uri="{FF2B5EF4-FFF2-40B4-BE49-F238E27FC236}">
                <a16:creationId xmlns:a16="http://schemas.microsoft.com/office/drawing/2014/main" id="{91D4E8C7-C408-404D-89F6-F26524743116}"/>
              </a:ext>
            </a:extLst>
          </p:cNvPr>
          <p:cNvSpPr>
            <a:spLocks xmlns:a="http://schemas.openxmlformats.org/drawingml/2006/main" noGrp="1"/>
          </p:cNvSpPr>
          <p:nvPr/>
        </p:nvSpPr>
        <p:spPr>
          <a:xfrm xmlns:a="http://schemas.openxmlformats.org/drawingml/2006/main">
            <a:off x="735330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Unnecessary review</a:t>
            </a:r>
          </a:p>
        </p:txBody>
      </p:sp>
      <p:sp>
        <p:nvSpPr>
          <p:cNvPr id="32" name="">
            <a:extLst xmlns:a="http://schemas.openxmlformats.org/drawingml/2006/main">
              <a:ext uri="{FF2B5EF4-FFF2-40B4-BE49-F238E27FC236}">
                <a16:creationId xmlns:a16="http://schemas.microsoft.com/office/drawing/2014/main" id="{F85A26E3-EFFE-48CB-85A2-D87BF8AB2EB0}"/>
              </a:ext>
            </a:extLst>
          </p:cNvPr>
          <p:cNvSpPr>
            <a:spLocks xmlns:a="http://schemas.openxmlformats.org/drawingml/2006/main" noGrp="1"/>
          </p:cNvSpPr>
          <p:nvPr/>
        </p:nvSpPr>
        <p:spPr>
          <a:xfrm xmlns:a="http://schemas.openxmlformats.org/drawingml/2006/main">
            <a:off x="4038600" y="35433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3" name="">
            <a:extLst xmlns:a="http://schemas.openxmlformats.org/drawingml/2006/main">
              <a:ext uri="{FF2B5EF4-FFF2-40B4-BE49-F238E27FC236}">
                <a16:creationId xmlns:a16="http://schemas.microsoft.com/office/drawing/2014/main" id="{EE5427E1-9CED-4AE0-B552-0AB545925944}"/>
              </a:ext>
            </a:extLst>
          </p:cNvPr>
          <p:cNvSpPr>
            <a:spLocks xmlns:a="http://schemas.openxmlformats.org/drawingml/2006/main" noGrp="1"/>
          </p:cNvSpPr>
          <p:nvPr/>
        </p:nvSpPr>
        <p:spPr>
          <a:xfrm xmlns:a="http://schemas.openxmlformats.org/drawingml/2006/main">
            <a:off x="4038600" y="37814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CHURN</a:t>
            </a:r>
          </a:p>
        </p:txBody>
      </p:sp>
      <p:sp>
        <p:nvSpPr>
          <p:cNvPr id="34" name="">
            <a:extLst xmlns:a="http://schemas.openxmlformats.org/drawingml/2006/main">
              <a:ext uri="{FF2B5EF4-FFF2-40B4-BE49-F238E27FC236}">
                <a16:creationId xmlns:a16="http://schemas.microsoft.com/office/drawing/2014/main" id="{85593AD9-B1BB-4C7B-951E-53C6180DC669}"/>
              </a:ext>
            </a:extLst>
          </p:cNvPr>
          <p:cNvSpPr>
            <a:spLocks xmlns:a="http://schemas.openxmlformats.org/drawingml/2006/main" noGrp="1"/>
          </p:cNvSpPr>
          <p:nvPr/>
        </p:nvSpPr>
        <p:spPr>
          <a:xfrm xmlns:a="http://schemas.openxmlformats.org/drawingml/2006/main">
            <a:off x="5695950" y="3543300"/>
            <a:ext cx="1657350" cy="742950"/>
          </a:xfrm>
          <a:prstGeom xmlns:a="http://schemas.openxmlformats.org/drawingml/2006/main" prst="rect">
            <a:avLst/>
          </a:prstGeom>
          <a:solidFill xmlns:a="http://schemas.openxmlformats.org/drawingml/2006/main">
            <a:srgbClr val="F5E8EA"/>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9D5C51BE-0168-48CE-A3D2-C98F33755D1A}"/>
              </a:ext>
            </a:extLst>
          </p:cNvPr>
          <p:cNvSpPr>
            <a:spLocks xmlns:a="http://schemas.openxmlformats.org/drawingml/2006/main" noGrp="1"/>
          </p:cNvSpPr>
          <p:nvPr/>
        </p:nvSpPr>
        <p:spPr>
          <a:xfrm xmlns:a="http://schemas.openxmlformats.org/drawingml/2006/main">
            <a:off x="569595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Missed churner</a:t>
            </a:r>
          </a:p>
        </p:txBody>
      </p:sp>
      <p:sp>
        <p:nvSpPr>
          <p:cNvPr id="36" name="">
            <a:extLst xmlns:a="http://schemas.openxmlformats.org/drawingml/2006/main">
              <a:ext uri="{FF2B5EF4-FFF2-40B4-BE49-F238E27FC236}">
                <a16:creationId xmlns:a16="http://schemas.microsoft.com/office/drawing/2014/main" id="{16A815F0-5E93-4356-961C-6689551C0068}"/>
              </a:ext>
            </a:extLst>
          </p:cNvPr>
          <p:cNvSpPr>
            <a:spLocks xmlns:a="http://schemas.openxmlformats.org/drawingml/2006/main" noGrp="1"/>
          </p:cNvSpPr>
          <p:nvPr/>
        </p:nvSpPr>
        <p:spPr>
          <a:xfrm xmlns:a="http://schemas.openxmlformats.org/drawingml/2006/main">
            <a:off x="569595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Risk remains unseen</a:t>
            </a:r>
          </a:p>
        </p:txBody>
      </p:sp>
      <p:sp>
        <p:nvSpPr>
          <p:cNvPr id="37" name="">
            <a:extLst xmlns:a="http://schemas.openxmlformats.org/drawingml/2006/main">
              <a:ext uri="{FF2B5EF4-FFF2-40B4-BE49-F238E27FC236}">
                <a16:creationId xmlns:a16="http://schemas.microsoft.com/office/drawing/2014/main" id="{493ECA70-57E8-4C91-8E15-360D1F702B91}"/>
              </a:ext>
            </a:extLst>
          </p:cNvPr>
          <p:cNvSpPr>
            <a:spLocks xmlns:a="http://schemas.openxmlformats.org/drawingml/2006/main" noGrp="1"/>
          </p:cNvSpPr>
          <p:nvPr/>
        </p:nvSpPr>
        <p:spPr>
          <a:xfrm xmlns:a="http://schemas.openxmlformats.org/drawingml/2006/main">
            <a:off x="7353300" y="354330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764A353F-8E8F-4BD7-8610-81410EF43BC7}"/>
              </a:ext>
            </a:extLst>
          </p:cNvPr>
          <p:cNvSpPr>
            <a:spLocks xmlns:a="http://schemas.openxmlformats.org/drawingml/2006/main" noGrp="1"/>
          </p:cNvSpPr>
          <p:nvPr/>
        </p:nvSpPr>
        <p:spPr>
          <a:xfrm xmlns:a="http://schemas.openxmlformats.org/drawingml/2006/main">
            <a:off x="735330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alert</a:t>
            </a:r>
          </a:p>
        </p:txBody>
      </p:sp>
      <p:sp>
        <p:nvSpPr>
          <p:cNvPr id="39" name="">
            <a:extLst xmlns:a="http://schemas.openxmlformats.org/drawingml/2006/main">
              <a:ext uri="{FF2B5EF4-FFF2-40B4-BE49-F238E27FC236}">
                <a16:creationId xmlns:a16="http://schemas.microsoft.com/office/drawing/2014/main" id="{FF3D9C0C-DA08-4356-B032-23D160204408}"/>
              </a:ext>
            </a:extLst>
          </p:cNvPr>
          <p:cNvSpPr>
            <a:spLocks xmlns:a="http://schemas.openxmlformats.org/drawingml/2006/main" noGrp="1"/>
          </p:cNvSpPr>
          <p:nvPr/>
        </p:nvSpPr>
        <p:spPr>
          <a:xfrm xmlns:a="http://schemas.openxmlformats.org/drawingml/2006/main">
            <a:off x="735330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Review can begin</a:t>
            </a:r>
          </a:p>
        </p:txBody>
      </p:sp>
      <p:sp>
        <p:nvSpPr>
          <p:cNvPr id="40" name="">
            <a:extLst xmlns:a="http://schemas.openxmlformats.org/drawingml/2006/main">
              <a:ext uri="{FF2B5EF4-FFF2-40B4-BE49-F238E27FC236}">
                <a16:creationId xmlns:a16="http://schemas.microsoft.com/office/drawing/2014/main" id="{10F03612-9CF7-46E5-B854-F1EAF8BD993D}"/>
              </a:ext>
            </a:extLst>
          </p:cNvPr>
          <p:cNvSpPr>
            <a:spLocks xmlns:a="http://schemas.openxmlformats.org/drawingml/2006/main" noGrp="1"/>
          </p:cNvSpPr>
          <p:nvPr/>
        </p:nvSpPr>
        <p:spPr>
          <a:xfrm xmlns:a="http://schemas.openxmlformats.org/drawingml/2006/main">
            <a:off x="9353550" y="1657350"/>
            <a:ext cx="18859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1" name="">
            <a:extLst xmlns:a="http://schemas.openxmlformats.org/drawingml/2006/main">
              <a:ext uri="{FF2B5EF4-FFF2-40B4-BE49-F238E27FC236}">
                <a16:creationId xmlns:a16="http://schemas.microsoft.com/office/drawing/2014/main" id="{8FD729D4-A95D-4681-B309-20A7A14463B8}"/>
              </a:ext>
            </a:extLst>
          </p:cNvPr>
          <p:cNvSpPr>
            <a:spLocks xmlns:a="http://schemas.openxmlformats.org/drawingml/2006/main" noGrp="1"/>
          </p:cNvSpPr>
          <p:nvPr/>
        </p:nvSpPr>
        <p:spPr>
          <a:xfrm xmlns:a="http://schemas.openxmlformats.org/drawingml/2006/main">
            <a:off x="9448800" y="1704975"/>
            <a:ext cx="1695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097"/>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METRIC INTERPRETATION</a:t>
            </a:r>
          </a:p>
        </p:txBody>
      </p:sp>
      <p:sp>
        <p:nvSpPr>
          <p:cNvPr id="42" name="">
            <a:extLst xmlns:a="http://schemas.openxmlformats.org/drawingml/2006/main">
              <a:ext uri="{FF2B5EF4-FFF2-40B4-BE49-F238E27FC236}">
                <a16:creationId xmlns:a16="http://schemas.microsoft.com/office/drawing/2014/main" id="{B094E060-E427-466B-B527-C534A2C0A933}"/>
              </a:ext>
            </a:extLst>
          </p:cNvPr>
          <p:cNvSpPr>
            <a:spLocks xmlns:a="http://schemas.openxmlformats.org/drawingml/2006/main" noGrp="1"/>
          </p:cNvSpPr>
          <p:nvPr/>
        </p:nvSpPr>
        <p:spPr>
          <a:xfrm xmlns:a="http://schemas.openxmlformats.org/drawingml/2006/main">
            <a:off x="9353550" y="20764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Accuracy</a:t>
            </a:r>
          </a:p>
        </p:txBody>
      </p:sp>
      <p:sp>
        <p:nvSpPr>
          <p:cNvPr id="43" name="">
            <a:extLst xmlns:a="http://schemas.openxmlformats.org/drawingml/2006/main">
              <a:ext uri="{FF2B5EF4-FFF2-40B4-BE49-F238E27FC236}">
                <a16:creationId xmlns:a16="http://schemas.microsoft.com/office/drawing/2014/main" id="{41E0856E-6C69-4A57-A016-BFE6094C4564}"/>
              </a:ext>
            </a:extLst>
          </p:cNvPr>
          <p:cNvSpPr>
            <a:spLocks xmlns:a="http://schemas.openxmlformats.org/drawingml/2006/main" noGrp="1"/>
          </p:cNvSpPr>
          <p:nvPr/>
        </p:nvSpPr>
        <p:spPr>
          <a:xfrm xmlns:a="http://schemas.openxmlformats.org/drawingml/2006/main">
            <a:off x="10344150" y="20764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2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Share of all predictions that are correct</a:t>
            </a:r>
          </a:p>
        </p:txBody>
      </p:sp>
      <p:sp>
        <p:nvSpPr>
          <p:cNvPr id="44" name="">
            <a:extLst xmlns:a="http://schemas.openxmlformats.org/drawingml/2006/main">
              <a:ext uri="{FF2B5EF4-FFF2-40B4-BE49-F238E27FC236}">
                <a16:creationId xmlns:a16="http://schemas.microsoft.com/office/drawing/2014/main" id="{BB3D3D42-0CF2-4196-8FE5-4E947112B9A7}"/>
              </a:ext>
            </a:extLst>
          </p:cNvPr>
          <p:cNvSpPr>
            <a:spLocks xmlns:a="http://schemas.openxmlformats.org/drawingml/2006/main" noGrp="1"/>
          </p:cNvSpPr>
          <p:nvPr/>
        </p:nvSpPr>
        <p:spPr>
          <a:xfrm xmlns:a="http://schemas.openxmlformats.org/drawingml/2006/main">
            <a:off x="9353550" y="25431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87FF934D-1EE7-4C7C-9C32-A36437032468}"/>
              </a:ext>
            </a:extLst>
          </p:cNvPr>
          <p:cNvSpPr>
            <a:spLocks xmlns:a="http://schemas.openxmlformats.org/drawingml/2006/main" noGrp="1"/>
          </p:cNvSpPr>
          <p:nvPr/>
        </p:nvSpPr>
        <p:spPr>
          <a:xfrm xmlns:a="http://schemas.openxmlformats.org/drawingml/2006/main">
            <a:off x="9353550" y="26670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Precision</a:t>
            </a:r>
          </a:p>
        </p:txBody>
      </p:sp>
      <p:sp>
        <p:nvSpPr>
          <p:cNvPr id="46" name="">
            <a:extLst xmlns:a="http://schemas.openxmlformats.org/drawingml/2006/main">
              <a:ext uri="{FF2B5EF4-FFF2-40B4-BE49-F238E27FC236}">
                <a16:creationId xmlns:a16="http://schemas.microsoft.com/office/drawing/2014/main" id="{093DB279-5A37-4871-AA13-89C6B802176A}"/>
              </a:ext>
            </a:extLst>
          </p:cNvPr>
          <p:cNvSpPr>
            <a:spLocks xmlns:a="http://schemas.openxmlformats.org/drawingml/2006/main" noGrp="1"/>
          </p:cNvSpPr>
          <p:nvPr/>
        </p:nvSpPr>
        <p:spPr>
          <a:xfrm xmlns:a="http://schemas.openxmlformats.org/drawingml/2006/main">
            <a:off x="10344150" y="26670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Reliability of churn alerts</a:t>
            </a:r>
          </a:p>
        </p:txBody>
      </p:sp>
      <p:sp>
        <p:nvSpPr>
          <p:cNvPr id="47" name="">
            <a:extLst xmlns:a="http://schemas.openxmlformats.org/drawingml/2006/main">
              <a:ext uri="{FF2B5EF4-FFF2-40B4-BE49-F238E27FC236}">
                <a16:creationId xmlns:a16="http://schemas.microsoft.com/office/drawing/2014/main" id="{44459ECA-7DC4-4626-B592-AFF791D536CF}"/>
              </a:ext>
            </a:extLst>
          </p:cNvPr>
          <p:cNvSpPr>
            <a:spLocks xmlns:a="http://schemas.openxmlformats.org/drawingml/2006/main" noGrp="1"/>
          </p:cNvSpPr>
          <p:nvPr/>
        </p:nvSpPr>
        <p:spPr>
          <a:xfrm xmlns:a="http://schemas.openxmlformats.org/drawingml/2006/main">
            <a:off x="9353550" y="31337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8" name="">
            <a:extLst xmlns:a="http://schemas.openxmlformats.org/drawingml/2006/main">
              <a:ext uri="{FF2B5EF4-FFF2-40B4-BE49-F238E27FC236}">
                <a16:creationId xmlns:a16="http://schemas.microsoft.com/office/drawing/2014/main" id="{D70D92B5-E3ED-4700-A1E2-4B1598B5846C}"/>
              </a:ext>
            </a:extLst>
          </p:cNvPr>
          <p:cNvSpPr>
            <a:spLocks xmlns:a="http://schemas.openxmlformats.org/drawingml/2006/main" noGrp="1"/>
          </p:cNvSpPr>
          <p:nvPr/>
        </p:nvSpPr>
        <p:spPr>
          <a:xfrm xmlns:a="http://schemas.openxmlformats.org/drawingml/2006/main">
            <a:off x="9353550" y="32575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Recall</a:t>
            </a:r>
          </a:p>
        </p:txBody>
      </p:sp>
      <p:sp>
        <p:nvSpPr>
          <p:cNvPr id="49" name="">
            <a:extLst xmlns:a="http://schemas.openxmlformats.org/drawingml/2006/main">
              <a:ext uri="{FF2B5EF4-FFF2-40B4-BE49-F238E27FC236}">
                <a16:creationId xmlns:a16="http://schemas.microsoft.com/office/drawing/2014/main" id="{D8670B6E-8705-4780-AB83-A7CE550FDB9F}"/>
              </a:ext>
            </a:extLst>
          </p:cNvPr>
          <p:cNvSpPr>
            <a:spLocks xmlns:a="http://schemas.openxmlformats.org/drawingml/2006/main" noGrp="1"/>
          </p:cNvSpPr>
          <p:nvPr/>
        </p:nvSpPr>
        <p:spPr>
          <a:xfrm xmlns:a="http://schemas.openxmlformats.org/drawingml/2006/main">
            <a:off x="10344150" y="32575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Coverage of actual churners</a:t>
            </a:r>
          </a:p>
        </p:txBody>
      </p:sp>
      <p:sp>
        <p:nvSpPr>
          <p:cNvPr id="50" name="">
            <a:extLst xmlns:a="http://schemas.openxmlformats.org/drawingml/2006/main">
              <a:ext uri="{FF2B5EF4-FFF2-40B4-BE49-F238E27FC236}">
                <a16:creationId xmlns:a16="http://schemas.microsoft.com/office/drawing/2014/main" id="{D28858F2-1CC5-46D0-9C65-FDC0F5D4DB77}"/>
              </a:ext>
            </a:extLst>
          </p:cNvPr>
          <p:cNvSpPr>
            <a:spLocks xmlns:a="http://schemas.openxmlformats.org/drawingml/2006/main" noGrp="1"/>
          </p:cNvSpPr>
          <p:nvPr/>
        </p:nvSpPr>
        <p:spPr>
          <a:xfrm xmlns:a="http://schemas.openxmlformats.org/drawingml/2006/main">
            <a:off x="9353550" y="37242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2B93E1C0-55CD-478B-A1F8-A4235D632553}"/>
              </a:ext>
            </a:extLst>
          </p:cNvPr>
          <p:cNvSpPr>
            <a:spLocks xmlns:a="http://schemas.openxmlformats.org/drawingml/2006/main" noGrp="1"/>
          </p:cNvSpPr>
          <p:nvPr/>
        </p:nvSpPr>
        <p:spPr>
          <a:xfrm xmlns:a="http://schemas.openxmlformats.org/drawingml/2006/main">
            <a:off x="9353550" y="38481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F1</a:t>
            </a:r>
          </a:p>
        </p:txBody>
      </p:sp>
      <p:sp>
        <p:nvSpPr>
          <p:cNvPr id="52" name="">
            <a:extLst xmlns:a="http://schemas.openxmlformats.org/drawingml/2006/main">
              <a:ext uri="{FF2B5EF4-FFF2-40B4-BE49-F238E27FC236}">
                <a16:creationId xmlns:a16="http://schemas.microsoft.com/office/drawing/2014/main" id="{BF76DB8B-6CCE-4FC4-BC16-7C9D7D4FE497}"/>
              </a:ext>
            </a:extLst>
          </p:cNvPr>
          <p:cNvSpPr>
            <a:spLocks xmlns:a="http://schemas.openxmlformats.org/drawingml/2006/main" noGrp="1"/>
          </p:cNvSpPr>
          <p:nvPr/>
        </p:nvSpPr>
        <p:spPr>
          <a:xfrm xmlns:a="http://schemas.openxmlformats.org/drawingml/2006/main">
            <a:off x="10344150" y="38481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1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Balance of precision and recall</a:t>
            </a:r>
          </a:p>
        </p:txBody>
      </p:sp>
      <p:sp>
        <p:nvSpPr>
          <p:cNvPr id="53" name="">
            <a:extLst xmlns:a="http://schemas.openxmlformats.org/drawingml/2006/main">
              <a:ext uri="{FF2B5EF4-FFF2-40B4-BE49-F238E27FC236}">
                <a16:creationId xmlns:a16="http://schemas.microsoft.com/office/drawing/2014/main" id="{199007EA-25EE-4B1B-BFAD-334DAA81AA9F}"/>
              </a:ext>
            </a:extLst>
          </p:cNvPr>
          <p:cNvSpPr>
            <a:spLocks xmlns:a="http://schemas.openxmlformats.org/drawingml/2006/main" noGrp="1"/>
          </p:cNvSpPr>
          <p:nvPr/>
        </p:nvSpPr>
        <p:spPr>
          <a:xfrm xmlns:a="http://schemas.openxmlformats.org/drawingml/2006/main">
            <a:off x="9353550" y="43148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6C37BD63-087C-46DD-A3A9-7469D9D9A377}"/>
              </a:ext>
            </a:extLst>
          </p:cNvPr>
          <p:cNvSpPr>
            <a:spLocks xmlns:a="http://schemas.openxmlformats.org/drawingml/2006/main" noGrp="1"/>
          </p:cNvSpPr>
          <p:nvPr/>
        </p:nvSpPr>
        <p:spPr>
          <a:xfrm xmlns:a="http://schemas.openxmlformats.org/drawingml/2006/main">
            <a:off x="9353550" y="44386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Support</a:t>
            </a:r>
          </a:p>
        </p:txBody>
      </p:sp>
      <p:sp>
        <p:nvSpPr>
          <p:cNvPr id="55" name="">
            <a:extLst xmlns:a="http://schemas.openxmlformats.org/drawingml/2006/main">
              <a:ext uri="{FF2B5EF4-FFF2-40B4-BE49-F238E27FC236}">
                <a16:creationId xmlns:a16="http://schemas.microsoft.com/office/drawing/2014/main" id="{2B25ECA6-5B15-4A79-B85F-9D890D49E16B}"/>
              </a:ext>
            </a:extLst>
          </p:cNvPr>
          <p:cNvSpPr>
            <a:spLocks xmlns:a="http://schemas.openxmlformats.org/drawingml/2006/main" noGrp="1"/>
          </p:cNvSpPr>
          <p:nvPr/>
        </p:nvSpPr>
        <p:spPr>
          <a:xfrm xmlns:a="http://schemas.openxmlformats.org/drawingml/2006/main">
            <a:off x="10344150" y="44386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Records evaluated in each class</a:t>
            </a:r>
          </a:p>
        </p:txBody>
      </p:sp>
      <p:sp>
        <p:nvSpPr>
          <p:cNvPr id="56" name="">
            <a:extLst xmlns:a="http://schemas.openxmlformats.org/drawingml/2006/main">
              <a:ext uri="{FF2B5EF4-FFF2-40B4-BE49-F238E27FC236}">
                <a16:creationId xmlns:a16="http://schemas.microsoft.com/office/drawing/2014/main" id="{803A6625-E60D-4F52-A9D4-6205FDF84451}"/>
              </a:ext>
            </a:extLst>
          </p:cNvPr>
          <p:cNvSpPr>
            <a:spLocks xmlns:a="http://schemas.openxmlformats.org/drawingml/2006/main" noGrp="1"/>
          </p:cNvSpPr>
          <p:nvPr/>
        </p:nvSpPr>
        <p:spPr>
          <a:xfrm xmlns:a="http://schemas.openxmlformats.org/drawingml/2006/main">
            <a:off x="628650" y="5295900"/>
            <a:ext cx="10934700" cy="80010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57" name="">
            <a:extLst xmlns:a="http://schemas.openxmlformats.org/drawingml/2006/main">
              <a:ext uri="{FF2B5EF4-FFF2-40B4-BE49-F238E27FC236}">
                <a16:creationId xmlns:a16="http://schemas.microsoft.com/office/drawing/2014/main" id="{333EE835-D549-4471-AB18-205B92B74225}"/>
              </a:ext>
            </a:extLst>
          </p:cNvPr>
          <p:cNvSpPr>
            <a:spLocks xmlns:a="http://schemas.openxmlformats.org/drawingml/2006/main" noGrp="1"/>
          </p:cNvSpPr>
          <p:nvPr/>
        </p:nvSpPr>
        <p:spPr>
          <a:xfrm xmlns:a="http://schemas.openxmlformats.org/drawingml/2006/main">
            <a:off x="819150" y="55054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738"/>
          </a:bodyPr>
          <a:lstStyle xmlns:a="http://schemas.openxmlformats.org/drawingml/2006/main"/>
          <a:p xmlns:a="http://schemas.openxmlformats.org/drawingml/2006/main">
            <a:pPr algn="l">
              <a:lnSpc>
                <a:spcPct val="100000"/>
              </a:lnSpc>
              <a:buNone/>
              <a:defRPr sz="1875" b="1" i="0">
                <a:solidFill>
                  <a:srgbClr val="FFFFFF"/>
                </a:solidFill>
                <a:latin typeface="Arial"/>
                <a:ea typeface="Arial"/>
                <a:cs typeface="Arial"/>
              </a:defRPr>
            </a:pPr>
            <a:r>
              <a:rPr sz="1875" b="1" i="0">
                <a:solidFill>
                  <a:srgbClr val="FFFFFF"/>
                </a:solidFill>
                <a:latin typeface="Arial"/>
                <a:ea typeface="Arial"/>
                <a:cs typeface="Arial"/>
              </a:rPr>
              <a:t>The master synopsis does not report numerical model results.</a:t>
            </a:r>
          </a:p>
        </p:txBody>
      </p:sp>
      <p:sp>
        <p:nvSpPr>
          <p:cNvPr id="58" name="">
            <a:extLst xmlns:a="http://schemas.openxmlformats.org/drawingml/2006/main">
              <a:ext uri="{FF2B5EF4-FFF2-40B4-BE49-F238E27FC236}">
                <a16:creationId xmlns:a16="http://schemas.microsoft.com/office/drawing/2014/main" id="{D0822FCA-4C2B-42CD-8DA0-815B1390C501}"/>
              </a:ext>
            </a:extLst>
          </p:cNvPr>
          <p:cNvSpPr>
            <a:spLocks xmlns:a="http://schemas.openxmlformats.org/drawingml/2006/main" noGrp="1"/>
          </p:cNvSpPr>
          <p:nvPr/>
        </p:nvSpPr>
        <p:spPr>
          <a:xfrm xmlns:a="http://schemas.openxmlformats.org/drawingml/2006/main">
            <a:off x="6877050" y="5514975"/>
            <a:ext cx="440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745"/>
          </a:bodyPr>
          <a:lstStyle xmlns:a="http://schemas.openxmlformats.org/drawingml/2006/main"/>
          <a:p xmlns:a="http://schemas.openxmlformats.org/drawingml/2006/main">
            <a:pPr algn="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Classification shows association, not the cause of churn.</a:t>
            </a:r>
          </a:p>
        </p:txBody>
      </p:sp>
      <p:sp>
        <p:nvSpPr>
          <p:cNvPr id="59" name="">
            <a:extLst xmlns:a="http://schemas.openxmlformats.org/drawingml/2006/main">
              <a:ext uri="{FF2B5EF4-FFF2-40B4-BE49-F238E27FC236}">
                <a16:creationId xmlns:a16="http://schemas.microsoft.com/office/drawing/2014/main" id="{DDA45BE1-C414-46BE-A2AA-D7F0A089E555}"/>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0" name="">
            <a:extLst xmlns:a="http://schemas.openxmlformats.org/drawingml/2006/main">
              <a:ext uri="{FF2B5EF4-FFF2-40B4-BE49-F238E27FC236}">
                <a16:creationId xmlns:a16="http://schemas.microsoft.com/office/drawing/2014/main" id="{FFED4E12-2B72-4C91-A817-F431ADEEF29F}"/>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E-G; Scikit-learn documentation for metric concepts</a:t>
            </a:r>
          </a:p>
        </p:txBody>
      </p:sp>
    </p:spTree>
    <p:extLst>
      <p:ext uri="{BB962C8B-B14F-4D97-AF65-F5344CB8AC3E}">
        <p14:creationId xmlns:p14="http://schemas.microsoft.com/office/powerpoint/2010/main" val="1909545982"/>
      </p:ext>
    </p:extLst>
  </p:cSld>
</p:sld>
</file>

<file path=ppt/slides/slide5.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E5E4964A-4077-4F96-B19C-EB9F2A44F505}"/>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APPLICATION AND NEXT STEPS</a:t>
            </a:r>
          </a:p>
        </p:txBody>
      </p:sp>
      <p:sp>
        <p:nvSpPr>
          <p:cNvPr id="2" name="">
            <a:extLst xmlns:a="http://schemas.openxmlformats.org/drawingml/2006/main">
              <a:ext uri="{FF2B5EF4-FFF2-40B4-BE49-F238E27FC236}">
                <a16:creationId xmlns:a16="http://schemas.microsoft.com/office/drawing/2014/main" id="{D89C64E6-8540-468A-A86C-E26B2FC6D7DE}"/>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Operational use requires stronger validation and a process around each prediction</a:t>
            </a:r>
          </a:p>
        </p:txBody>
      </p:sp>
      <p:sp>
        <p:nvSpPr>
          <p:cNvPr id="3" name="">
            <a:extLst xmlns:a="http://schemas.openxmlformats.org/drawingml/2006/main">
              <a:ext uri="{FF2B5EF4-FFF2-40B4-BE49-F238E27FC236}">
                <a16:creationId xmlns:a16="http://schemas.microsoft.com/office/drawing/2014/main" id="{2202BC6E-6C5E-4FB5-88B3-21CFE54EFE95}"/>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4F34468A-9B67-4DB6-991D-A9CD4C45FAD5}"/>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CA90D954-EE89-489D-899E-C898BB9FA60A}"/>
              </a:ext>
            </a:extLst>
          </p:cNvPr>
          <p:cNvSpPr>
            <a:spLocks xmlns:a="http://schemas.openxmlformats.org/drawingml/2006/main" noGrp="1"/>
          </p:cNvSpPr>
          <p:nvPr/>
        </p:nvSpPr>
        <p:spPr>
          <a:xfrm xmlns:a="http://schemas.openxmlformats.org/drawingml/2006/main">
            <a:off x="628650" y="1657350"/>
            <a:ext cx="21907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957DFB9E-6988-4E21-8A11-1635642E52EC}"/>
              </a:ext>
            </a:extLst>
          </p:cNvPr>
          <p:cNvSpPr>
            <a:spLocks xmlns:a="http://schemas.openxmlformats.org/drawingml/2006/main" noGrp="1"/>
          </p:cNvSpPr>
          <p:nvPr/>
        </p:nvSpPr>
        <p:spPr>
          <a:xfrm xmlns:a="http://schemas.openxmlformats.org/drawingml/2006/main">
            <a:off x="723900" y="170497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09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ILLUSTRATIVE BUSINESS WORKFLOW</a:t>
            </a:r>
          </a:p>
        </p:txBody>
      </p:sp>
      <p:sp>
        <p:nvSpPr>
          <p:cNvPr id="7" name="">
            <a:extLst xmlns:a="http://schemas.openxmlformats.org/drawingml/2006/main">
              <a:ext uri="{FF2B5EF4-FFF2-40B4-BE49-F238E27FC236}">
                <a16:creationId xmlns:a16="http://schemas.microsoft.com/office/drawing/2014/main" id="{78882FE2-0869-4906-B9BE-5FB24AD2FFCD}"/>
              </a:ext>
            </a:extLst>
          </p:cNvPr>
          <p:cNvSpPr>
            <a:spLocks xmlns:a="http://schemas.openxmlformats.org/drawingml/2006/main" noGrp="1"/>
          </p:cNvSpPr>
          <p:nvPr/>
        </p:nvSpPr>
        <p:spPr>
          <a:xfrm xmlns:a="http://schemas.openxmlformats.org/drawingml/2006/main">
            <a:off x="628650" y="2057400"/>
            <a:ext cx="2552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CFE1224E-704A-4072-875E-45B466F19ABD}"/>
              </a:ext>
            </a:extLst>
          </p:cNvPr>
          <p:cNvSpPr>
            <a:spLocks xmlns:a="http://schemas.openxmlformats.org/drawingml/2006/main" noGrp="1"/>
          </p:cNvSpPr>
          <p:nvPr/>
        </p:nvSpPr>
        <p:spPr>
          <a:xfrm xmlns:a="http://schemas.openxmlformats.org/drawingml/2006/main">
            <a:off x="7620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7DC4E41F-C469-4C21-9A19-862BFEA55CAB}"/>
              </a:ext>
            </a:extLst>
          </p:cNvPr>
          <p:cNvSpPr>
            <a:spLocks xmlns:a="http://schemas.openxmlformats.org/drawingml/2006/main" noGrp="1"/>
          </p:cNvSpPr>
          <p:nvPr/>
        </p:nvSpPr>
        <p:spPr>
          <a:xfrm xmlns:a="http://schemas.openxmlformats.org/drawingml/2006/main">
            <a:off x="10858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Prediction</a:t>
            </a:r>
          </a:p>
        </p:txBody>
      </p:sp>
      <p:sp>
        <p:nvSpPr>
          <p:cNvPr id="10" name="">
            <a:extLst xmlns:a="http://schemas.openxmlformats.org/drawingml/2006/main">
              <a:ext uri="{FF2B5EF4-FFF2-40B4-BE49-F238E27FC236}">
                <a16:creationId xmlns:a16="http://schemas.microsoft.com/office/drawing/2014/main" id="{9B86A88F-9BC4-4F96-BA71-8DC0C3D8CA0C}"/>
              </a:ext>
            </a:extLst>
          </p:cNvPr>
          <p:cNvSpPr>
            <a:spLocks xmlns:a="http://schemas.openxmlformats.org/drawingml/2006/main" noGrp="1"/>
          </p:cNvSpPr>
          <p:nvPr/>
        </p:nvSpPr>
        <p:spPr>
          <a:xfrm xmlns:a="http://schemas.openxmlformats.org/drawingml/2006/main">
            <a:off x="10858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Likely stay or churn</a:t>
            </a:r>
          </a:p>
        </p:txBody>
      </p:sp>
      <p:sp>
        <p:nvSpPr>
          <p:cNvPr id="11" name="">
            <a:extLst xmlns:a="http://schemas.openxmlformats.org/drawingml/2006/main">
              <a:ext uri="{FF2B5EF4-FFF2-40B4-BE49-F238E27FC236}">
                <a16:creationId xmlns:a16="http://schemas.microsoft.com/office/drawing/2014/main" id="{BACBD671-503D-465D-AE7C-297FF42F6547}"/>
              </a:ext>
            </a:extLst>
          </p:cNvPr>
          <p:cNvSpPr>
            <a:spLocks xmlns:a="http://schemas.openxmlformats.org/drawingml/2006/main" noGrp="1"/>
          </p:cNvSpPr>
          <p:nvPr/>
        </p:nvSpPr>
        <p:spPr>
          <a:xfrm xmlns:a="http://schemas.openxmlformats.org/drawingml/2006/main">
            <a:off x="31813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B40DADF2-58AA-4A2B-9DF6-48CC5B9F536F}"/>
              </a:ext>
            </a:extLst>
          </p:cNvPr>
          <p:cNvSpPr>
            <a:spLocks xmlns:a="http://schemas.openxmlformats.org/drawingml/2006/main" noGrp="1"/>
          </p:cNvSpPr>
          <p:nvPr/>
        </p:nvSpPr>
        <p:spPr>
          <a:xfrm xmlns:a="http://schemas.openxmlformats.org/drawingml/2006/main">
            <a:off x="33718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AAFA3548-EB3E-4ADA-9694-6BA473DDE8A5}"/>
              </a:ext>
            </a:extLst>
          </p:cNvPr>
          <p:cNvSpPr>
            <a:spLocks xmlns:a="http://schemas.openxmlformats.org/drawingml/2006/main" noGrp="1"/>
          </p:cNvSpPr>
          <p:nvPr/>
        </p:nvSpPr>
        <p:spPr>
          <a:xfrm xmlns:a="http://schemas.openxmlformats.org/drawingml/2006/main">
            <a:off x="35052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E4138111-8A8A-4063-A9A7-A0D4C09A724D}"/>
              </a:ext>
            </a:extLst>
          </p:cNvPr>
          <p:cNvSpPr>
            <a:spLocks xmlns:a="http://schemas.openxmlformats.org/drawingml/2006/main" noGrp="1"/>
          </p:cNvSpPr>
          <p:nvPr/>
        </p:nvSpPr>
        <p:spPr>
          <a:xfrm xmlns:a="http://schemas.openxmlformats.org/drawingml/2006/main">
            <a:off x="38290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Account review</a:t>
            </a:r>
          </a:p>
        </p:txBody>
      </p:sp>
      <p:sp>
        <p:nvSpPr>
          <p:cNvPr id="15" name="">
            <a:extLst xmlns:a="http://schemas.openxmlformats.org/drawingml/2006/main">
              <a:ext uri="{FF2B5EF4-FFF2-40B4-BE49-F238E27FC236}">
                <a16:creationId xmlns:a16="http://schemas.microsoft.com/office/drawing/2014/main" id="{DB12FC2E-6637-49D3-8F31-E7414439C8A0}"/>
              </a:ext>
            </a:extLst>
          </p:cNvPr>
          <p:cNvSpPr>
            <a:spLocks xmlns:a="http://schemas.openxmlformats.org/drawingml/2006/main" noGrp="1"/>
          </p:cNvSpPr>
          <p:nvPr/>
        </p:nvSpPr>
        <p:spPr>
          <a:xfrm xmlns:a="http://schemas.openxmlformats.org/drawingml/2006/main">
            <a:off x="38290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Check customer context</a:t>
            </a:r>
          </a:p>
        </p:txBody>
      </p:sp>
      <p:sp>
        <p:nvSpPr>
          <p:cNvPr id="16" name="">
            <a:extLst xmlns:a="http://schemas.openxmlformats.org/drawingml/2006/main">
              <a:ext uri="{FF2B5EF4-FFF2-40B4-BE49-F238E27FC236}">
                <a16:creationId xmlns:a16="http://schemas.microsoft.com/office/drawing/2014/main" id="{FA087A97-4D38-4235-827E-172606DC4B01}"/>
              </a:ext>
            </a:extLst>
          </p:cNvPr>
          <p:cNvSpPr>
            <a:spLocks xmlns:a="http://schemas.openxmlformats.org/drawingml/2006/main" noGrp="1"/>
          </p:cNvSpPr>
          <p:nvPr/>
        </p:nvSpPr>
        <p:spPr>
          <a:xfrm xmlns:a="http://schemas.openxmlformats.org/drawingml/2006/main">
            <a:off x="59245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B940B9C5-E082-4B43-AA3F-711CC8D04688}"/>
              </a:ext>
            </a:extLst>
          </p:cNvPr>
          <p:cNvSpPr>
            <a:spLocks xmlns:a="http://schemas.openxmlformats.org/drawingml/2006/main" noGrp="1"/>
          </p:cNvSpPr>
          <p:nvPr/>
        </p:nvSpPr>
        <p:spPr>
          <a:xfrm xmlns:a="http://schemas.openxmlformats.org/drawingml/2006/main">
            <a:off x="61150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AA5343D9-CFA9-449C-93ED-6F5065712914}"/>
              </a:ext>
            </a:extLst>
          </p:cNvPr>
          <p:cNvSpPr>
            <a:spLocks xmlns:a="http://schemas.openxmlformats.org/drawingml/2006/main" noGrp="1"/>
          </p:cNvSpPr>
          <p:nvPr/>
        </p:nvSpPr>
        <p:spPr>
          <a:xfrm xmlns:a="http://schemas.openxmlformats.org/drawingml/2006/main">
            <a:off x="62484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D2CF158F-B6E3-458A-9F6C-B82047AA7144}"/>
              </a:ext>
            </a:extLst>
          </p:cNvPr>
          <p:cNvSpPr>
            <a:spLocks xmlns:a="http://schemas.openxmlformats.org/drawingml/2006/main" noGrp="1"/>
          </p:cNvSpPr>
          <p:nvPr/>
        </p:nvSpPr>
        <p:spPr>
          <a:xfrm xmlns:a="http://schemas.openxmlformats.org/drawingml/2006/main">
            <a:off x="65722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Response</a:t>
            </a:r>
          </a:p>
        </p:txBody>
      </p:sp>
      <p:sp>
        <p:nvSpPr>
          <p:cNvPr id="20" name="">
            <a:extLst xmlns:a="http://schemas.openxmlformats.org/drawingml/2006/main">
              <a:ext uri="{FF2B5EF4-FFF2-40B4-BE49-F238E27FC236}">
                <a16:creationId xmlns:a16="http://schemas.microsoft.com/office/drawing/2014/main" id="{B9572301-8645-4B1B-9599-16EC4D2EEEA8}"/>
              </a:ext>
            </a:extLst>
          </p:cNvPr>
          <p:cNvSpPr>
            <a:spLocks xmlns:a="http://schemas.openxmlformats.org/drawingml/2006/main" noGrp="1"/>
          </p:cNvSpPr>
          <p:nvPr/>
        </p:nvSpPr>
        <p:spPr>
          <a:xfrm xmlns:a="http://schemas.openxmlformats.org/drawingml/2006/main">
            <a:off x="65722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Engagement, service recovery or offer</a:t>
            </a:r>
          </a:p>
        </p:txBody>
      </p:sp>
      <p:sp>
        <p:nvSpPr>
          <p:cNvPr id="21" name="">
            <a:extLst xmlns:a="http://schemas.openxmlformats.org/drawingml/2006/main">
              <a:ext uri="{FF2B5EF4-FFF2-40B4-BE49-F238E27FC236}">
                <a16:creationId xmlns:a16="http://schemas.microsoft.com/office/drawing/2014/main" id="{152A929F-8A73-4EF0-BCDA-44020F6BEC35}"/>
              </a:ext>
            </a:extLst>
          </p:cNvPr>
          <p:cNvSpPr>
            <a:spLocks xmlns:a="http://schemas.openxmlformats.org/drawingml/2006/main" noGrp="1"/>
          </p:cNvSpPr>
          <p:nvPr/>
        </p:nvSpPr>
        <p:spPr>
          <a:xfrm xmlns:a="http://schemas.openxmlformats.org/drawingml/2006/main">
            <a:off x="86677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2271803E-8B2F-4A8C-A961-1A6CED4C9F6E}"/>
              </a:ext>
            </a:extLst>
          </p:cNvPr>
          <p:cNvSpPr>
            <a:spLocks xmlns:a="http://schemas.openxmlformats.org/drawingml/2006/main" noGrp="1"/>
          </p:cNvSpPr>
          <p:nvPr/>
        </p:nvSpPr>
        <p:spPr>
          <a:xfrm xmlns:a="http://schemas.openxmlformats.org/drawingml/2006/main">
            <a:off x="88582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B8885F4B-DDA3-41C4-AF63-8F48A8B1FDAA}"/>
              </a:ext>
            </a:extLst>
          </p:cNvPr>
          <p:cNvSpPr>
            <a:spLocks xmlns:a="http://schemas.openxmlformats.org/drawingml/2006/main" noGrp="1"/>
          </p:cNvSpPr>
          <p:nvPr/>
        </p:nvSpPr>
        <p:spPr>
          <a:xfrm xmlns:a="http://schemas.openxmlformats.org/drawingml/2006/main">
            <a:off x="89916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C7886A2E-1017-4FAA-A264-18B2A2613AE0}"/>
              </a:ext>
            </a:extLst>
          </p:cNvPr>
          <p:cNvSpPr>
            <a:spLocks xmlns:a="http://schemas.openxmlformats.org/drawingml/2006/main" noGrp="1"/>
          </p:cNvSpPr>
          <p:nvPr/>
        </p:nvSpPr>
        <p:spPr>
          <a:xfrm xmlns:a="http://schemas.openxmlformats.org/drawingml/2006/main">
            <a:off x="93154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Outcome capture</a:t>
            </a:r>
          </a:p>
        </p:txBody>
      </p:sp>
      <p:sp>
        <p:nvSpPr>
          <p:cNvPr id="25" name="">
            <a:extLst xmlns:a="http://schemas.openxmlformats.org/drawingml/2006/main">
              <a:ext uri="{FF2B5EF4-FFF2-40B4-BE49-F238E27FC236}">
                <a16:creationId xmlns:a16="http://schemas.microsoft.com/office/drawing/2014/main" id="{A9F3F179-CD4A-4783-A0F9-7A6B7C9AD2A7}"/>
              </a:ext>
            </a:extLst>
          </p:cNvPr>
          <p:cNvSpPr>
            <a:spLocks xmlns:a="http://schemas.openxmlformats.org/drawingml/2006/main" noGrp="1"/>
          </p:cNvSpPr>
          <p:nvPr/>
        </p:nvSpPr>
        <p:spPr>
          <a:xfrm xmlns:a="http://schemas.openxmlformats.org/drawingml/2006/main">
            <a:off x="93154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Record what happened</a:t>
            </a:r>
          </a:p>
        </p:txBody>
      </p:sp>
      <p:sp>
        <p:nvSpPr>
          <p:cNvPr id="26" name="">
            <a:extLst xmlns:a="http://schemas.openxmlformats.org/drawingml/2006/main">
              <a:ext uri="{FF2B5EF4-FFF2-40B4-BE49-F238E27FC236}">
                <a16:creationId xmlns:a16="http://schemas.microsoft.com/office/drawing/2014/main" id="{8D2DC53F-29E7-4E42-BE72-917EADE79D2F}"/>
              </a:ext>
            </a:extLst>
          </p:cNvPr>
          <p:cNvSpPr>
            <a:spLocks xmlns:a="http://schemas.openxmlformats.org/drawingml/2006/main" noGrp="1"/>
          </p:cNvSpPr>
          <p:nvPr/>
        </p:nvSpPr>
        <p:spPr>
          <a:xfrm xmlns:a="http://schemas.openxmlformats.org/drawingml/2006/main">
            <a:off x="628650" y="3143250"/>
            <a:ext cx="12573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D452D635-9464-4793-99FF-6E99F6BB179B}"/>
              </a:ext>
            </a:extLst>
          </p:cNvPr>
          <p:cNvSpPr>
            <a:spLocks xmlns:a="http://schemas.openxmlformats.org/drawingml/2006/main" noGrp="1"/>
          </p:cNvSpPr>
          <p:nvPr/>
        </p:nvSpPr>
        <p:spPr>
          <a:xfrm xmlns:a="http://schemas.openxmlformats.org/drawingml/2006/main">
            <a:off x="723900" y="3190875"/>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03"/>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CAPABILITY GAP</a:t>
            </a:r>
          </a:p>
        </p:txBody>
      </p:sp>
      <p:sp>
        <p:nvSpPr>
          <p:cNvPr id="28" name="">
            <a:extLst xmlns:a="http://schemas.openxmlformats.org/drawingml/2006/main">
              <a:ext uri="{FF2B5EF4-FFF2-40B4-BE49-F238E27FC236}">
                <a16:creationId xmlns:a16="http://schemas.microsoft.com/office/drawing/2014/main" id="{C454A202-8C97-4CB0-BEC8-1850AA6BDEDD}"/>
              </a:ext>
            </a:extLst>
          </p:cNvPr>
          <p:cNvSpPr>
            <a:spLocks xmlns:a="http://schemas.openxmlformats.org/drawingml/2006/main" noGrp="1"/>
          </p:cNvSpPr>
          <p:nvPr/>
        </p:nvSpPr>
        <p:spPr>
          <a:xfrm xmlns:a="http://schemas.openxmlformats.org/drawingml/2006/main">
            <a:off x="628650" y="3543300"/>
            <a:ext cx="142875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9" name="">
            <a:extLst xmlns:a="http://schemas.openxmlformats.org/drawingml/2006/main">
              <a:ext uri="{FF2B5EF4-FFF2-40B4-BE49-F238E27FC236}">
                <a16:creationId xmlns:a16="http://schemas.microsoft.com/office/drawing/2014/main" id="{0C99F173-1CFB-4E53-B487-F0D012A9568F}"/>
              </a:ext>
            </a:extLst>
          </p:cNvPr>
          <p:cNvSpPr>
            <a:spLocks xmlns:a="http://schemas.openxmlformats.org/drawingml/2006/main" noGrp="1"/>
          </p:cNvSpPr>
          <p:nvPr/>
        </p:nvSpPr>
        <p:spPr>
          <a:xfrm xmlns:a="http://schemas.openxmlformats.org/drawingml/2006/main">
            <a:off x="723900" y="366712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DIMENSION</a:t>
            </a:r>
          </a:p>
        </p:txBody>
      </p:sp>
      <p:sp>
        <p:nvSpPr>
          <p:cNvPr id="30" name="">
            <a:extLst xmlns:a="http://schemas.openxmlformats.org/drawingml/2006/main">
              <a:ext uri="{FF2B5EF4-FFF2-40B4-BE49-F238E27FC236}">
                <a16:creationId xmlns:a16="http://schemas.microsoft.com/office/drawing/2014/main" id="{1AF98102-5DA3-4161-80CB-BCD5842DA505}"/>
              </a:ext>
            </a:extLst>
          </p:cNvPr>
          <p:cNvSpPr>
            <a:spLocks xmlns:a="http://schemas.openxmlformats.org/drawingml/2006/main" noGrp="1"/>
          </p:cNvSpPr>
          <p:nvPr/>
        </p:nvSpPr>
        <p:spPr>
          <a:xfrm xmlns:a="http://schemas.openxmlformats.org/drawingml/2006/main">
            <a:off x="2057400"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1" name="">
            <a:extLst xmlns:a="http://schemas.openxmlformats.org/drawingml/2006/main">
              <a:ext uri="{FF2B5EF4-FFF2-40B4-BE49-F238E27FC236}">
                <a16:creationId xmlns:a16="http://schemas.microsoft.com/office/drawing/2014/main" id="{E5F93F34-D358-44C8-8762-641B11CDBC53}"/>
              </a:ext>
            </a:extLst>
          </p:cNvPr>
          <p:cNvSpPr>
            <a:spLocks xmlns:a="http://schemas.openxmlformats.org/drawingml/2006/main" noGrp="1"/>
          </p:cNvSpPr>
          <p:nvPr/>
        </p:nvSpPr>
        <p:spPr>
          <a:xfrm xmlns:a="http://schemas.openxmlformats.org/drawingml/2006/main">
            <a:off x="2152650"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DOCUMENTED STATE</a:t>
            </a:r>
          </a:p>
        </p:txBody>
      </p:sp>
      <p:sp>
        <p:nvSpPr>
          <p:cNvPr id="32" name="">
            <a:extLst xmlns:a="http://schemas.openxmlformats.org/drawingml/2006/main">
              <a:ext uri="{FF2B5EF4-FFF2-40B4-BE49-F238E27FC236}">
                <a16:creationId xmlns:a16="http://schemas.microsoft.com/office/drawing/2014/main" id="{3680260C-F507-4718-B0B0-0554A1F6DF8D}"/>
              </a:ext>
            </a:extLst>
          </p:cNvPr>
          <p:cNvSpPr>
            <a:spLocks xmlns:a="http://schemas.openxmlformats.org/drawingml/2006/main" noGrp="1"/>
          </p:cNvSpPr>
          <p:nvPr/>
        </p:nvSpPr>
        <p:spPr>
          <a:xfrm xmlns:a="http://schemas.openxmlformats.org/drawingml/2006/main">
            <a:off x="4962525"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3" name="">
            <a:extLst xmlns:a="http://schemas.openxmlformats.org/drawingml/2006/main">
              <a:ext uri="{FF2B5EF4-FFF2-40B4-BE49-F238E27FC236}">
                <a16:creationId xmlns:a16="http://schemas.microsoft.com/office/drawing/2014/main" id="{6E5C36F1-9F82-48E9-9824-8D646D554818}"/>
              </a:ext>
            </a:extLst>
          </p:cNvPr>
          <p:cNvSpPr>
            <a:spLocks xmlns:a="http://schemas.openxmlformats.org/drawingml/2006/main" noGrp="1"/>
          </p:cNvSpPr>
          <p:nvPr/>
        </p:nvSpPr>
        <p:spPr>
          <a:xfrm xmlns:a="http://schemas.openxmlformats.org/drawingml/2006/main">
            <a:off x="5057775"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WHY IT MATTERS</a:t>
            </a:r>
          </a:p>
        </p:txBody>
      </p:sp>
      <p:sp>
        <p:nvSpPr>
          <p:cNvPr id="34" name="">
            <a:extLst xmlns:a="http://schemas.openxmlformats.org/drawingml/2006/main">
              <a:ext uri="{FF2B5EF4-FFF2-40B4-BE49-F238E27FC236}">
                <a16:creationId xmlns:a16="http://schemas.microsoft.com/office/drawing/2014/main" id="{779685B3-7FEB-4473-B6F5-F6C1ADC82872}"/>
              </a:ext>
            </a:extLst>
          </p:cNvPr>
          <p:cNvSpPr>
            <a:spLocks xmlns:a="http://schemas.openxmlformats.org/drawingml/2006/main" noGrp="1"/>
          </p:cNvSpPr>
          <p:nvPr/>
        </p:nvSpPr>
        <p:spPr>
          <a:xfrm xmlns:a="http://schemas.openxmlformats.org/drawingml/2006/main">
            <a:off x="7867650" y="3543300"/>
            <a:ext cx="369570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5" name="">
            <a:extLst xmlns:a="http://schemas.openxmlformats.org/drawingml/2006/main">
              <a:ext uri="{FF2B5EF4-FFF2-40B4-BE49-F238E27FC236}">
                <a16:creationId xmlns:a16="http://schemas.microsoft.com/office/drawing/2014/main" id="{E68C89EE-7A25-4CCF-BD49-C05464415CD6}"/>
              </a:ext>
            </a:extLst>
          </p:cNvPr>
          <p:cNvSpPr>
            <a:spLocks xmlns:a="http://schemas.openxmlformats.org/drawingml/2006/main" noGrp="1"/>
          </p:cNvSpPr>
          <p:nvPr/>
        </p:nvSpPr>
        <p:spPr>
          <a:xfrm xmlns:a="http://schemas.openxmlformats.org/drawingml/2006/main">
            <a:off x="7962900" y="3667125"/>
            <a:ext cx="350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IMPROVEMENT PATH</a:t>
            </a:r>
          </a:p>
        </p:txBody>
      </p:sp>
      <p:sp>
        <p:nvSpPr>
          <p:cNvPr id="36" name="">
            <a:extLst xmlns:a="http://schemas.openxmlformats.org/drawingml/2006/main">
              <a:ext uri="{FF2B5EF4-FFF2-40B4-BE49-F238E27FC236}">
                <a16:creationId xmlns:a16="http://schemas.microsoft.com/office/drawing/2014/main" id="{BD62896A-C987-4A53-9766-341B2B45FC13}"/>
              </a:ext>
            </a:extLst>
          </p:cNvPr>
          <p:cNvSpPr>
            <a:spLocks xmlns:a="http://schemas.openxmlformats.org/drawingml/2006/main" noGrp="1"/>
          </p:cNvSpPr>
          <p:nvPr/>
        </p:nvSpPr>
        <p:spPr>
          <a:xfrm xmlns:a="http://schemas.openxmlformats.org/drawingml/2006/main">
            <a:off x="628650" y="39433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2610B9E8-F60C-4E13-B853-05412421AD85}"/>
              </a:ext>
            </a:extLst>
          </p:cNvPr>
          <p:cNvSpPr>
            <a:spLocks xmlns:a="http://schemas.openxmlformats.org/drawingml/2006/main" noGrp="1"/>
          </p:cNvSpPr>
          <p:nvPr/>
        </p:nvSpPr>
        <p:spPr>
          <a:xfrm xmlns:a="http://schemas.openxmlformats.org/drawingml/2006/main">
            <a:off x="723900" y="40386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Data</a:t>
            </a:r>
          </a:p>
        </p:txBody>
      </p:sp>
      <p:sp>
        <p:nvSpPr>
          <p:cNvPr id="38" name="">
            <a:extLst xmlns:a="http://schemas.openxmlformats.org/drawingml/2006/main">
              <a:ext uri="{FF2B5EF4-FFF2-40B4-BE49-F238E27FC236}">
                <a16:creationId xmlns:a16="http://schemas.microsoft.com/office/drawing/2014/main" id="{DF33403A-1090-4B99-A6EA-BF4BCA2FB076}"/>
              </a:ext>
            </a:extLst>
          </p:cNvPr>
          <p:cNvSpPr>
            <a:spLocks xmlns:a="http://schemas.openxmlformats.org/drawingml/2006/main" noGrp="1"/>
          </p:cNvSpPr>
          <p:nvPr/>
        </p:nvSpPr>
        <p:spPr>
          <a:xfrm xmlns:a="http://schemas.openxmlformats.org/drawingml/2006/main">
            <a:off x="2057400"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9" name="">
            <a:extLst xmlns:a="http://schemas.openxmlformats.org/drawingml/2006/main">
              <a:ext uri="{FF2B5EF4-FFF2-40B4-BE49-F238E27FC236}">
                <a16:creationId xmlns:a16="http://schemas.microsoft.com/office/drawing/2014/main" id="{22EEF4CA-E74A-43A7-B55B-3D3373F2A3C2}"/>
              </a:ext>
            </a:extLst>
          </p:cNvPr>
          <p:cNvSpPr>
            <a:spLocks xmlns:a="http://schemas.openxmlformats.org/drawingml/2006/main" noGrp="1"/>
          </p:cNvSpPr>
          <p:nvPr/>
        </p:nvSpPr>
        <p:spPr>
          <a:xfrm xmlns:a="http://schemas.openxmlformats.org/drawingml/2006/main">
            <a:off x="2152650"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Small, static dataset; limited attributes</a:t>
            </a:r>
          </a:p>
        </p:txBody>
      </p:sp>
      <p:sp>
        <p:nvSpPr>
          <p:cNvPr id="40" name="">
            <a:extLst xmlns:a="http://schemas.openxmlformats.org/drawingml/2006/main">
              <a:ext uri="{FF2B5EF4-FFF2-40B4-BE49-F238E27FC236}">
                <a16:creationId xmlns:a16="http://schemas.microsoft.com/office/drawing/2014/main" id="{06D65382-5062-40C9-8FCA-AEBEB0AD09C7}"/>
              </a:ext>
            </a:extLst>
          </p:cNvPr>
          <p:cNvSpPr>
            <a:spLocks xmlns:a="http://schemas.openxmlformats.org/drawingml/2006/main" noGrp="1"/>
          </p:cNvSpPr>
          <p:nvPr/>
        </p:nvSpPr>
        <p:spPr>
          <a:xfrm xmlns:a="http://schemas.openxmlformats.org/drawingml/2006/main">
            <a:off x="4962525"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DA78D642-9104-4E29-BEC4-9CB47407289A}"/>
              </a:ext>
            </a:extLst>
          </p:cNvPr>
          <p:cNvSpPr>
            <a:spLocks xmlns:a="http://schemas.openxmlformats.org/drawingml/2006/main" noGrp="1"/>
          </p:cNvSpPr>
          <p:nvPr/>
        </p:nvSpPr>
        <p:spPr>
          <a:xfrm xmlns:a="http://schemas.openxmlformats.org/drawingml/2006/main">
            <a:off x="5057775"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May not generalise to a different customer base</a:t>
            </a:r>
          </a:p>
        </p:txBody>
      </p:sp>
      <p:sp>
        <p:nvSpPr>
          <p:cNvPr id="42" name="">
            <a:extLst xmlns:a="http://schemas.openxmlformats.org/drawingml/2006/main">
              <a:ext uri="{FF2B5EF4-FFF2-40B4-BE49-F238E27FC236}">
                <a16:creationId xmlns:a16="http://schemas.microsoft.com/office/drawing/2014/main" id="{344C8753-7276-413F-81D2-42D4415C71EE}"/>
              </a:ext>
            </a:extLst>
          </p:cNvPr>
          <p:cNvSpPr>
            <a:spLocks xmlns:a="http://schemas.openxmlformats.org/drawingml/2006/main" noGrp="1"/>
          </p:cNvSpPr>
          <p:nvPr/>
        </p:nvSpPr>
        <p:spPr>
          <a:xfrm xmlns:a="http://schemas.openxmlformats.org/drawingml/2006/main">
            <a:off x="7867650" y="39433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3" name="">
            <a:extLst xmlns:a="http://schemas.openxmlformats.org/drawingml/2006/main">
              <a:ext uri="{FF2B5EF4-FFF2-40B4-BE49-F238E27FC236}">
                <a16:creationId xmlns:a16="http://schemas.microsoft.com/office/drawing/2014/main" id="{3ECF817E-1C82-42C3-BA2D-71DE52812123}"/>
              </a:ext>
            </a:extLst>
          </p:cNvPr>
          <p:cNvSpPr>
            <a:spLocks xmlns:a="http://schemas.openxmlformats.org/drawingml/2006/main" noGrp="1"/>
          </p:cNvSpPr>
          <p:nvPr/>
        </p:nvSpPr>
        <p:spPr>
          <a:xfrm xmlns:a="http://schemas.openxmlformats.org/drawingml/2006/main">
            <a:off x="7962900" y="40386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Refresh data and add complaints or usage patterns</a:t>
            </a:r>
          </a:p>
        </p:txBody>
      </p:sp>
      <p:sp>
        <p:nvSpPr>
          <p:cNvPr id="44" name="">
            <a:extLst xmlns:a="http://schemas.openxmlformats.org/drawingml/2006/main">
              <a:ext uri="{FF2B5EF4-FFF2-40B4-BE49-F238E27FC236}">
                <a16:creationId xmlns:a16="http://schemas.microsoft.com/office/drawing/2014/main" id="{1EA28EC2-33AD-43C6-930F-7D7FEEE4F76C}"/>
              </a:ext>
            </a:extLst>
          </p:cNvPr>
          <p:cNvSpPr>
            <a:spLocks xmlns:a="http://schemas.openxmlformats.org/drawingml/2006/main" noGrp="1"/>
          </p:cNvSpPr>
          <p:nvPr/>
        </p:nvSpPr>
        <p:spPr>
          <a:xfrm xmlns:a="http://schemas.openxmlformats.org/drawingml/2006/main">
            <a:off x="628650" y="44577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F05EF022-72EE-4A73-AE43-632D4C8F597D}"/>
              </a:ext>
            </a:extLst>
          </p:cNvPr>
          <p:cNvSpPr>
            <a:spLocks xmlns:a="http://schemas.openxmlformats.org/drawingml/2006/main" noGrp="1"/>
          </p:cNvSpPr>
          <p:nvPr/>
        </p:nvSpPr>
        <p:spPr>
          <a:xfrm xmlns:a="http://schemas.openxmlformats.org/drawingml/2006/main">
            <a:off x="723900" y="45529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Model</a:t>
            </a:r>
          </a:p>
        </p:txBody>
      </p:sp>
      <p:sp>
        <p:nvSpPr>
          <p:cNvPr id="46" name="">
            <a:extLst xmlns:a="http://schemas.openxmlformats.org/drawingml/2006/main">
              <a:ext uri="{FF2B5EF4-FFF2-40B4-BE49-F238E27FC236}">
                <a16:creationId xmlns:a16="http://schemas.microsoft.com/office/drawing/2014/main" id="{EB64F128-331F-49BC-9DC4-B4FCB97E7D89}"/>
              </a:ext>
            </a:extLst>
          </p:cNvPr>
          <p:cNvSpPr>
            <a:spLocks xmlns:a="http://schemas.openxmlformats.org/drawingml/2006/main" noGrp="1"/>
          </p:cNvSpPr>
          <p:nvPr/>
        </p:nvSpPr>
        <p:spPr>
          <a:xfrm xmlns:a="http://schemas.openxmlformats.org/drawingml/2006/main">
            <a:off x="2057400"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B12BF50D-5E75-43DA-9DB2-06E539D9294C}"/>
              </a:ext>
            </a:extLst>
          </p:cNvPr>
          <p:cNvSpPr>
            <a:spLocks xmlns:a="http://schemas.openxmlformats.org/drawingml/2006/main" noGrp="1"/>
          </p:cNvSpPr>
          <p:nvPr/>
        </p:nvSpPr>
        <p:spPr>
          <a:xfrm xmlns:a="http://schemas.openxmlformats.org/drawingml/2006/main">
            <a:off x="2152650"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 Label Encoding</a:t>
            </a:r>
          </a:p>
        </p:txBody>
      </p:sp>
      <p:sp>
        <p:nvSpPr>
          <p:cNvPr id="48" name="">
            <a:extLst xmlns:a="http://schemas.openxmlformats.org/drawingml/2006/main">
              <a:ext uri="{FF2B5EF4-FFF2-40B4-BE49-F238E27FC236}">
                <a16:creationId xmlns:a16="http://schemas.microsoft.com/office/drawing/2014/main" id="{9579A272-BFC6-4C84-80B0-D727596F7369}"/>
              </a:ext>
            </a:extLst>
          </p:cNvPr>
          <p:cNvSpPr>
            <a:spLocks xmlns:a="http://schemas.openxmlformats.org/drawingml/2006/main" noGrp="1"/>
          </p:cNvSpPr>
          <p:nvPr/>
        </p:nvSpPr>
        <p:spPr>
          <a:xfrm xmlns:a="http://schemas.openxmlformats.org/drawingml/2006/main">
            <a:off x="4962525"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9" name="">
            <a:extLst xmlns:a="http://schemas.openxmlformats.org/drawingml/2006/main">
              <a:ext uri="{FF2B5EF4-FFF2-40B4-BE49-F238E27FC236}">
                <a16:creationId xmlns:a16="http://schemas.microsoft.com/office/drawing/2014/main" id="{EE2E51F0-EF70-4FF2-9419-130C43BF86EE}"/>
              </a:ext>
            </a:extLst>
          </p:cNvPr>
          <p:cNvSpPr>
            <a:spLocks xmlns:a="http://schemas.openxmlformats.org/drawingml/2006/main" noGrp="1"/>
          </p:cNvSpPr>
          <p:nvPr/>
        </p:nvSpPr>
        <p:spPr>
          <a:xfrm xmlns:a="http://schemas.openxmlformats.org/drawingml/2006/main">
            <a:off x="5057775"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baseline cannot establish the best approach</a:t>
            </a:r>
          </a:p>
        </p:txBody>
      </p:sp>
      <p:sp>
        <p:nvSpPr>
          <p:cNvPr id="50" name="">
            <a:extLst xmlns:a="http://schemas.openxmlformats.org/drawingml/2006/main">
              <a:ext uri="{FF2B5EF4-FFF2-40B4-BE49-F238E27FC236}">
                <a16:creationId xmlns:a16="http://schemas.microsoft.com/office/drawing/2014/main" id="{D3E44FA6-5E7C-4A71-B4EE-BC2F108C32D2}"/>
              </a:ext>
            </a:extLst>
          </p:cNvPr>
          <p:cNvSpPr>
            <a:spLocks xmlns:a="http://schemas.openxmlformats.org/drawingml/2006/main" noGrp="1"/>
          </p:cNvSpPr>
          <p:nvPr/>
        </p:nvSpPr>
        <p:spPr>
          <a:xfrm xmlns:a="http://schemas.openxmlformats.org/drawingml/2006/main">
            <a:off x="7867650" y="44577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8B47746F-53F1-458E-B9A7-CB13B452AE40}"/>
              </a:ext>
            </a:extLst>
          </p:cNvPr>
          <p:cNvSpPr>
            <a:spLocks xmlns:a="http://schemas.openxmlformats.org/drawingml/2006/main" noGrp="1"/>
          </p:cNvSpPr>
          <p:nvPr/>
        </p:nvSpPr>
        <p:spPr>
          <a:xfrm xmlns:a="http://schemas.openxmlformats.org/drawingml/2006/main">
            <a:off x="7962900" y="45529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Compare other classifiers; use One-Hot Encoding where appropriate</a:t>
            </a:r>
          </a:p>
        </p:txBody>
      </p:sp>
      <p:sp>
        <p:nvSpPr>
          <p:cNvPr id="52" name="">
            <a:extLst xmlns:a="http://schemas.openxmlformats.org/drawingml/2006/main">
              <a:ext uri="{FF2B5EF4-FFF2-40B4-BE49-F238E27FC236}">
                <a16:creationId xmlns:a16="http://schemas.microsoft.com/office/drawing/2014/main" id="{EE2B9797-6CC0-44BF-9F48-C0CA2F82C035}"/>
              </a:ext>
            </a:extLst>
          </p:cNvPr>
          <p:cNvSpPr>
            <a:spLocks xmlns:a="http://schemas.openxmlformats.org/drawingml/2006/main" noGrp="1"/>
          </p:cNvSpPr>
          <p:nvPr/>
        </p:nvSpPr>
        <p:spPr>
          <a:xfrm xmlns:a="http://schemas.openxmlformats.org/drawingml/2006/main">
            <a:off x="628650" y="49720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D06E9068-5C47-40D0-95CB-92068B936CBF}"/>
              </a:ext>
            </a:extLst>
          </p:cNvPr>
          <p:cNvSpPr>
            <a:spLocks xmlns:a="http://schemas.openxmlformats.org/drawingml/2006/main" noGrp="1"/>
          </p:cNvSpPr>
          <p:nvPr/>
        </p:nvSpPr>
        <p:spPr>
          <a:xfrm xmlns:a="http://schemas.openxmlformats.org/drawingml/2006/main">
            <a:off x="723900" y="50673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Validation</a:t>
            </a:r>
          </a:p>
        </p:txBody>
      </p:sp>
      <p:sp>
        <p:nvSpPr>
          <p:cNvPr id="54" name="">
            <a:extLst xmlns:a="http://schemas.openxmlformats.org/drawingml/2006/main">
              <a:ext uri="{FF2B5EF4-FFF2-40B4-BE49-F238E27FC236}">
                <a16:creationId xmlns:a16="http://schemas.microsoft.com/office/drawing/2014/main" id="{FC33FCE8-4157-4173-8338-18A4AEAC4A34}"/>
              </a:ext>
            </a:extLst>
          </p:cNvPr>
          <p:cNvSpPr>
            <a:spLocks xmlns:a="http://schemas.openxmlformats.org/drawingml/2006/main" noGrp="1"/>
          </p:cNvSpPr>
          <p:nvPr/>
        </p:nvSpPr>
        <p:spPr>
          <a:xfrm xmlns:a="http://schemas.openxmlformats.org/drawingml/2006/main">
            <a:off x="2057400"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8892CE84-97E8-478E-91C0-9D56418E9798}"/>
              </a:ext>
            </a:extLst>
          </p:cNvPr>
          <p:cNvSpPr>
            <a:spLocks xmlns:a="http://schemas.openxmlformats.org/drawingml/2006/main" noGrp="1"/>
          </p:cNvSpPr>
          <p:nvPr/>
        </p:nvSpPr>
        <p:spPr>
          <a:xfrm xmlns:a="http://schemas.openxmlformats.org/drawingml/2006/main">
            <a:off x="2152650"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80:20 hold-out evaluation</a:t>
            </a:r>
          </a:p>
        </p:txBody>
      </p:sp>
      <p:sp>
        <p:nvSpPr>
          <p:cNvPr id="56" name="">
            <a:extLst xmlns:a="http://schemas.openxmlformats.org/drawingml/2006/main">
              <a:ext uri="{FF2B5EF4-FFF2-40B4-BE49-F238E27FC236}">
                <a16:creationId xmlns:a16="http://schemas.microsoft.com/office/drawing/2014/main" id="{09C9432E-E017-4675-BBE9-81CA0E233717}"/>
              </a:ext>
            </a:extLst>
          </p:cNvPr>
          <p:cNvSpPr>
            <a:spLocks xmlns:a="http://schemas.openxmlformats.org/drawingml/2006/main" noGrp="1"/>
          </p:cNvSpPr>
          <p:nvPr/>
        </p:nvSpPr>
        <p:spPr>
          <a:xfrm xmlns:a="http://schemas.openxmlformats.org/drawingml/2006/main">
            <a:off x="4962525"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7" name="">
            <a:extLst xmlns:a="http://schemas.openxmlformats.org/drawingml/2006/main">
              <a:ext uri="{FF2B5EF4-FFF2-40B4-BE49-F238E27FC236}">
                <a16:creationId xmlns:a16="http://schemas.microsoft.com/office/drawing/2014/main" id="{0BF849D4-4234-4B31-832B-498F53AA65AF}"/>
              </a:ext>
            </a:extLst>
          </p:cNvPr>
          <p:cNvSpPr>
            <a:spLocks xmlns:a="http://schemas.openxmlformats.org/drawingml/2006/main" noGrp="1"/>
          </p:cNvSpPr>
          <p:nvPr/>
        </p:nvSpPr>
        <p:spPr>
          <a:xfrm xmlns:a="http://schemas.openxmlformats.org/drawingml/2006/main">
            <a:off x="5057775"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split provides limited evidence of stability</a:t>
            </a:r>
          </a:p>
        </p:txBody>
      </p:sp>
      <p:sp>
        <p:nvSpPr>
          <p:cNvPr id="58" name="">
            <a:extLst xmlns:a="http://schemas.openxmlformats.org/drawingml/2006/main">
              <a:ext uri="{FF2B5EF4-FFF2-40B4-BE49-F238E27FC236}">
                <a16:creationId xmlns:a16="http://schemas.microsoft.com/office/drawing/2014/main" id="{5B2FE1E3-B762-4F31-B9FB-C4310EBF3832}"/>
              </a:ext>
            </a:extLst>
          </p:cNvPr>
          <p:cNvSpPr>
            <a:spLocks xmlns:a="http://schemas.openxmlformats.org/drawingml/2006/main" noGrp="1"/>
          </p:cNvSpPr>
          <p:nvPr/>
        </p:nvSpPr>
        <p:spPr>
          <a:xfrm xmlns:a="http://schemas.openxmlformats.org/drawingml/2006/main">
            <a:off x="7867650" y="49720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26B8BE5C-E315-4BF7-BD23-941D8C84C096}"/>
              </a:ext>
            </a:extLst>
          </p:cNvPr>
          <p:cNvSpPr>
            <a:spLocks xmlns:a="http://schemas.openxmlformats.org/drawingml/2006/main" noGrp="1"/>
          </p:cNvSpPr>
          <p:nvPr/>
        </p:nvSpPr>
        <p:spPr>
          <a:xfrm xmlns:a="http://schemas.openxmlformats.org/drawingml/2006/main">
            <a:off x="7962900" y="50673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Add cross-validation and hyperparameter tuning</a:t>
            </a:r>
          </a:p>
        </p:txBody>
      </p:sp>
      <p:sp>
        <p:nvSpPr>
          <p:cNvPr id="60" name="">
            <a:extLst xmlns:a="http://schemas.openxmlformats.org/drawingml/2006/main">
              <a:ext uri="{FF2B5EF4-FFF2-40B4-BE49-F238E27FC236}">
                <a16:creationId xmlns:a16="http://schemas.microsoft.com/office/drawing/2014/main" id="{3C52B962-F41D-4ED6-A5AE-E8F84E65B7C5}"/>
              </a:ext>
            </a:extLst>
          </p:cNvPr>
          <p:cNvSpPr>
            <a:spLocks xmlns:a="http://schemas.openxmlformats.org/drawingml/2006/main" noGrp="1"/>
          </p:cNvSpPr>
          <p:nvPr/>
        </p:nvSpPr>
        <p:spPr>
          <a:xfrm xmlns:a="http://schemas.openxmlformats.org/drawingml/2006/main">
            <a:off x="628650" y="54864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1" name="">
            <a:extLst xmlns:a="http://schemas.openxmlformats.org/drawingml/2006/main">
              <a:ext uri="{FF2B5EF4-FFF2-40B4-BE49-F238E27FC236}">
                <a16:creationId xmlns:a16="http://schemas.microsoft.com/office/drawing/2014/main" id="{34207066-7E13-4426-8770-DF4A93BFA676}"/>
              </a:ext>
            </a:extLst>
          </p:cNvPr>
          <p:cNvSpPr>
            <a:spLocks xmlns:a="http://schemas.openxmlformats.org/drawingml/2006/main" noGrp="1"/>
          </p:cNvSpPr>
          <p:nvPr/>
        </p:nvSpPr>
        <p:spPr>
          <a:xfrm xmlns:a="http://schemas.openxmlformats.org/drawingml/2006/main">
            <a:off x="723900" y="55816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Delivery</a:t>
            </a:r>
          </a:p>
        </p:txBody>
      </p:sp>
      <p:sp>
        <p:nvSpPr>
          <p:cNvPr id="62" name="">
            <a:extLst xmlns:a="http://schemas.openxmlformats.org/drawingml/2006/main">
              <a:ext uri="{FF2B5EF4-FFF2-40B4-BE49-F238E27FC236}">
                <a16:creationId xmlns:a16="http://schemas.microsoft.com/office/drawing/2014/main" id="{3778EC00-E421-47BD-83AD-639D02C008AF}"/>
              </a:ext>
            </a:extLst>
          </p:cNvPr>
          <p:cNvSpPr>
            <a:spLocks xmlns:a="http://schemas.openxmlformats.org/drawingml/2006/main" noGrp="1"/>
          </p:cNvSpPr>
          <p:nvPr/>
        </p:nvSpPr>
        <p:spPr>
          <a:xfrm xmlns:a="http://schemas.openxmlformats.org/drawingml/2006/main">
            <a:off x="2057400"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D0D8AD9E-E6CA-4CD6-97AB-B2B3DAEE2AB0}"/>
              </a:ext>
            </a:extLst>
          </p:cNvPr>
          <p:cNvSpPr>
            <a:spLocks xmlns:a="http://schemas.openxmlformats.org/drawingml/2006/main" noGrp="1"/>
          </p:cNvSpPr>
          <p:nvPr/>
        </p:nvSpPr>
        <p:spPr>
          <a:xfrm xmlns:a="http://schemas.openxmlformats.org/drawingml/2006/main">
            <a:off x="2152650"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Offline data; no live CRM connection</a:t>
            </a:r>
          </a:p>
        </p:txBody>
      </p:sp>
      <p:sp>
        <p:nvSpPr>
          <p:cNvPr id="64" name="">
            <a:extLst xmlns:a="http://schemas.openxmlformats.org/drawingml/2006/main">
              <a:ext uri="{FF2B5EF4-FFF2-40B4-BE49-F238E27FC236}">
                <a16:creationId xmlns:a16="http://schemas.microsoft.com/office/drawing/2014/main" id="{CE0AB288-CA57-4818-8B34-0CBA64596C78}"/>
              </a:ext>
            </a:extLst>
          </p:cNvPr>
          <p:cNvSpPr>
            <a:spLocks xmlns:a="http://schemas.openxmlformats.org/drawingml/2006/main" noGrp="1"/>
          </p:cNvSpPr>
          <p:nvPr/>
        </p:nvSpPr>
        <p:spPr>
          <a:xfrm xmlns:a="http://schemas.openxmlformats.org/drawingml/2006/main">
            <a:off x="4962525"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5" name="">
            <a:extLst xmlns:a="http://schemas.openxmlformats.org/drawingml/2006/main">
              <a:ext uri="{FF2B5EF4-FFF2-40B4-BE49-F238E27FC236}">
                <a16:creationId xmlns:a16="http://schemas.microsoft.com/office/drawing/2014/main" id="{147DC3B2-056E-48A7-87E8-1AAD2F9EC8E3}"/>
              </a:ext>
            </a:extLst>
          </p:cNvPr>
          <p:cNvSpPr>
            <a:spLocks xmlns:a="http://schemas.openxmlformats.org/drawingml/2006/main" noGrp="1"/>
          </p:cNvSpPr>
          <p:nvPr/>
        </p:nvSpPr>
        <p:spPr>
          <a:xfrm xmlns:a="http://schemas.openxmlformats.org/drawingml/2006/main">
            <a:off x="5057775"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Predictions remain separate from daily operations</a:t>
            </a:r>
          </a:p>
        </p:txBody>
      </p:sp>
      <p:sp>
        <p:nvSpPr>
          <p:cNvPr id="66" name="">
            <a:extLst xmlns:a="http://schemas.openxmlformats.org/drawingml/2006/main">
              <a:ext uri="{FF2B5EF4-FFF2-40B4-BE49-F238E27FC236}">
                <a16:creationId xmlns:a16="http://schemas.microsoft.com/office/drawing/2014/main" id="{98A6889D-8BDB-48AE-AD64-65F700F5571F}"/>
              </a:ext>
            </a:extLst>
          </p:cNvPr>
          <p:cNvSpPr>
            <a:spLocks xmlns:a="http://schemas.openxmlformats.org/drawingml/2006/main" noGrp="1"/>
          </p:cNvSpPr>
          <p:nvPr/>
        </p:nvSpPr>
        <p:spPr>
          <a:xfrm xmlns:a="http://schemas.openxmlformats.org/drawingml/2006/main">
            <a:off x="7867650" y="54864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7" name="">
            <a:extLst xmlns:a="http://schemas.openxmlformats.org/drawingml/2006/main">
              <a:ext uri="{FF2B5EF4-FFF2-40B4-BE49-F238E27FC236}">
                <a16:creationId xmlns:a16="http://schemas.microsoft.com/office/drawing/2014/main" id="{CFF47744-7862-432F-8C34-F8F4F52FDBD9}"/>
              </a:ext>
            </a:extLst>
          </p:cNvPr>
          <p:cNvSpPr>
            <a:spLocks xmlns:a="http://schemas.openxmlformats.org/drawingml/2006/main" noGrp="1"/>
          </p:cNvSpPr>
          <p:nvPr/>
        </p:nvSpPr>
        <p:spPr>
          <a:xfrm xmlns:a="http://schemas.openxmlformats.org/drawingml/2006/main">
            <a:off x="7962900" y="55816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Package an application, then integrate refreshed data</a:t>
            </a:r>
          </a:p>
        </p:txBody>
      </p:sp>
      <p:sp>
        <p:nvSpPr>
          <p:cNvPr id="68" name="">
            <a:extLst xmlns:a="http://schemas.openxmlformats.org/drawingml/2006/main">
              <a:ext uri="{FF2B5EF4-FFF2-40B4-BE49-F238E27FC236}">
                <a16:creationId xmlns:a16="http://schemas.microsoft.com/office/drawing/2014/main" id="{6F0055A2-1D22-448D-84C1-0512777526DA}"/>
              </a:ext>
            </a:extLst>
          </p:cNvPr>
          <p:cNvSpPr>
            <a:spLocks xmlns:a="http://schemas.openxmlformats.org/drawingml/2006/main" noGrp="1"/>
          </p:cNvSpPr>
          <p:nvPr/>
        </p:nvSpPr>
        <p:spPr>
          <a:xfrm xmlns:a="http://schemas.openxmlformats.org/drawingml/2006/main">
            <a:off x="628650" y="6115050"/>
            <a:ext cx="10934700" cy="24765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69" name="">
            <a:extLst xmlns:a="http://schemas.openxmlformats.org/drawingml/2006/main">
              <a:ext uri="{FF2B5EF4-FFF2-40B4-BE49-F238E27FC236}">
                <a16:creationId xmlns:a16="http://schemas.microsoft.com/office/drawing/2014/main" id="{5089E0C0-B157-4D6D-894A-1CDF5E298B11}"/>
              </a:ext>
            </a:extLst>
          </p:cNvPr>
          <p:cNvSpPr>
            <a:spLocks xmlns:a="http://schemas.openxmlformats.org/drawingml/2006/main" noGrp="1"/>
          </p:cNvSpPr>
          <p:nvPr/>
        </p:nvSpPr>
        <p:spPr>
          <a:xfrm xmlns:a="http://schemas.openxmlformats.org/drawingml/2006/main">
            <a:off x="762000" y="6162675"/>
            <a:ext cx="1066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Conclusion: the synopsis documents a reusable churn prediction approach; dependable business impact remains to be established.</a:t>
            </a:r>
          </a:p>
        </p:txBody>
      </p:sp>
      <p:sp>
        <p:nvSpPr>
          <p:cNvPr id="70" name="">
            <a:extLst xmlns:a="http://schemas.openxmlformats.org/drawingml/2006/main">
              <a:ext uri="{FF2B5EF4-FFF2-40B4-BE49-F238E27FC236}">
                <a16:creationId xmlns:a16="http://schemas.microsoft.com/office/drawing/2014/main" id="{9E4F261F-4678-4AC4-972A-89C8AAC465C1}"/>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1" name="">
            <a:extLst xmlns:a="http://schemas.openxmlformats.org/drawingml/2006/main">
              <a:ext uri="{FF2B5EF4-FFF2-40B4-BE49-F238E27FC236}">
                <a16:creationId xmlns:a16="http://schemas.microsoft.com/office/drawing/2014/main" id="{745E2108-1119-4C02-8D49-954A0DE18796}"/>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H-J</a:t>
            </a:r>
          </a:p>
        </p:txBody>
      </p:sp>
    </p:spTree>
    <p:extLst>
      <p:ext uri="{BB962C8B-B14F-4D97-AF65-F5344CB8AC3E}">
        <p14:creationId xmlns:p14="http://schemas.microsoft.com/office/powerpoint/2010/main" val="1685367465"/>
      </p:ext>
    </p:extLst>
  </p:cSld>
</p:sld>
</file>

<file path=ppt/slides/slide6.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E59E297-714C-4CE2-B838-5D0CC40F3857}"/>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EC46AA32-B235-40DE-85A9-674D145C3336}"/>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Technical environment and methodology reference</a:t>
            </a:r>
          </a:p>
        </p:txBody>
      </p:sp>
      <p:sp>
        <p:nvSpPr>
          <p:cNvPr id="3" name="">
            <a:extLst xmlns:a="http://schemas.openxmlformats.org/drawingml/2006/main">
              <a:ext uri="{FF2B5EF4-FFF2-40B4-BE49-F238E27FC236}">
                <a16:creationId xmlns:a16="http://schemas.microsoft.com/office/drawing/2014/main" id="{19580EBA-8B47-4718-861A-0D6651385571}"/>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1FE152F8-1CA0-4981-9894-4B0C412B2B61}"/>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A74A568-27EF-4A6F-9784-28DA50C3D7D2}"/>
              </a:ext>
            </a:extLst>
          </p:cNvPr>
          <p:cNvSpPr>
            <a:spLocks xmlns:a="http://schemas.openxmlformats.org/drawingml/2006/main" noGrp="1"/>
          </p:cNvSpPr>
          <p:nvPr/>
        </p:nvSpPr>
        <p:spPr>
          <a:xfrm xmlns:a="http://schemas.openxmlformats.org/drawingml/2006/main">
            <a:off x="628650" y="1657350"/>
            <a:ext cx="11239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10387B46-3E79-4F24-A409-9ECA31869EA5}"/>
              </a:ext>
            </a:extLst>
          </p:cNvPr>
          <p:cNvSpPr>
            <a:spLocks xmlns:a="http://schemas.openxmlformats.org/drawingml/2006/main" noGrp="1"/>
          </p:cNvSpPr>
          <p:nvPr/>
        </p:nvSpPr>
        <p:spPr>
          <a:xfrm xmlns:a="http://schemas.openxmlformats.org/drawingml/2006/main">
            <a:off x="723900" y="1704975"/>
            <a:ext cx="933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TECH STACK</a:t>
            </a:r>
          </a:p>
        </p:txBody>
      </p:sp>
      <p:sp>
        <p:nvSpPr>
          <p:cNvPr id="7" name="">
            <a:extLst xmlns:a="http://schemas.openxmlformats.org/drawingml/2006/main">
              <a:ext uri="{FF2B5EF4-FFF2-40B4-BE49-F238E27FC236}">
                <a16:creationId xmlns:a16="http://schemas.microsoft.com/office/drawing/2014/main" id="{348C9A40-CC3E-44AF-AD64-2F7CE87B0260}"/>
              </a:ext>
            </a:extLst>
          </p:cNvPr>
          <p:cNvSpPr>
            <a:spLocks xmlns:a="http://schemas.openxmlformats.org/drawingml/2006/main" noGrp="1"/>
          </p:cNvSpPr>
          <p:nvPr/>
        </p:nvSpPr>
        <p:spPr>
          <a:xfrm xmlns:a="http://schemas.openxmlformats.org/drawingml/2006/main">
            <a:off x="628650" y="20764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Python 3.10</a:t>
            </a:r>
          </a:p>
        </p:txBody>
      </p:sp>
      <p:sp>
        <p:nvSpPr>
          <p:cNvPr id="8" name="">
            <a:extLst xmlns:a="http://schemas.openxmlformats.org/drawingml/2006/main">
              <a:ext uri="{FF2B5EF4-FFF2-40B4-BE49-F238E27FC236}">
                <a16:creationId xmlns:a16="http://schemas.microsoft.com/office/drawing/2014/main" id="{A9870F7C-5B0F-41A7-80B2-B7AC8365F53A}"/>
              </a:ext>
            </a:extLst>
          </p:cNvPr>
          <p:cNvSpPr>
            <a:spLocks xmlns:a="http://schemas.openxmlformats.org/drawingml/2006/main" noGrp="1"/>
          </p:cNvSpPr>
          <p:nvPr/>
        </p:nvSpPr>
        <p:spPr>
          <a:xfrm xmlns:a="http://schemas.openxmlformats.org/drawingml/2006/main">
            <a:off x="2533650" y="2076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Programming language</a:t>
            </a:r>
          </a:p>
        </p:txBody>
      </p:sp>
      <p:sp>
        <p:nvSpPr>
          <p:cNvPr id="9" name="">
            <a:extLst xmlns:a="http://schemas.openxmlformats.org/drawingml/2006/main">
              <a:ext uri="{FF2B5EF4-FFF2-40B4-BE49-F238E27FC236}">
                <a16:creationId xmlns:a16="http://schemas.microsoft.com/office/drawing/2014/main" id="{86975D3C-178A-48E9-A7D7-8DC24F1FB9E9}"/>
              </a:ext>
            </a:extLst>
          </p:cNvPr>
          <p:cNvSpPr>
            <a:spLocks xmlns:a="http://schemas.openxmlformats.org/drawingml/2006/main" noGrp="1"/>
          </p:cNvSpPr>
          <p:nvPr/>
        </p:nvSpPr>
        <p:spPr>
          <a:xfrm xmlns:a="http://schemas.openxmlformats.org/drawingml/2006/main">
            <a:off x="628650" y="24669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0" name="">
            <a:extLst xmlns:a="http://schemas.openxmlformats.org/drawingml/2006/main">
              <a:ext uri="{FF2B5EF4-FFF2-40B4-BE49-F238E27FC236}">
                <a16:creationId xmlns:a16="http://schemas.microsoft.com/office/drawing/2014/main" id="{8235B574-7217-42A9-831F-A77261BEC1A1}"/>
              </a:ext>
            </a:extLst>
          </p:cNvPr>
          <p:cNvSpPr>
            <a:spLocks xmlns:a="http://schemas.openxmlformats.org/drawingml/2006/main" noGrp="1"/>
          </p:cNvSpPr>
          <p:nvPr/>
        </p:nvSpPr>
        <p:spPr>
          <a:xfrm xmlns:a="http://schemas.openxmlformats.org/drawingml/2006/main">
            <a:off x="628650" y="26003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NumPy + Pandas</a:t>
            </a:r>
          </a:p>
        </p:txBody>
      </p:sp>
      <p:sp>
        <p:nvSpPr>
          <p:cNvPr id="11" name="">
            <a:extLst xmlns:a="http://schemas.openxmlformats.org/drawingml/2006/main">
              <a:ext uri="{FF2B5EF4-FFF2-40B4-BE49-F238E27FC236}">
                <a16:creationId xmlns:a16="http://schemas.microsoft.com/office/drawing/2014/main" id="{32C5F2BF-4975-4D37-B503-511EB805A7A5}"/>
              </a:ext>
            </a:extLst>
          </p:cNvPr>
          <p:cNvSpPr>
            <a:spLocks xmlns:a="http://schemas.openxmlformats.org/drawingml/2006/main" noGrp="1"/>
          </p:cNvSpPr>
          <p:nvPr/>
        </p:nvSpPr>
        <p:spPr>
          <a:xfrm xmlns:a="http://schemas.openxmlformats.org/drawingml/2006/main">
            <a:off x="2533650" y="26003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Data preparation</a:t>
            </a:r>
          </a:p>
        </p:txBody>
      </p:sp>
      <p:sp>
        <p:nvSpPr>
          <p:cNvPr id="12" name="">
            <a:extLst xmlns:a="http://schemas.openxmlformats.org/drawingml/2006/main">
              <a:ext uri="{FF2B5EF4-FFF2-40B4-BE49-F238E27FC236}">
                <a16:creationId xmlns:a16="http://schemas.microsoft.com/office/drawing/2014/main" id="{CFAA8407-0306-4662-B59D-BA6583CAC186}"/>
              </a:ext>
            </a:extLst>
          </p:cNvPr>
          <p:cNvSpPr>
            <a:spLocks xmlns:a="http://schemas.openxmlformats.org/drawingml/2006/main" noGrp="1"/>
          </p:cNvSpPr>
          <p:nvPr/>
        </p:nvSpPr>
        <p:spPr>
          <a:xfrm xmlns:a="http://schemas.openxmlformats.org/drawingml/2006/main">
            <a:off x="628650" y="299085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22E59D08-A7F3-4225-B872-00ADA66DF68B}"/>
              </a:ext>
            </a:extLst>
          </p:cNvPr>
          <p:cNvSpPr>
            <a:spLocks xmlns:a="http://schemas.openxmlformats.org/drawingml/2006/main" noGrp="1"/>
          </p:cNvSpPr>
          <p:nvPr/>
        </p:nvSpPr>
        <p:spPr>
          <a:xfrm xmlns:a="http://schemas.openxmlformats.org/drawingml/2006/main">
            <a:off x="628650" y="312420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Matplotlib + Seaborn</a:t>
            </a:r>
          </a:p>
        </p:txBody>
      </p:sp>
      <p:sp>
        <p:nvSpPr>
          <p:cNvPr id="14" name="">
            <a:extLst xmlns:a="http://schemas.openxmlformats.org/drawingml/2006/main">
              <a:ext uri="{FF2B5EF4-FFF2-40B4-BE49-F238E27FC236}">
                <a16:creationId xmlns:a16="http://schemas.microsoft.com/office/drawing/2014/main" id="{57571418-E130-4E0C-992C-5912148F739B}"/>
              </a:ext>
            </a:extLst>
          </p:cNvPr>
          <p:cNvSpPr>
            <a:spLocks xmlns:a="http://schemas.openxmlformats.org/drawingml/2006/main" noGrp="1"/>
          </p:cNvSpPr>
          <p:nvPr/>
        </p:nvSpPr>
        <p:spPr>
          <a:xfrm xmlns:a="http://schemas.openxmlformats.org/drawingml/2006/main">
            <a:off x="2533650" y="31242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Exploratory analysis</a:t>
            </a:r>
          </a:p>
        </p:txBody>
      </p:sp>
      <p:sp>
        <p:nvSpPr>
          <p:cNvPr id="15" name="">
            <a:extLst xmlns:a="http://schemas.openxmlformats.org/drawingml/2006/main">
              <a:ext uri="{FF2B5EF4-FFF2-40B4-BE49-F238E27FC236}">
                <a16:creationId xmlns:a16="http://schemas.microsoft.com/office/drawing/2014/main" id="{3195413C-0C46-4261-A2F1-F837B5C0DFD0}"/>
              </a:ext>
            </a:extLst>
          </p:cNvPr>
          <p:cNvSpPr>
            <a:spLocks xmlns:a="http://schemas.openxmlformats.org/drawingml/2006/main" noGrp="1"/>
          </p:cNvSpPr>
          <p:nvPr/>
        </p:nvSpPr>
        <p:spPr>
          <a:xfrm xmlns:a="http://schemas.openxmlformats.org/drawingml/2006/main">
            <a:off x="628650" y="351472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0526EE72-701D-4150-9B95-64CE4B8FE7BE}"/>
              </a:ext>
            </a:extLst>
          </p:cNvPr>
          <p:cNvSpPr>
            <a:spLocks xmlns:a="http://schemas.openxmlformats.org/drawingml/2006/main" noGrp="1"/>
          </p:cNvSpPr>
          <p:nvPr/>
        </p:nvSpPr>
        <p:spPr>
          <a:xfrm xmlns:a="http://schemas.openxmlformats.org/drawingml/2006/main">
            <a:off x="628650" y="36480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Scikit-learn</a:t>
            </a:r>
          </a:p>
        </p:txBody>
      </p:sp>
      <p:sp>
        <p:nvSpPr>
          <p:cNvPr id="17" name="">
            <a:extLst xmlns:a="http://schemas.openxmlformats.org/drawingml/2006/main">
              <a:ext uri="{FF2B5EF4-FFF2-40B4-BE49-F238E27FC236}">
                <a16:creationId xmlns:a16="http://schemas.microsoft.com/office/drawing/2014/main" id="{EA3028F4-CC17-44CE-87D0-D03E1FF75A73}"/>
              </a:ext>
            </a:extLst>
          </p:cNvPr>
          <p:cNvSpPr>
            <a:spLocks xmlns:a="http://schemas.openxmlformats.org/drawingml/2006/main" noGrp="1"/>
          </p:cNvSpPr>
          <p:nvPr/>
        </p:nvSpPr>
        <p:spPr>
          <a:xfrm xmlns:a="http://schemas.openxmlformats.org/drawingml/2006/main">
            <a:off x="2533650" y="36480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Preprocessing, modelling and evaluation</a:t>
            </a:r>
          </a:p>
        </p:txBody>
      </p:sp>
      <p:sp>
        <p:nvSpPr>
          <p:cNvPr id="18" name="">
            <a:extLst xmlns:a="http://schemas.openxmlformats.org/drawingml/2006/main">
              <a:ext uri="{FF2B5EF4-FFF2-40B4-BE49-F238E27FC236}">
                <a16:creationId xmlns:a16="http://schemas.microsoft.com/office/drawing/2014/main" id="{FC7A1F3A-DFB3-492E-9B26-8E87B240F1EF}"/>
              </a:ext>
            </a:extLst>
          </p:cNvPr>
          <p:cNvSpPr>
            <a:spLocks xmlns:a="http://schemas.openxmlformats.org/drawingml/2006/main" noGrp="1"/>
          </p:cNvSpPr>
          <p:nvPr/>
        </p:nvSpPr>
        <p:spPr>
          <a:xfrm xmlns:a="http://schemas.openxmlformats.org/drawingml/2006/main">
            <a:off x="628650" y="403860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78EA8624-E258-4F35-BCC9-8A7516EC34D8}"/>
              </a:ext>
            </a:extLst>
          </p:cNvPr>
          <p:cNvSpPr>
            <a:spLocks xmlns:a="http://schemas.openxmlformats.org/drawingml/2006/main" noGrp="1"/>
          </p:cNvSpPr>
          <p:nvPr/>
        </p:nvSpPr>
        <p:spPr>
          <a:xfrm xmlns:a="http://schemas.openxmlformats.org/drawingml/2006/main">
            <a:off x="628650" y="41719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Pickle</a:t>
            </a:r>
          </a:p>
        </p:txBody>
      </p:sp>
      <p:sp>
        <p:nvSpPr>
          <p:cNvPr id="20" name="">
            <a:extLst xmlns:a="http://schemas.openxmlformats.org/drawingml/2006/main">
              <a:ext uri="{FF2B5EF4-FFF2-40B4-BE49-F238E27FC236}">
                <a16:creationId xmlns:a16="http://schemas.microsoft.com/office/drawing/2014/main" id="{ED39C55A-C964-45ED-B88B-B7509BADED32}"/>
              </a:ext>
            </a:extLst>
          </p:cNvPr>
          <p:cNvSpPr>
            <a:spLocks xmlns:a="http://schemas.openxmlformats.org/drawingml/2006/main" noGrp="1"/>
          </p:cNvSpPr>
          <p:nvPr/>
        </p:nvSpPr>
        <p:spPr>
          <a:xfrm xmlns:a="http://schemas.openxmlformats.org/drawingml/2006/main">
            <a:off x="2533650" y="4171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Documented artefact persistence</a:t>
            </a:r>
          </a:p>
        </p:txBody>
      </p:sp>
      <p:sp>
        <p:nvSpPr>
          <p:cNvPr id="21" name="">
            <a:extLst xmlns:a="http://schemas.openxmlformats.org/drawingml/2006/main">
              <a:ext uri="{FF2B5EF4-FFF2-40B4-BE49-F238E27FC236}">
                <a16:creationId xmlns:a16="http://schemas.microsoft.com/office/drawing/2014/main" id="{69D9AF06-DB29-4F5F-9A89-26A06C586306}"/>
              </a:ext>
            </a:extLst>
          </p:cNvPr>
          <p:cNvSpPr>
            <a:spLocks xmlns:a="http://schemas.openxmlformats.org/drawingml/2006/main" noGrp="1"/>
          </p:cNvSpPr>
          <p:nvPr/>
        </p:nvSpPr>
        <p:spPr>
          <a:xfrm xmlns:a="http://schemas.openxmlformats.org/drawingml/2006/main">
            <a:off x="628650" y="45624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22" name="">
            <a:extLst xmlns:a="http://schemas.openxmlformats.org/drawingml/2006/main">
              <a:ext uri="{FF2B5EF4-FFF2-40B4-BE49-F238E27FC236}">
                <a16:creationId xmlns:a16="http://schemas.microsoft.com/office/drawing/2014/main" id="{F24AA67A-1733-4C6D-9D97-BDD57AE5009F}"/>
              </a:ext>
            </a:extLst>
          </p:cNvPr>
          <p:cNvSpPr>
            <a:spLocks xmlns:a="http://schemas.openxmlformats.org/drawingml/2006/main" noGrp="1"/>
          </p:cNvSpPr>
          <p:nvPr/>
        </p:nvSpPr>
        <p:spPr>
          <a:xfrm xmlns:a="http://schemas.openxmlformats.org/drawingml/2006/main">
            <a:off x="628650" y="48958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ENVIRONMENT</a:t>
            </a:r>
          </a:p>
        </p:txBody>
      </p:sp>
      <p:sp>
        <p:nvSpPr>
          <p:cNvPr id="23" name="">
            <a:extLst xmlns:a="http://schemas.openxmlformats.org/drawingml/2006/main">
              <a:ext uri="{FF2B5EF4-FFF2-40B4-BE49-F238E27FC236}">
                <a16:creationId xmlns:a16="http://schemas.microsoft.com/office/drawing/2014/main" id="{A81409C0-3E4F-4170-A6FD-0B39AF1A3B52}"/>
              </a:ext>
            </a:extLst>
          </p:cNvPr>
          <p:cNvSpPr>
            <a:spLocks xmlns:a="http://schemas.openxmlformats.org/drawingml/2006/main" noGrp="1"/>
          </p:cNvSpPr>
          <p:nvPr/>
        </p:nvSpPr>
        <p:spPr>
          <a:xfrm xmlns:a="http://schemas.openxmlformats.org/drawingml/2006/main">
            <a:off x="628650" y="51625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Windows 11; Google Colab / VS Code / Render</a:t>
            </a:r>
          </a:p>
        </p:txBody>
      </p:sp>
      <p:sp>
        <p:nvSpPr>
          <p:cNvPr id="24" name="">
            <a:extLst xmlns:a="http://schemas.openxmlformats.org/drawingml/2006/main">
              <a:ext uri="{FF2B5EF4-FFF2-40B4-BE49-F238E27FC236}">
                <a16:creationId xmlns:a16="http://schemas.microsoft.com/office/drawing/2014/main" id="{5376A01D-19A8-4603-8D67-16FFBE763983}"/>
              </a:ext>
            </a:extLst>
          </p:cNvPr>
          <p:cNvSpPr>
            <a:spLocks xmlns:a="http://schemas.openxmlformats.org/drawingml/2006/main" noGrp="1"/>
          </p:cNvSpPr>
          <p:nvPr/>
        </p:nvSpPr>
        <p:spPr>
          <a:xfrm xmlns:a="http://schemas.openxmlformats.org/drawingml/2006/main">
            <a:off x="628650" y="54768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86"/>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Intel i3 or higher; 4 GB RAM or higher; 20 GB free disk space</a:t>
            </a:r>
          </a:p>
        </p:txBody>
      </p:sp>
      <p:sp>
        <p:nvSpPr>
          <p:cNvPr id="25" name="">
            <a:extLst xmlns:a="http://schemas.openxmlformats.org/drawingml/2006/main">
              <a:ext uri="{FF2B5EF4-FFF2-40B4-BE49-F238E27FC236}">
                <a16:creationId xmlns:a16="http://schemas.microsoft.com/office/drawing/2014/main" id="{BFEA6A92-20B1-461C-BF5C-BCD8DCDEF1DB}"/>
              </a:ext>
            </a:extLst>
          </p:cNvPr>
          <p:cNvSpPr>
            <a:spLocks xmlns:a="http://schemas.openxmlformats.org/drawingml/2006/main" noGrp="1"/>
          </p:cNvSpPr>
          <p:nvPr/>
        </p:nvSpPr>
        <p:spPr>
          <a:xfrm xmlns:a="http://schemas.openxmlformats.org/drawingml/2006/main">
            <a:off x="5562600" y="1657350"/>
            <a:ext cx="17145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6" name="">
            <a:extLst xmlns:a="http://schemas.openxmlformats.org/drawingml/2006/main">
              <a:ext uri="{FF2B5EF4-FFF2-40B4-BE49-F238E27FC236}">
                <a16:creationId xmlns:a16="http://schemas.microsoft.com/office/drawing/2014/main" id="{70109EFB-1F8E-4E75-AF61-E01BA1E5B3DF}"/>
              </a:ext>
            </a:extLst>
          </p:cNvPr>
          <p:cNvSpPr>
            <a:spLocks xmlns:a="http://schemas.openxmlformats.org/drawingml/2006/main" noGrp="1"/>
          </p:cNvSpPr>
          <p:nvPr/>
        </p:nvSpPr>
        <p:spPr>
          <a:xfrm xmlns:a="http://schemas.openxmlformats.org/drawingml/2006/main">
            <a:off x="5657850" y="1704975"/>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TESTING AND LIMITS</a:t>
            </a:r>
          </a:p>
        </p:txBody>
      </p:sp>
      <p:sp>
        <p:nvSpPr>
          <p:cNvPr id="27" name="">
            <a:extLst xmlns:a="http://schemas.openxmlformats.org/drawingml/2006/main">
              <a:ext uri="{FF2B5EF4-FFF2-40B4-BE49-F238E27FC236}">
                <a16:creationId xmlns:a16="http://schemas.microsoft.com/office/drawing/2014/main" id="{CB60F68E-9869-437F-AE8B-AB09C342E041}"/>
              </a:ext>
            </a:extLst>
          </p:cNvPr>
          <p:cNvSpPr>
            <a:spLocks xmlns:a="http://schemas.openxmlformats.org/drawingml/2006/main" noGrp="1"/>
          </p:cNvSpPr>
          <p:nvPr/>
        </p:nvSpPr>
        <p:spPr>
          <a:xfrm xmlns:a="http://schemas.openxmlformats.org/drawingml/2006/main">
            <a:off x="5562600" y="2076450"/>
            <a:ext cx="600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061BFE62-37D6-4638-80FE-EEDAB6456A25}"/>
              </a:ext>
            </a:extLst>
          </p:cNvPr>
          <p:cNvSpPr>
            <a:spLocks xmlns:a="http://schemas.openxmlformats.org/drawingml/2006/main" noGrp="1"/>
          </p:cNvSpPr>
          <p:nvPr/>
        </p:nvSpPr>
        <p:spPr>
          <a:xfrm xmlns:a="http://schemas.openxmlformats.org/drawingml/2006/main">
            <a:off x="5753100" y="22574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DOCUMENTED TESTING</a:t>
            </a:r>
          </a:p>
        </p:txBody>
      </p:sp>
      <p:sp>
        <p:nvSpPr>
          <p:cNvPr id="29" name="">
            <a:extLst xmlns:a="http://schemas.openxmlformats.org/drawingml/2006/main">
              <a:ext uri="{FF2B5EF4-FFF2-40B4-BE49-F238E27FC236}">
                <a16:creationId xmlns:a16="http://schemas.microsoft.com/office/drawing/2014/main" id="{FCBEC883-A1D5-46F5-8B10-2AD1B42F23BA}"/>
              </a:ext>
            </a:extLst>
          </p:cNvPr>
          <p:cNvSpPr>
            <a:spLocks xmlns:a="http://schemas.openxmlformats.org/drawingml/2006/main" noGrp="1"/>
          </p:cNvSpPr>
          <p:nvPr/>
        </p:nvSpPr>
        <p:spPr>
          <a:xfrm xmlns:a="http://schemas.openxmlformats.org/drawingml/2006/main">
            <a:off x="5753100" y="2581275"/>
            <a:ext cx="2628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80:20 hold-out evaluation</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Accuracy, confusion matrix and classification report</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Manual prediction with sample customer records</a:t>
            </a:r>
          </a:p>
        </p:txBody>
      </p:sp>
      <p:sp>
        <p:nvSpPr>
          <p:cNvPr id="30" name="">
            <a:extLst xmlns:a="http://schemas.openxmlformats.org/drawingml/2006/main">
              <a:ext uri="{FF2B5EF4-FFF2-40B4-BE49-F238E27FC236}">
                <a16:creationId xmlns:a16="http://schemas.microsoft.com/office/drawing/2014/main" id="{8463CDA6-091C-4B6D-B4CB-A7BF8E5261A4}"/>
              </a:ext>
            </a:extLst>
          </p:cNvPr>
          <p:cNvSpPr>
            <a:spLocks xmlns:a="http://schemas.openxmlformats.org/drawingml/2006/main" noGrp="1"/>
          </p:cNvSpPr>
          <p:nvPr/>
        </p:nvSpPr>
        <p:spPr>
          <a:xfrm xmlns:a="http://schemas.openxmlformats.org/drawingml/2006/main">
            <a:off x="8572500" y="2247900"/>
            <a:ext cx="0" cy="139065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44C1261D-1537-414F-9B46-D334DDCC6834}"/>
              </a:ext>
            </a:extLst>
          </p:cNvPr>
          <p:cNvSpPr>
            <a:spLocks xmlns:a="http://schemas.openxmlformats.org/drawingml/2006/main" noGrp="1"/>
          </p:cNvSpPr>
          <p:nvPr/>
        </p:nvSpPr>
        <p:spPr>
          <a:xfrm xmlns:a="http://schemas.openxmlformats.org/drawingml/2006/main">
            <a:off x="8801100" y="2257425"/>
            <a:ext cx="2533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PROPOSED ROBUSTNESS CHECKS</a:t>
            </a:r>
          </a:p>
        </p:txBody>
      </p:sp>
      <p:sp>
        <p:nvSpPr>
          <p:cNvPr id="32" name="">
            <a:extLst xmlns:a="http://schemas.openxmlformats.org/drawingml/2006/main">
              <a:ext uri="{FF2B5EF4-FFF2-40B4-BE49-F238E27FC236}">
                <a16:creationId xmlns:a16="http://schemas.microsoft.com/office/drawing/2014/main" id="{C8386CDA-0118-496B-8A0B-0797029D2081}"/>
              </a:ext>
            </a:extLst>
          </p:cNvPr>
          <p:cNvSpPr>
            <a:spLocks xmlns:a="http://schemas.openxmlformats.org/drawingml/2006/main" noGrp="1"/>
          </p:cNvSpPr>
          <p:nvPr/>
        </p:nvSpPr>
        <p:spPr>
          <a:xfrm xmlns:a="http://schemas.openxmlformats.org/drawingml/2006/main">
            <a:off x="8801100" y="2581275"/>
            <a:ext cx="2533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Missing inputs and unseen categories</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Feature order and schema consistency</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Persistence and reload consistency</a:t>
            </a:r>
          </a:p>
        </p:txBody>
      </p:sp>
      <p:sp>
        <p:nvSpPr>
          <p:cNvPr id="33" name="">
            <a:extLst xmlns:a="http://schemas.openxmlformats.org/drawingml/2006/main">
              <a:ext uri="{FF2B5EF4-FFF2-40B4-BE49-F238E27FC236}">
                <a16:creationId xmlns:a16="http://schemas.microsoft.com/office/drawing/2014/main" id="{61C14A16-6C4A-48BE-B871-231702A6C10C}"/>
              </a:ext>
            </a:extLst>
          </p:cNvPr>
          <p:cNvSpPr>
            <a:spLocks xmlns:a="http://schemas.openxmlformats.org/drawingml/2006/main" noGrp="1"/>
          </p:cNvSpPr>
          <p:nvPr/>
        </p:nvSpPr>
        <p:spPr>
          <a:xfrm xmlns:a="http://schemas.openxmlformats.org/drawingml/2006/main">
            <a:off x="5562600" y="4095750"/>
            <a:ext cx="6000750" cy="11049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34" name="">
            <a:extLst xmlns:a="http://schemas.openxmlformats.org/drawingml/2006/main">
              <a:ext uri="{FF2B5EF4-FFF2-40B4-BE49-F238E27FC236}">
                <a16:creationId xmlns:a16="http://schemas.microsoft.com/office/drawing/2014/main" id="{4992574B-90D0-47B8-A7B4-97208A85709A}"/>
              </a:ext>
            </a:extLst>
          </p:cNvPr>
          <p:cNvSpPr>
            <a:spLocks xmlns:a="http://schemas.openxmlformats.org/drawingml/2006/main" noGrp="1"/>
          </p:cNvSpPr>
          <p:nvPr/>
        </p:nvSpPr>
        <p:spPr>
          <a:xfrm xmlns:a="http://schemas.openxmlformats.org/drawingml/2006/main">
            <a:off x="5753100" y="42767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METHODOLOGICAL BOUNDARIES</a:t>
            </a:r>
          </a:p>
        </p:txBody>
      </p:sp>
      <p:sp>
        <p:nvSpPr>
          <p:cNvPr id="35" name="">
            <a:extLst xmlns:a="http://schemas.openxmlformats.org/drawingml/2006/main">
              <a:ext uri="{FF2B5EF4-FFF2-40B4-BE49-F238E27FC236}">
                <a16:creationId xmlns:a16="http://schemas.microsoft.com/office/drawing/2014/main" id="{CDEF07C8-6014-4E5D-A29F-A65E01BFCCC2}"/>
              </a:ext>
            </a:extLst>
          </p:cNvPr>
          <p:cNvSpPr>
            <a:spLocks xmlns:a="http://schemas.openxmlformats.org/drawingml/2006/main" noGrp="1"/>
          </p:cNvSpPr>
          <p:nvPr/>
        </p:nvSpPr>
        <p:spPr>
          <a:xfrm xmlns:a="http://schemas.openxmlformats.org/drawingml/2006/main">
            <a:off x="5753100" y="45720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synopsis does not specify a churn horizon or exact Customer ID treatment. Predictions indicate association, not causation or certainty.</a:t>
            </a:r>
          </a:p>
        </p:txBody>
      </p:sp>
      <p:sp>
        <p:nvSpPr>
          <p:cNvPr id="36" name="">
            <a:extLst xmlns:a="http://schemas.openxmlformats.org/drawingml/2006/main">
              <a:ext uri="{FF2B5EF4-FFF2-40B4-BE49-F238E27FC236}">
                <a16:creationId xmlns:a16="http://schemas.microsoft.com/office/drawing/2014/main" id="{FF6A0EDE-9237-451D-8468-C2659042FB85}"/>
              </a:ext>
            </a:extLst>
          </p:cNvPr>
          <p:cNvSpPr>
            <a:spLocks xmlns:a="http://schemas.openxmlformats.org/drawingml/2006/main" noGrp="1"/>
          </p:cNvSpPr>
          <p:nvPr/>
        </p:nvSpPr>
        <p:spPr>
          <a:xfrm xmlns:a="http://schemas.openxmlformats.org/drawingml/2006/main">
            <a:off x="5562600" y="5410200"/>
            <a:ext cx="6000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2B654EB5-FA41-450F-891C-D3B1D92D2007}"/>
              </a:ext>
            </a:extLst>
          </p:cNvPr>
          <p:cNvSpPr>
            <a:spLocks xmlns:a="http://schemas.openxmlformats.org/drawingml/2006/main" noGrp="1"/>
          </p:cNvSpPr>
          <p:nvPr/>
        </p:nvSpPr>
        <p:spPr>
          <a:xfrm xmlns:a="http://schemas.openxmlformats.org/drawingml/2006/main">
            <a:off x="5753100" y="55626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443"/>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REFERENCES</a:t>
            </a:r>
          </a:p>
        </p:txBody>
      </p:sp>
      <p:sp>
        <p:nvSpPr>
          <p:cNvPr id="38" name="">
            <a:extLst xmlns:a="http://schemas.openxmlformats.org/drawingml/2006/main">
              <a:ext uri="{FF2B5EF4-FFF2-40B4-BE49-F238E27FC236}">
                <a16:creationId xmlns:a16="http://schemas.microsoft.com/office/drawing/2014/main" id="{CA0631DC-87E7-432A-A361-95E79502F4C4}"/>
              </a:ext>
            </a:extLst>
          </p:cNvPr>
          <p:cNvSpPr>
            <a:spLocks xmlns:a="http://schemas.openxmlformats.org/drawingml/2006/main" noGrp="1"/>
          </p:cNvSpPr>
          <p:nvPr/>
        </p:nvSpPr>
        <p:spPr>
          <a:xfrm xmlns:a="http://schemas.openxmlformats.org/drawingml/2006/main">
            <a:off x="6800850" y="55245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889"/>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Master synopsis; Scikit-learn, Pandas, NumPy, Matplotlib and Seaborn documentation; Kaggle reference; Sebastian Raschka, Python Machine Learning</a:t>
            </a:r>
          </a:p>
        </p:txBody>
      </p:sp>
      <p:sp>
        <p:nvSpPr>
          <p:cNvPr id="39" name="">
            <a:extLst xmlns:a="http://schemas.openxmlformats.org/drawingml/2006/main">
              <a:ext uri="{FF2B5EF4-FFF2-40B4-BE49-F238E27FC236}">
                <a16:creationId xmlns:a16="http://schemas.microsoft.com/office/drawing/2014/main" id="{D1A7B42D-DC5D-4C03-A6D8-6B1D13FECE6E}"/>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6D25A1A6-CAA4-48BB-94D3-204E5E5CCDEC}"/>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Appendix source: Master synopsis, sections F-G and K</a:t>
            </a:r>
          </a:p>
        </p:txBody>
      </p:sp>
    </p:spTree>
    <p:extLst>
      <p:ext uri="{BB962C8B-B14F-4D97-AF65-F5344CB8AC3E}">
        <p14:creationId xmlns:p14="http://schemas.microsoft.com/office/powerpoint/2010/main" val="832094792"/>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F188430-6CD8-4BC3-A7E0-AE0697E68A85}"/>
              </a:ext>
            </a:extLst>
          </p:cNvPr>
          <p:cNvSpPr>
            <a:spLocks xmlns:a="http://schemas.openxmlformats.org/drawingml/2006/main" noGrp="1"/>
          </p:cNvSpPr>
          <p:nvPr/>
        </p:nvSpPr>
        <p:spPr>
          <a:xfrm xmlns:a="http://schemas.openxmlformats.org/drawingml/2006/main">
            <a:off x="1333500" y="27813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575" b="1" i="0">
                <a:solidFill>
                  <a:srgbClr val="202024"/>
                </a:solidFill>
                <a:latin typeface="Arial"/>
                <a:ea typeface="Arial"/>
                <a:cs typeface="Arial"/>
              </a:defRPr>
            </a:pPr>
            <a:r>
              <a:rPr sz="4575" b="1" i="0">
                <a:solidFill>
                  <a:srgbClr val="202024"/>
                </a:solidFill>
                <a:latin typeface="Arial"/>
                <a:ea typeface="Arial"/>
                <a:cs typeface="Arial"/>
              </a:rPr>
              <a:t>Thank you</a:t>
            </a:r>
          </a:p>
        </p:txBody>
      </p:sp>
    </p:spTree>
    <p:extLst>
      <p:ext uri="{BB962C8B-B14F-4D97-AF65-F5344CB8AC3E}">
        <p14:creationId xmlns:p14="http://schemas.microsoft.com/office/powerpoint/2010/main" val="14318172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2026-09-14T18:13:38.8090000Z</dcterms:created>
  <dcterms:modified xsi:type="dcterms:W3CDTF">2026-09-14T18:13:38.8090000Z</dcterms:modified>
</coreProperties>
</file>